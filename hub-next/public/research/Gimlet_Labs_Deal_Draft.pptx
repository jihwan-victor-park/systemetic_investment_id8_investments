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2"/>
    <p:restoredTop sz="94658"/>
  </p:normalViewPr>
  <p:slideViewPr>
    <p:cSldViewPr snapToGrid="0" snapToObjects="1">
      <p:cViewPr>
        <p:scale>
          <a:sx n="92" d="100"/>
          <a:sy n="92" d="100"/>
        </p:scale>
        <p:origin x="1392" y="7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01B205-89CD-41EB-8602-93345E461546}" type="datetimeFigureOut">
              <a:rPr lang="en-US" smtClean="0"/>
              <a:t>6/19/26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732BF2-F433-4995-B11A-0CA078353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918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732BF2-F433-4995-B11A-0CA07835313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5069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732BF2-F433-4995-B11A-0CA07835313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3772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264861" y="749808"/>
            <a:ext cx="10058400" cy="201168"/>
          </a:xfrm>
          <a:prstGeom prst="rect">
            <a:avLst/>
          </a:prstGeom>
          <a:noFill/>
        </p:spPr>
        <p:txBody>
          <a:bodyPr wrap="square" lIns="36000" tIns="14000" rIns="36000" bIns="14000" anchor="t">
            <a:spAutoFit/>
          </a:bodyPr>
          <a:lstStyle/>
          <a:p>
            <a:pPr algn="l"/>
            <a:r>
              <a:rPr sz="900" b="0" dirty="0">
                <a:solidFill>
                  <a:srgbClr val="828282"/>
                </a:solidFill>
                <a:latin typeface="Calibri"/>
              </a:rPr>
              <a:t>Multi-silicon inference cloud for agentic AI  -  Series A Closed (Mar 2026)  -  San Francisco, CA  -  Founded 2023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987552"/>
            <a:ext cx="11551615" cy="635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320040" y="6565392"/>
            <a:ext cx="2286000" cy="292608"/>
          </a:xfrm>
          <a:prstGeom prst="rect">
            <a:avLst/>
          </a:prstGeom>
          <a:noFill/>
        </p:spPr>
        <p:txBody>
          <a:bodyPr wrap="square" lIns="36000" tIns="14000" rIns="36000" bIns="14000" anchor="ctr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ID8 Investments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40" y="6572631"/>
            <a:ext cx="12191695" cy="292608"/>
          </a:xfrm>
          <a:prstGeom prst="rect">
            <a:avLst/>
          </a:prstGeom>
          <a:noFill/>
        </p:spPr>
        <p:txBody>
          <a:bodyPr wrap="square" lIns="36000" tIns="14000" rIns="36000" bIns="14000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INTERNAL USE ONLY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905695" y="6565392"/>
            <a:ext cx="2011680" cy="292608"/>
          </a:xfrm>
          <a:prstGeom prst="rect">
            <a:avLst/>
          </a:prstGeom>
          <a:noFill/>
        </p:spPr>
        <p:txBody>
          <a:bodyPr wrap="square" lIns="36000" tIns="14000" rIns="36000" bIns="14000" anchor="ctr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Calibri"/>
              </a:rPr>
              <a:t>Prepared: June 2026</a:t>
            </a:r>
          </a:p>
        </p:txBody>
      </p:sp>
      <p:pic>
        <p:nvPicPr>
          <p:cNvPr id="160" name="Picture 159">
            <a:extLst>
              <a:ext uri="{FF2B5EF4-FFF2-40B4-BE49-F238E27FC236}">
                <a16:creationId xmlns:a16="http://schemas.microsoft.com/office/drawing/2014/main" id="{E2D1939A-FFA1-8BAF-E7B1-8F9BE87A2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4246" y="345956"/>
            <a:ext cx="2193129" cy="217564"/>
          </a:xfrm>
          <a:prstGeom prst="rect">
            <a:avLst/>
          </a:prstGeom>
        </p:spPr>
      </p:pic>
      <p:sp>
        <p:nvSpPr>
          <p:cNvPr id="161" name="TextBox 160"/>
          <p:cNvSpPr txBox="1"/>
          <p:nvPr/>
        </p:nvSpPr>
        <p:spPr>
          <a:xfrm>
            <a:off x="320040" y="1097280"/>
            <a:ext cx="3749039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Calibri"/>
              </a:rPr>
              <a:t>WHAT THE COMPANY DOES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20040" y="1280160"/>
            <a:ext cx="3749039" cy="9848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 dirty="0">
                <a:solidFill>
                  <a:srgbClr val="333333"/>
                </a:solidFill>
                <a:latin typeface="Calibri"/>
              </a:rPr>
              <a:t>Gimlet Labs builds a “multi-silicon” inference cloud: software that runs agentic AI workloads across heterogeneous hardware (GPUs, CPUs, SRAM-centric / DPU-style accelerators), slicing each pipeline by the chip that runs it best. The pitch is that accelerators sit at only ~15-30% utilization, and that partitioning models and agent stages across the right silicon delivers 3-10x faster inference at the same cost and power. Commercial surface: Gimlet Cloud (serverless agent inference) and kforge (autogenerates optimized PyTorch kernels across CUDA, ROCm, Metal). Eight-figure revenue asserted; unaudited.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20039" y="2373701"/>
            <a:ext cx="3749039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dirty="0">
                <a:solidFill>
                  <a:srgbClr val="1A1A1A"/>
                </a:solidFill>
                <a:latin typeface="Calibri"/>
              </a:rPr>
              <a:t>WHY CONSIDER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20036" y="2555669"/>
            <a:ext cx="3749039" cy="20005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1" dirty="0">
                <a:solidFill>
                  <a:srgbClr val="1A1A1A"/>
                </a:solidFill>
                <a:latin typeface="Calibri"/>
              </a:rPr>
              <a:t>Repeat Technical Founder / Systems Pedigree</a:t>
            </a:r>
          </a:p>
          <a:p>
            <a:pPr algn="l">
              <a:spcAft>
                <a:spcPts val="100"/>
              </a:spcAft>
            </a:pPr>
            <a:r>
              <a:rPr sz="800" b="0" dirty="0">
                <a:solidFill>
                  <a:srgbClr val="333333"/>
                </a:solidFill>
                <a:latin typeface="Calibri"/>
              </a:rPr>
              <a:t>CEO Zain Asgar is Stanford faculty and previously built Pixie (open-source Kubernetes observability), acquired by New Relic. Co-founders Michelle Nguyen, Omid Azizi, and Natalie Serrino come from the same systems lineage. A credible team operating on home turf in production infra.</a:t>
            </a:r>
          </a:p>
          <a:p>
            <a:pPr algn="l">
              <a:spcBef>
                <a:spcPts val="300"/>
              </a:spcBef>
              <a:spcAft>
                <a:spcPts val="100"/>
              </a:spcAft>
            </a:pPr>
            <a:r>
              <a:rPr sz="800" b="1" dirty="0">
                <a:solidFill>
                  <a:srgbClr val="1A1A1A"/>
                </a:solidFill>
                <a:latin typeface="Calibri"/>
              </a:rPr>
              <a:t>Early Demand in a Red-Hot Category</a:t>
            </a:r>
          </a:p>
          <a:p>
            <a:pPr algn="l">
              <a:spcAft>
                <a:spcPts val="100"/>
              </a:spcAft>
            </a:pPr>
            <a:r>
              <a:rPr sz="800" b="0" dirty="0">
                <a:solidFill>
                  <a:srgbClr val="333333"/>
                </a:solidFill>
                <a:latin typeface="Calibri"/>
              </a:rPr>
              <a:t>Launched Oct 2025; customer base reportedly tripled within months, now said to include a top frontier lab and a hyperscaler running proprietary models on Gimlet, workloads not usually entrusted to a third-party provider (asserted). The inference-cloud market is paying up across the board.</a:t>
            </a:r>
          </a:p>
          <a:p>
            <a:pPr algn="l">
              <a:spcBef>
                <a:spcPts val="300"/>
              </a:spcBef>
              <a:spcAft>
                <a:spcPts val="100"/>
              </a:spcAft>
            </a:pPr>
            <a:r>
              <a:rPr sz="800" b="1" dirty="0">
                <a:solidFill>
                  <a:srgbClr val="1A1A1A"/>
                </a:solidFill>
                <a:latin typeface="Calibri"/>
              </a:rPr>
              <a:t>Differentiated Multi-Silicon Angle</a:t>
            </a:r>
          </a:p>
          <a:p>
            <a:pPr algn="l">
              <a:spcAft>
                <a:spcPts val="100"/>
              </a:spcAft>
            </a:pPr>
            <a:r>
              <a:rPr sz="800" b="0" dirty="0">
                <a:solidFill>
                  <a:srgbClr val="333333"/>
                </a:solidFill>
                <a:latin typeface="Calibri"/>
              </a:rPr>
              <a:t>Rather than a single-GPU-fleet inference wrapper, Gimlet routes each stage to the best-fit silicon and autogenerates kernels via kforge. If the 3-10x claim holds, this is a real efficiency moat in a category where utilization is the core cost lever.</a:t>
            </a:r>
            <a:endParaRPr lang="en-US" sz="800" b="0" dirty="0">
              <a:solidFill>
                <a:srgbClr val="333333"/>
              </a:solidFill>
              <a:latin typeface="Calibri"/>
            </a:endParaRPr>
          </a:p>
          <a:p>
            <a:pPr algn="l">
              <a:spcAft>
                <a:spcPts val="100"/>
              </a:spcAft>
            </a:pPr>
            <a:endParaRPr sz="8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65" name="TextBox 164"/>
          <p:cNvSpPr txBox="1"/>
          <p:nvPr/>
        </p:nvSpPr>
        <p:spPr>
          <a:xfrm>
            <a:off x="320035" y="4541774"/>
            <a:ext cx="3749039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dirty="0">
                <a:solidFill>
                  <a:srgbClr val="1A1A1A"/>
                </a:solidFill>
                <a:latin typeface="Calibri"/>
              </a:rPr>
              <a:t>KEY PEOPLE &amp; SPONSOR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20035" y="4748735"/>
            <a:ext cx="3749039" cy="13721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1" dirty="0">
                <a:solidFill>
                  <a:srgbClr val="1A1A1A"/>
                </a:solidFill>
                <a:latin typeface="Calibri"/>
              </a:rPr>
              <a:t>Zain Asgar</a:t>
            </a:r>
            <a:r>
              <a:rPr lang="en-US" sz="800" b="1" dirty="0">
                <a:solidFill>
                  <a:srgbClr val="1A1A1A"/>
                </a:solidFill>
                <a:latin typeface="Calibri"/>
              </a:rPr>
              <a:t>,</a:t>
            </a:r>
            <a:r>
              <a:rPr sz="800" b="1" dirty="0">
                <a:solidFill>
                  <a:srgbClr val="1A1A1A"/>
                </a:solidFill>
                <a:latin typeface="Calibri"/>
              </a:rPr>
              <a:t> Co-Founder &amp; CEO</a:t>
            </a:r>
          </a:p>
          <a:p>
            <a:pPr algn="l">
              <a:spcAft>
                <a:spcPts val="100"/>
              </a:spcAft>
            </a:pPr>
            <a:r>
              <a:rPr sz="800" b="0" dirty="0">
                <a:solidFill>
                  <a:srgbClr val="333333"/>
                </a:solidFill>
                <a:latin typeface="Calibri"/>
              </a:rPr>
              <a:t>Stanford faculty; previously co-built Pixie (Kubernetes observability), acquired by New Relic. Systems-software operator now building production inference infrastructure.</a:t>
            </a:r>
          </a:p>
          <a:p>
            <a:pPr algn="l">
              <a:spcBef>
                <a:spcPts val="300"/>
              </a:spcBef>
              <a:spcAft>
                <a:spcPts val="100"/>
              </a:spcAft>
            </a:pPr>
            <a:r>
              <a:rPr sz="800" b="1" dirty="0">
                <a:solidFill>
                  <a:srgbClr val="1A1A1A"/>
                </a:solidFill>
                <a:latin typeface="Calibri"/>
              </a:rPr>
              <a:t>Co-Founders</a:t>
            </a:r>
            <a:r>
              <a:rPr lang="en-US" sz="800" b="1" dirty="0">
                <a:solidFill>
                  <a:srgbClr val="1A1A1A"/>
                </a:solidFill>
                <a:latin typeface="Calibri"/>
              </a:rPr>
              <a:t>,</a:t>
            </a:r>
            <a:r>
              <a:rPr sz="800" b="1" dirty="0">
                <a:solidFill>
                  <a:srgbClr val="1A1A1A"/>
                </a:solidFill>
                <a:latin typeface="Calibri"/>
              </a:rPr>
              <a:t> Nguyen / Azizi / Serrino</a:t>
            </a:r>
          </a:p>
          <a:p>
            <a:pPr algn="l">
              <a:spcAft>
                <a:spcPts val="100"/>
              </a:spcAft>
            </a:pPr>
            <a:r>
              <a:rPr sz="800" b="0" dirty="0">
                <a:solidFill>
                  <a:srgbClr val="333333"/>
                </a:solidFill>
                <a:latin typeface="Calibri"/>
              </a:rPr>
              <a:t>Michelle Nguyen, Omid Azizi, Natalie Serrino (PitchBook primary contact). Shared systems and distributed-computing background underpinning the orchestration stack.</a:t>
            </a:r>
          </a:p>
          <a:p>
            <a:pPr algn="l">
              <a:spcBef>
                <a:spcPts val="300"/>
              </a:spcBef>
              <a:spcAft>
                <a:spcPts val="100"/>
              </a:spcAft>
            </a:pPr>
            <a:r>
              <a:rPr sz="800" b="1" dirty="0">
                <a:solidFill>
                  <a:srgbClr val="1A1A1A"/>
                </a:solidFill>
                <a:latin typeface="Calibri"/>
              </a:rPr>
              <a:t>Menlo Ventures Series A Lead Sponsor</a:t>
            </a:r>
          </a:p>
          <a:p>
            <a:pPr algn="l">
              <a:spcAft>
                <a:spcPts val="100"/>
              </a:spcAft>
            </a:pPr>
            <a:r>
              <a:rPr sz="800" b="0" dirty="0">
                <a:solidFill>
                  <a:srgbClr val="333333"/>
                </a:solidFill>
                <a:latin typeface="Calibri"/>
              </a:rPr>
              <a:t>Led the $42.4M Series A equity (Tim Tully). Seed led by Factory (Nov 2023). Angel roster includes Dylan Field, Lip-Bu Tan, Amarjit Gill, Akshay Kothari, Nick McKeown, Krishna Rangasayee, Mark Horowitz, Chris Re.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24528" y="1097280"/>
            <a:ext cx="3749039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Calibri"/>
              </a:rPr>
              <a:t>ROUND DETAILS</a:t>
            </a:r>
          </a:p>
        </p:txBody>
      </p:sp>
      <p:graphicFrame>
        <p:nvGraphicFramePr>
          <p:cNvPr id="168" name="Table 16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6742294"/>
              </p:ext>
            </p:extLst>
          </p:nvPr>
        </p:nvGraphicFramePr>
        <p:xfrm>
          <a:off x="4224528" y="1280160"/>
          <a:ext cx="3749038" cy="95073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247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43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35819">
                <a:tc>
                  <a:txBody>
                    <a:bodyPr/>
                    <a:lstStyle/>
                    <a:p>
                      <a:pPr algn="l"/>
                      <a:r>
                        <a:rPr sz="730" b="1">
                          <a:solidFill>
                            <a:srgbClr val="1A1A1A"/>
                          </a:solidFill>
                          <a:latin typeface="Calibri"/>
                        </a:rPr>
                        <a:t>Round</a:t>
                      </a:r>
                    </a:p>
                  </a:txBody>
                  <a:tcPr marL="45720" marR="45720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>
                          <a:solidFill>
                            <a:srgbClr val="333333"/>
                          </a:solidFill>
                          <a:latin typeface="Calibri"/>
                        </a:rPr>
                        <a:t>Series A - Closed (Mar 23, 2026)</a:t>
                      </a:r>
                    </a:p>
                  </a:txBody>
                  <a:tcPr marL="45720" marR="45720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5819">
                <a:tc>
                  <a:txBody>
                    <a:bodyPr/>
                    <a:lstStyle/>
                    <a:p>
                      <a:pPr algn="l"/>
                      <a:r>
                        <a:rPr sz="730" b="1">
                          <a:solidFill>
                            <a:srgbClr val="1A1A1A"/>
                          </a:solidFill>
                          <a:latin typeface="Calibri"/>
                        </a:rPr>
                        <a:t>Size/Pre/Post</a:t>
                      </a:r>
                    </a:p>
                  </a:txBody>
                  <a:tcPr marL="45720" marR="45720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>
                          <a:solidFill>
                            <a:srgbClr val="333333"/>
                          </a:solidFill>
                          <a:latin typeface="Calibri"/>
                        </a:rPr>
                        <a:t>$80M total - $165.6M pre - $208M post</a:t>
                      </a:r>
                    </a:p>
                  </a:txBody>
                  <a:tcPr marL="45720" marR="45720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5819">
                <a:tc>
                  <a:txBody>
                    <a:bodyPr/>
                    <a:lstStyle/>
                    <a:p>
                      <a:pPr algn="l"/>
                      <a:r>
                        <a:rPr sz="730" b="1">
                          <a:solidFill>
                            <a:srgbClr val="1A1A1A"/>
                          </a:solidFill>
                          <a:latin typeface="Calibri"/>
                        </a:rPr>
                        <a:t>Lead</a:t>
                      </a:r>
                    </a:p>
                  </a:txBody>
                  <a:tcPr marL="45720" marR="45720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>
                          <a:solidFill>
                            <a:srgbClr val="333333"/>
                          </a:solidFill>
                          <a:latin typeface="Calibri"/>
                        </a:rPr>
                        <a:t>Menlo Ventures (Tim Tully)</a:t>
                      </a:r>
                    </a:p>
                  </a:txBody>
                  <a:tcPr marL="45720" marR="45720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5819">
                <a:tc>
                  <a:txBody>
                    <a:bodyPr/>
                    <a:lstStyle/>
                    <a:p>
                      <a:pPr algn="l"/>
                      <a:r>
                        <a:rPr sz="730" b="1" dirty="0">
                          <a:solidFill>
                            <a:srgbClr val="1A1A1A"/>
                          </a:solidFill>
                          <a:latin typeface="Calibri"/>
                        </a:rPr>
                        <a:t>Participants</a:t>
                      </a:r>
                    </a:p>
                  </a:txBody>
                  <a:tcPr marL="45720" marR="45720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>
                          <a:solidFill>
                            <a:srgbClr val="333333"/>
                          </a:solidFill>
                          <a:latin typeface="Calibri"/>
                        </a:rPr>
                        <a:t>Prosperity7, Triatomic, Eclipse, 645 Ventures, Factory</a:t>
                      </a:r>
                    </a:p>
                  </a:txBody>
                  <a:tcPr marL="45720" marR="45720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5819">
                <a:tc>
                  <a:txBody>
                    <a:bodyPr/>
                    <a:lstStyle/>
                    <a:p>
                      <a:pPr algn="l"/>
                      <a:r>
                        <a:rPr sz="730" b="1">
                          <a:solidFill>
                            <a:srgbClr val="1A1A1A"/>
                          </a:solidFill>
                          <a:latin typeface="Calibri"/>
                        </a:rPr>
                        <a:t>Sourcing</a:t>
                      </a:r>
                    </a:p>
                  </a:txBody>
                  <a:tcPr marL="45720" marR="45720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>
                          <a:solidFill>
                            <a:srgbClr val="333333"/>
                          </a:solidFill>
                          <a:latin typeface="Calibri"/>
                        </a:rPr>
                        <a:t>PitchBook (status: Actual)</a:t>
                      </a:r>
                    </a:p>
                  </a:txBody>
                  <a:tcPr marL="45720" marR="45720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5819">
                <a:tc>
                  <a:txBody>
                    <a:bodyPr/>
                    <a:lstStyle/>
                    <a:p>
                      <a:pPr algn="l"/>
                      <a:r>
                        <a:rPr sz="730" b="1">
                          <a:solidFill>
                            <a:srgbClr val="1A1A1A"/>
                          </a:solidFill>
                          <a:latin typeface="Calibri"/>
                        </a:rPr>
                        <a:t>Step-Up</a:t>
                      </a:r>
                    </a:p>
                  </a:txBody>
                  <a:tcPr marL="45720" marR="45720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>
                          <a:solidFill>
                            <a:srgbClr val="333333"/>
                          </a:solidFill>
                          <a:latin typeface="Calibri"/>
                        </a:rPr>
                        <a:t>~3.5x from Seed ($60M post, Nov 2023)</a:t>
                      </a:r>
                    </a:p>
                  </a:txBody>
                  <a:tcPr marL="45720" marR="45720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5819">
                <a:tc>
                  <a:txBody>
                    <a:bodyPr/>
                    <a:lstStyle/>
                    <a:p>
                      <a:pPr algn="l"/>
                      <a:r>
                        <a:rPr sz="730" b="1" dirty="0">
                          <a:solidFill>
                            <a:srgbClr val="1A1A1A"/>
                          </a:solidFill>
                          <a:latin typeface="Calibri"/>
                        </a:rPr>
                        <a:t>Total Raised</a:t>
                      </a:r>
                    </a:p>
                  </a:txBody>
                  <a:tcPr marL="45720" marR="45720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dirty="0">
                          <a:solidFill>
                            <a:srgbClr val="333333"/>
                          </a:solidFill>
                          <a:latin typeface="Calibri"/>
                        </a:rPr>
                        <a:t>~$92.3M to date ($12.3M seed + $80M Series A)</a:t>
                      </a:r>
                    </a:p>
                  </a:txBody>
                  <a:tcPr marL="45720" marR="45720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69" name="TextBox 168"/>
          <p:cNvSpPr txBox="1"/>
          <p:nvPr/>
        </p:nvSpPr>
        <p:spPr>
          <a:xfrm>
            <a:off x="4221325" y="2272102"/>
            <a:ext cx="3749039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dirty="0">
                <a:solidFill>
                  <a:srgbClr val="1A1A1A"/>
                </a:solidFill>
                <a:latin typeface="Calibri"/>
              </a:rPr>
              <a:t>CAP TABLE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203037" y="4693046"/>
            <a:ext cx="376732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dirty="0">
                <a:solidFill>
                  <a:srgbClr val="1A1A1A"/>
                </a:solidFill>
                <a:latin typeface="Calibri"/>
              </a:rPr>
              <a:t>FINANCIAL SNAPSHOT</a:t>
            </a:r>
          </a:p>
        </p:txBody>
      </p:sp>
      <p:graphicFrame>
        <p:nvGraphicFramePr>
          <p:cNvPr id="173" name="Table 1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4243395"/>
              </p:ext>
            </p:extLst>
          </p:nvPr>
        </p:nvGraphicFramePr>
        <p:xfrm>
          <a:off x="4193894" y="4883165"/>
          <a:ext cx="3767326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825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3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26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660" b="1" dirty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Calibri"/>
                        </a:rPr>
                        <a:t>Seed ’23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Calibri"/>
                        </a:rPr>
                        <a:t>Series A ’26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Calibri"/>
                        </a:rPr>
                        <a:t>Next Round?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1A1A1A"/>
                          </a:solidFill>
                          <a:latin typeface="Calibri"/>
                        </a:rPr>
                        <a:t>Post-Money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0">
                          <a:solidFill>
                            <a:srgbClr val="555555"/>
                          </a:solidFill>
                          <a:latin typeface="Calibri"/>
                        </a:rPr>
                        <a:t>$60M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0">
                          <a:solidFill>
                            <a:srgbClr val="555555"/>
                          </a:solidFill>
                          <a:latin typeface="Calibri"/>
                        </a:rPr>
                        <a:t>$208M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0">
                          <a:solidFill>
                            <a:srgbClr val="555555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1A1A1A"/>
                          </a:solidFill>
                          <a:latin typeface="Calibri"/>
                        </a:rPr>
                        <a:t>Pre-Money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0">
                          <a:solidFill>
                            <a:srgbClr val="555555"/>
                          </a:solidFill>
                          <a:latin typeface="Calibri"/>
                        </a:rPr>
                        <a:t>$49.4M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0">
                          <a:solidFill>
                            <a:srgbClr val="555555"/>
                          </a:solidFill>
                          <a:latin typeface="Calibri"/>
                        </a:rPr>
                        <a:t>$165.6M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0">
                          <a:solidFill>
                            <a:srgbClr val="555555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660" b="1" dirty="0">
                          <a:solidFill>
                            <a:srgbClr val="1A1A1A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0" dirty="0">
                          <a:solidFill>
                            <a:srgbClr val="555555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0">
                          <a:solidFill>
                            <a:srgbClr val="555555"/>
                          </a:solidFill>
                          <a:latin typeface="Calibri"/>
                        </a:rPr>
                        <a:t>Eight-figure*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0">
                          <a:solidFill>
                            <a:srgbClr val="555555"/>
                          </a:solidFill>
                          <a:latin typeface="Calibri"/>
                        </a:rPr>
                        <a:t>Not disclosed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1A1A1A"/>
                          </a:solidFill>
                          <a:latin typeface="Calibri"/>
                        </a:rPr>
                        <a:t>Validation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0">
                          <a:solidFill>
                            <a:srgbClr val="555555"/>
                          </a:solidFill>
                          <a:latin typeface="Calibri"/>
                        </a:rPr>
                        <a:t>Pre-product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0">
                          <a:solidFill>
                            <a:srgbClr val="555555"/>
                          </a:solidFill>
                          <a:latin typeface="Calibri"/>
                        </a:rPr>
                        <a:t>In market (Oct ’25)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0">
                          <a:solidFill>
                            <a:srgbClr val="555555"/>
                          </a:solidFill>
                          <a:latin typeface="Calibri"/>
                        </a:rPr>
                        <a:t>Benchmarks unverified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660" b="1" dirty="0">
                          <a:solidFill>
                            <a:srgbClr val="1A1A1A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0">
                          <a:solidFill>
                            <a:srgbClr val="555555"/>
                          </a:solidFill>
                          <a:latin typeface="Calibri"/>
                        </a:rPr>
                        <a:t>Early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0">
                          <a:solidFill>
                            <a:srgbClr val="555555"/>
                          </a:solidFill>
                          <a:latin typeface="Calibri"/>
                        </a:rPr>
                        <a:t>3x growth*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0">
                          <a:solidFill>
                            <a:srgbClr val="555555"/>
                          </a:solidFill>
                          <a:latin typeface="Calibri"/>
                        </a:rPr>
                        <a:t>Frontier lab + hyperscaler*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1A1A1A"/>
                          </a:solidFill>
                          <a:latin typeface="Calibri"/>
                        </a:rPr>
                        <a:t>Employees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0">
                          <a:solidFill>
                            <a:srgbClr val="555555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0">
                          <a:solidFill>
                            <a:srgbClr val="555555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0">
                          <a:solidFill>
                            <a:srgbClr val="555555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1A1A1A"/>
                          </a:solidFill>
                          <a:latin typeface="Calibri"/>
                        </a:rPr>
                        <a:t>Round Size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0">
                          <a:solidFill>
                            <a:srgbClr val="555555"/>
                          </a:solidFill>
                          <a:latin typeface="Calibri"/>
                        </a:rPr>
                        <a:t>$12.3M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0">
                          <a:solidFill>
                            <a:srgbClr val="555555"/>
                          </a:solidFill>
                          <a:latin typeface="Calibri"/>
                        </a:rPr>
                        <a:t>$80M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0" dirty="0">
                          <a:solidFill>
                            <a:srgbClr val="555555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74" name="TextBox 173"/>
          <p:cNvSpPr txBox="1"/>
          <p:nvPr/>
        </p:nvSpPr>
        <p:spPr>
          <a:xfrm>
            <a:off x="8147304" y="1097280"/>
            <a:ext cx="376732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Calibri"/>
              </a:rPr>
              <a:t>PRELIMINARY SCORING</a:t>
            </a:r>
          </a:p>
        </p:txBody>
      </p:sp>
      <p:graphicFrame>
        <p:nvGraphicFramePr>
          <p:cNvPr id="175" name="Table 17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5901892"/>
              </p:ext>
            </p:extLst>
          </p:nvPr>
        </p:nvGraphicFramePr>
        <p:xfrm>
          <a:off x="8147305" y="1286691"/>
          <a:ext cx="3767327" cy="10149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1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48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Calibri"/>
                        </a:rPr>
                        <a:t>Backing Quality</a:t>
                      </a:r>
                      <a:endParaRPr sz="760" b="0" dirty="0">
                        <a:solidFill>
                          <a:srgbClr val="1A1A1A"/>
                        </a:solidFill>
                        <a:latin typeface="Calibri"/>
                      </a:endParaRPr>
                    </a:p>
                  </a:txBody>
                  <a:tcPr marL="45720" marR="45720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 dirty="0">
                          <a:solidFill>
                            <a:srgbClr val="1A1A1A"/>
                          </a:solidFill>
                          <a:latin typeface="Calibri"/>
                        </a:rPr>
                        <a:t>4 / 4</a:t>
                      </a:r>
                    </a:p>
                  </a:txBody>
                  <a:tcPr marL="45720" marR="45720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60" b="0" dirty="0">
                          <a:solidFill>
                            <a:srgbClr val="1A1A1A"/>
                          </a:solidFill>
                          <a:latin typeface="Calibri"/>
                        </a:rPr>
                        <a:t>Deal Dynamics</a:t>
                      </a:r>
                    </a:p>
                  </a:txBody>
                  <a:tcPr marL="45720" marR="45720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760" b="0" dirty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  <a:r>
                        <a:rPr sz="760" b="0" dirty="0">
                          <a:solidFill>
                            <a:srgbClr val="1A1A1A"/>
                          </a:solidFill>
                          <a:latin typeface="Calibri"/>
                        </a:rPr>
                        <a:t>/ 4</a:t>
                      </a:r>
                    </a:p>
                  </a:txBody>
                  <a:tcPr marL="45720" marR="45720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Calibri"/>
                        </a:rPr>
                        <a:t>Valuation</a:t>
                      </a:r>
                      <a:endParaRPr sz="760" b="0" dirty="0">
                        <a:solidFill>
                          <a:srgbClr val="1A1A1A"/>
                        </a:solidFill>
                        <a:latin typeface="Calibri"/>
                      </a:endParaRPr>
                    </a:p>
                  </a:txBody>
                  <a:tcPr marL="45720" marR="45720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A1A1A"/>
                          </a:solidFill>
                          <a:latin typeface="Calibri"/>
                        </a:rPr>
                        <a:t>2 / 4</a:t>
                      </a:r>
                      <a:endParaRPr sz="760" b="0" dirty="0">
                        <a:solidFill>
                          <a:srgbClr val="1A1A1A"/>
                        </a:solidFill>
                        <a:latin typeface="Calibri"/>
                      </a:endParaRPr>
                    </a:p>
                  </a:txBody>
                  <a:tcPr marL="45720" marR="45720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Calibri"/>
                        </a:rPr>
                        <a:t>Tech Validation</a:t>
                      </a:r>
                      <a:endParaRPr sz="760" b="0" dirty="0">
                        <a:solidFill>
                          <a:srgbClr val="1A1A1A"/>
                        </a:solidFill>
                        <a:latin typeface="Calibri"/>
                      </a:endParaRPr>
                    </a:p>
                  </a:txBody>
                  <a:tcPr marL="45720" marR="45720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A1A1A"/>
                          </a:solidFill>
                          <a:latin typeface="Calibri"/>
                        </a:rPr>
                        <a:t>2 / 4</a:t>
                      </a:r>
                    </a:p>
                  </a:txBody>
                  <a:tcPr marL="45720" marR="45720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Calibri"/>
                        </a:rPr>
                        <a:t>Track Record</a:t>
                      </a:r>
                    </a:p>
                  </a:txBody>
                  <a:tcPr marL="45720" marR="45720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760" b="0" dirty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  <a:r>
                        <a:rPr sz="760" b="0" dirty="0">
                          <a:solidFill>
                            <a:srgbClr val="1A1A1A"/>
                          </a:solidFill>
                          <a:latin typeface="Calibri"/>
                        </a:rPr>
                        <a:t> / 4</a:t>
                      </a:r>
                    </a:p>
                  </a:txBody>
                  <a:tcPr marL="45720" marR="45720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60" b="1" dirty="0">
                          <a:solidFill>
                            <a:srgbClr val="FFFFFF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 marL="45720" marR="45720" marT="9144" marB="9144"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/>
                        </a:rPr>
                        <a:t>2.6</a:t>
                      </a:r>
                      <a:r>
                        <a:rPr sz="760" b="1" dirty="0">
                          <a:solidFill>
                            <a:srgbClr val="FFFFFF"/>
                          </a:solidFill>
                          <a:latin typeface="Calibri"/>
                        </a:rPr>
                        <a:t> / 4.0</a:t>
                      </a:r>
                    </a:p>
                  </a:txBody>
                  <a:tcPr marL="45720" marR="45720" marT="9144" marB="9144" anchor="ctr">
                    <a:solidFill>
                      <a:srgbClr val="2B2B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6" name="TextBox 175"/>
          <p:cNvSpPr txBox="1"/>
          <p:nvPr/>
        </p:nvSpPr>
        <p:spPr>
          <a:xfrm>
            <a:off x="8147304" y="2354263"/>
            <a:ext cx="3767328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dirty="0">
                <a:solidFill>
                  <a:srgbClr val="1A1A1A"/>
                </a:solidFill>
                <a:latin typeface="Calibri"/>
              </a:rPr>
              <a:t>KEY CONCERNS </a:t>
            </a:r>
            <a:r>
              <a:rPr lang="en-US" sz="1000" b="1" dirty="0">
                <a:solidFill>
                  <a:srgbClr val="1A1A1A"/>
                </a:solidFill>
                <a:latin typeface="Calibri"/>
              </a:rPr>
              <a:t>AND</a:t>
            </a:r>
            <a:r>
              <a:rPr sz="1000" b="1" dirty="0">
                <a:solidFill>
                  <a:srgbClr val="1A1A1A"/>
                </a:solidFill>
                <a:latin typeface="Calibri"/>
              </a:rPr>
              <a:t> MITIGANTS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8147304" y="2555669"/>
            <a:ext cx="3767328" cy="2816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1" dirty="0">
                <a:solidFill>
                  <a:srgbClr val="1A1A1A"/>
                </a:solidFill>
                <a:latin typeface="Calibri"/>
              </a:rPr>
              <a:t>Unaudited Efficiency Claim</a:t>
            </a:r>
          </a:p>
          <a:p>
            <a:pPr algn="l">
              <a:spcAft>
                <a:spcPts val="100"/>
              </a:spcAft>
            </a:pPr>
            <a:r>
              <a:rPr sz="800" b="0" dirty="0">
                <a:solidFill>
                  <a:srgbClr val="404040"/>
                </a:solidFill>
                <a:latin typeface="Calibri"/>
              </a:rPr>
              <a:t>“3-10x faster at same cost/power” and “15-30% utilization” are company-stated, not independently audited. For an infra company this is the whole moat. Mitigant: third-party or customer-run benchmarks on named hardware vs. a real baseline (vLLM/SGLang/TensorRT-LLM).</a:t>
            </a:r>
          </a:p>
          <a:p>
            <a:pPr algn="l">
              <a:spcBef>
                <a:spcPts val="250"/>
              </a:spcBef>
              <a:spcAft>
                <a:spcPts val="100"/>
              </a:spcAft>
            </a:pPr>
            <a:r>
              <a:rPr sz="800" b="1" dirty="0">
                <a:solidFill>
                  <a:srgbClr val="1A1A1A"/>
                </a:solidFill>
                <a:latin typeface="Calibri"/>
              </a:rPr>
              <a:t>Crowded, Better-Capitalized Field</a:t>
            </a:r>
          </a:p>
          <a:p>
            <a:pPr algn="l">
              <a:spcAft>
                <a:spcPts val="100"/>
              </a:spcAft>
            </a:pPr>
            <a:r>
              <a:rPr sz="800" b="0" dirty="0">
                <a:solidFill>
                  <a:srgbClr val="404040"/>
                </a:solidFill>
                <a:latin typeface="Calibri"/>
              </a:rPr>
              <a:t>Comps are 10-60x bigger by valuation: Baseten ($5B, reportedly raising at $13B), Fireworks ($4B), Together ($3.3B), Modal (~$2.5B), Inferact/vLLM ($800M), RadixArk/SGLang ($400M). Must win against far more capital and existing token volume.</a:t>
            </a:r>
            <a:endParaRPr lang="en-US" sz="800" dirty="0">
              <a:solidFill>
                <a:srgbClr val="404040"/>
              </a:solidFill>
              <a:latin typeface="Calibri"/>
            </a:endParaRPr>
          </a:p>
          <a:p>
            <a:pPr algn="l">
              <a:spcAft>
                <a:spcPts val="100"/>
              </a:spcAft>
            </a:pPr>
            <a:r>
              <a:rPr sz="800" b="1" dirty="0">
                <a:solidFill>
                  <a:srgbClr val="1A1A1A"/>
                </a:solidFill>
                <a:latin typeface="Calibri"/>
              </a:rPr>
              <a:t>Customer Concentration Risk</a:t>
            </a:r>
          </a:p>
          <a:p>
            <a:pPr algn="l">
              <a:spcAft>
                <a:spcPts val="100"/>
              </a:spcAft>
            </a:pPr>
            <a:r>
              <a:rPr sz="800" b="0" dirty="0">
                <a:solidFill>
                  <a:srgbClr val="404040"/>
                </a:solidFill>
                <a:latin typeface="Calibri"/>
              </a:rPr>
              <a:t>A frontier lab + a hyperscaler is a strong logo signal, but those same counterparties are most likely to build in-house. Mitigant: confirm revenue concentration and contract structure (committed vs. usage, term, exclusivity).</a:t>
            </a:r>
          </a:p>
          <a:p>
            <a:pPr algn="l">
              <a:spcBef>
                <a:spcPts val="250"/>
              </a:spcBef>
              <a:spcAft>
                <a:spcPts val="100"/>
              </a:spcAft>
            </a:pPr>
            <a:r>
              <a:rPr sz="800" b="1" dirty="0">
                <a:solidFill>
                  <a:srgbClr val="1A1A1A"/>
                </a:solidFill>
                <a:latin typeface="Calibri"/>
              </a:rPr>
              <a:t>Half the Round Is Debt</a:t>
            </a:r>
          </a:p>
          <a:p>
            <a:pPr algn="l">
              <a:spcAft>
                <a:spcPts val="100"/>
              </a:spcAft>
            </a:pPr>
            <a:r>
              <a:rPr sz="800" b="0" dirty="0">
                <a:solidFill>
                  <a:srgbClr val="404040"/>
                </a:solidFill>
                <a:latin typeface="Calibri"/>
              </a:rPr>
              <a:t>$37.6M of the $80M is debt. Mitigant: understand the lender, terms, and what it is secured against (GPU capacity? receivables?); it changes the real equity story and balance-sheet risk.</a:t>
            </a:r>
          </a:p>
          <a:p>
            <a:pPr algn="l">
              <a:spcBef>
                <a:spcPts val="250"/>
              </a:spcBef>
              <a:spcAft>
                <a:spcPts val="100"/>
              </a:spcAft>
            </a:pPr>
            <a:r>
              <a:rPr sz="800" b="1" dirty="0">
                <a:solidFill>
                  <a:srgbClr val="1A1A1A"/>
                </a:solidFill>
                <a:latin typeface="Calibri"/>
              </a:rPr>
              <a:t>Inside-Supported Step-Up / Moonshot</a:t>
            </a:r>
          </a:p>
          <a:p>
            <a:pPr algn="l">
              <a:spcAft>
                <a:spcPts val="100"/>
              </a:spcAft>
            </a:pPr>
            <a:r>
              <a:rPr sz="800" b="0" dirty="0">
                <a:solidFill>
                  <a:srgbClr val="404040"/>
                </a:solidFill>
                <a:latin typeface="Calibri"/>
              </a:rPr>
              <a:t> Menlo led the A, Factory re-upped from seed. Raised early with no tangible, proven product yet, though the team has published strong research. Mitigant: a new outside Tier-1 lead at the next round.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203038" y="4470656"/>
            <a:ext cx="3749039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600" dirty="0">
                <a:solidFill>
                  <a:srgbClr val="8A8A8A"/>
                </a:solidFill>
                <a:latin typeface="Calibri"/>
              </a:rPr>
              <a:t>Series A verified via PitchBook PBID 607941-46 (status: Actual). Revenue (“eight-figure”) and 3-10x efficiency are company-asserted / unaudited. 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83C59B9-98FC-6FDB-64CB-129CC32C9A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302730"/>
              </p:ext>
            </p:extLst>
          </p:nvPr>
        </p:nvGraphicFramePr>
        <p:xfrm>
          <a:off x="4221326" y="2451783"/>
          <a:ext cx="3749038" cy="1960217"/>
        </p:xfrm>
        <a:graphic>
          <a:graphicData uri="http://schemas.openxmlformats.org/drawingml/2006/table">
            <a:tbl>
              <a:tblPr/>
              <a:tblGrid>
                <a:gridCol w="573981">
                  <a:extLst>
                    <a:ext uri="{9D8B030D-6E8A-4147-A177-3AD203B41FA5}">
                      <a16:colId xmlns:a16="http://schemas.microsoft.com/office/drawing/2014/main" val="2109155507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595410906"/>
                    </a:ext>
                  </a:extLst>
                </a:gridCol>
                <a:gridCol w="2306531">
                  <a:extLst>
                    <a:ext uri="{9D8B030D-6E8A-4147-A177-3AD203B41FA5}">
                      <a16:colId xmlns:a16="http://schemas.microsoft.com/office/drawing/2014/main" val="1210787592"/>
                    </a:ext>
                  </a:extLst>
                </a:gridCol>
              </a:tblGrid>
              <a:tr h="185969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effectLst/>
                        </a:rPr>
                        <a:t>Round</a:t>
                      </a:r>
                    </a:p>
                  </a:txBody>
                  <a:tcPr marL="8021" marR="8021" marT="5347" marB="5347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effectLst/>
                        </a:rPr>
                        <a:t>Amount</a:t>
                      </a:r>
                    </a:p>
                  </a:txBody>
                  <a:tcPr marL="8021" marR="8021" marT="5347" marB="5347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effectLst/>
                        </a:rPr>
                        <a:t>Investor</a:t>
                      </a:r>
                    </a:p>
                  </a:txBody>
                  <a:tcPr marL="8021" marR="8021" marT="5347" marB="5347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6907927"/>
                  </a:ext>
                </a:extLst>
              </a:tr>
              <a:tr h="119980">
                <a:tc rowSpan="3"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900" b="1" dirty="0">
                          <a:effectLst/>
                        </a:rPr>
                        <a:t>Seed (Nov 2023)</a:t>
                      </a:r>
                    </a:p>
                  </a:txBody>
                  <a:tcPr marL="8021" marR="8021" marT="5347" marB="5347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900" dirty="0">
                          <a:effectLst/>
                        </a:rPr>
                        <a:t>$12.3M</a:t>
                      </a:r>
                    </a:p>
                  </a:txBody>
                  <a:tcPr marL="8021" marR="8021" marT="5347" marB="5347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900" b="1" dirty="0">
                          <a:effectLst/>
                        </a:rPr>
                        <a:t>Factory (lead)</a:t>
                      </a:r>
                    </a:p>
                  </a:txBody>
                  <a:tcPr marL="0" marR="0" marT="5347" marB="5347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2992343"/>
                  </a:ext>
                </a:extLst>
              </a:tr>
              <a:tr h="11998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900" b="1" dirty="0">
                          <a:effectLst/>
                        </a:rPr>
                        <a:t>Dylan Field, Lip-Bu Tan, Amarjit Gill</a:t>
                      </a:r>
                    </a:p>
                  </a:txBody>
                  <a:tcPr marL="0" marR="0" marT="5347" marB="5347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9023797"/>
                  </a:ext>
                </a:extLst>
              </a:tr>
              <a:tr h="11998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900" dirty="0">
                          <a:effectLst/>
                        </a:rPr>
                        <a:t>Kothari, McKeown, Raghuraman</a:t>
                      </a:r>
                    </a:p>
                  </a:txBody>
                  <a:tcPr marL="8021" marR="8021" marT="5347" marB="5347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3177860"/>
                  </a:ext>
                </a:extLst>
              </a:tr>
              <a:tr h="119980">
                <a:tc rowSpan="9"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900" b="1" dirty="0">
                          <a:effectLst/>
                        </a:rPr>
                        <a:t>Series A (Mar 2026)</a:t>
                      </a:r>
                    </a:p>
                  </a:txBody>
                  <a:tcPr marL="8021" marR="8021" marT="5347" marB="5347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9"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900" dirty="0">
                          <a:effectLst/>
                        </a:rPr>
                        <a:t>$80M</a:t>
                      </a:r>
                    </a:p>
                  </a:txBody>
                  <a:tcPr marL="8021" marR="8021" marT="5347" marB="5347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900" b="1" dirty="0">
                          <a:effectLst/>
                        </a:rPr>
                        <a:t>Menlo Ventures (lead)</a:t>
                      </a:r>
                    </a:p>
                  </a:txBody>
                  <a:tcPr marL="0" marR="0" marT="5347" marB="5347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5285803"/>
                  </a:ext>
                </a:extLst>
              </a:tr>
              <a:tr h="11998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900" dirty="0" err="1">
                          <a:effectLst/>
                        </a:rPr>
                        <a:t>Prosperity7</a:t>
                      </a:r>
                      <a:r>
                        <a:rPr lang="en-US" sz="900" dirty="0">
                          <a:effectLst/>
                        </a:rPr>
                        <a:t>, Triatomic</a:t>
                      </a:r>
                    </a:p>
                  </a:txBody>
                  <a:tcPr marL="0" marR="0" marT="5347" marB="5347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3150053"/>
                  </a:ext>
                </a:extLst>
              </a:tr>
              <a:tr h="11998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900" b="1" dirty="0">
                          <a:effectLst/>
                        </a:rPr>
                        <a:t>Eclipse Ventures</a:t>
                      </a:r>
                    </a:p>
                  </a:txBody>
                  <a:tcPr marL="0" marR="0" marT="5347" marB="5347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5175576"/>
                  </a:ext>
                </a:extLst>
              </a:tr>
              <a:tr h="11998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900" dirty="0">
                          <a:effectLst/>
                        </a:rPr>
                        <a:t>645 Ventures</a:t>
                      </a:r>
                    </a:p>
                  </a:txBody>
                  <a:tcPr marL="8021" marR="8021" marT="5347" marB="5347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9375666"/>
                  </a:ext>
                </a:extLst>
              </a:tr>
              <a:tr h="11998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900" dirty="0">
                          <a:effectLst/>
                        </a:rPr>
                        <a:t>Krishna Rangasayee</a:t>
                      </a:r>
                    </a:p>
                  </a:txBody>
                  <a:tcPr marL="8021" marR="8021" marT="5347" marB="5347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987617"/>
                  </a:ext>
                </a:extLst>
              </a:tr>
              <a:tr h="11998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900" dirty="0">
                          <a:effectLst/>
                        </a:rPr>
                        <a:t>Mark Horowitz</a:t>
                      </a:r>
                    </a:p>
                  </a:txBody>
                  <a:tcPr marL="8021" marR="8021" marT="5347" marB="5347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0931213"/>
                  </a:ext>
                </a:extLst>
              </a:tr>
              <a:tr h="11998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900" dirty="0">
                          <a:effectLst/>
                        </a:rPr>
                        <a:t>Chris Re</a:t>
                      </a:r>
                    </a:p>
                  </a:txBody>
                  <a:tcPr marL="8021" marR="8021" marT="5347" marB="5347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4595810"/>
                  </a:ext>
                </a:extLst>
              </a:tr>
              <a:tr h="11998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900" dirty="0">
                          <a:effectLst/>
                        </a:rPr>
                        <a:t>Factory (follow-on)</a:t>
                      </a:r>
                    </a:p>
                  </a:txBody>
                  <a:tcPr marL="0" marR="0" marT="5347" marB="5347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3711034"/>
                  </a:ext>
                </a:extLst>
              </a:tr>
              <a:tr h="11998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b">
                        <a:lnSpc>
                          <a:spcPct val="100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$37.6M debt incl. in round</a:t>
                      </a:r>
                    </a:p>
                  </a:txBody>
                  <a:tcPr marL="0" marR="0" marT="5347" marB="5347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3009082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B8EE1A68-59CF-1E5B-C4D0-2DFCB72916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625" y="152351"/>
            <a:ext cx="1212247" cy="60612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373" y="-6095"/>
            <a:ext cx="12191695" cy="7772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320040" y="841248"/>
            <a:ext cx="11551615" cy="201168"/>
          </a:xfrm>
          <a:prstGeom prst="rect">
            <a:avLst/>
          </a:prstGeom>
          <a:noFill/>
        </p:spPr>
        <p:txBody>
          <a:bodyPr wrap="square" lIns="36000" tIns="14000" rIns="36000" bIns="14000" anchor="t">
            <a:spAutoFit/>
          </a:bodyPr>
          <a:lstStyle/>
          <a:p>
            <a:pPr algn="l"/>
            <a:r>
              <a:rPr sz="900" b="0" dirty="0">
                <a:solidFill>
                  <a:srgbClr val="828282"/>
                </a:solidFill>
                <a:latin typeface="Calibri"/>
              </a:rPr>
              <a:t>Comps grouped by relevance  -  Inference clouds (private)  /  Adjacent infra  -  Scenario valuations by case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6565392"/>
            <a:ext cx="2286000" cy="292608"/>
          </a:xfrm>
          <a:prstGeom prst="rect">
            <a:avLst/>
          </a:prstGeom>
          <a:noFill/>
        </p:spPr>
        <p:txBody>
          <a:bodyPr wrap="square" lIns="36000" tIns="14000" rIns="36000" bIns="14000" anchor="ctr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ID8 Investments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noFill/>
        </p:spPr>
        <p:txBody>
          <a:bodyPr wrap="square" lIns="36000" tIns="14000" rIns="36000" bIns="14000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INTERNAL USE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565392"/>
            <a:ext cx="2011680" cy="292608"/>
          </a:xfrm>
          <a:prstGeom prst="rect">
            <a:avLst/>
          </a:prstGeom>
          <a:noFill/>
        </p:spPr>
        <p:txBody>
          <a:bodyPr wrap="square" lIns="36000" tIns="14000" rIns="36000" bIns="14000" anchor="ctr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Calibri"/>
              </a:rPr>
              <a:t>Prepared: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097280"/>
            <a:ext cx="10972800" cy="182880"/>
          </a:xfrm>
          <a:prstGeom prst="rect">
            <a:avLst/>
          </a:prstGeom>
          <a:noFill/>
        </p:spPr>
        <p:txBody>
          <a:bodyPr wrap="square" lIns="36000" tIns="14000" rIns="36000" bIns="14000" anchor="t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COMPARABLE INFERENCE-CLOUD / AI-INFRA VALUATIONS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0040" y="4215384"/>
            <a:ext cx="11551615" cy="502920"/>
          </a:xfrm>
          <a:prstGeom prst="rect">
            <a:avLst/>
          </a:prstGeom>
          <a:noFill/>
        </p:spPr>
        <p:txBody>
          <a:bodyPr wrap="square" lIns="36000" tIns="14000" rIns="36000" bIns="14000" anchor="t">
            <a:spAutoFit/>
          </a:bodyPr>
          <a:lstStyle/>
          <a:p>
            <a:pPr algn="l"/>
            <a:r>
              <a:rPr sz="630" b="0">
                <a:solidFill>
                  <a:srgbClr val="A8A8A8"/>
                </a:solidFill>
                <a:latin typeface="Calibri"/>
              </a:rPr>
              <a:t>Gimlet’s $208M Series A post is the cheapest entry in the category by a wide margin: peers trade at multi-billion marks and 40-60x revenue where disclosed. With revenue only asserted (eight-figure) and the 3-10x efficiency claim unaudited, the entry is priced on early traction and a strong team, not proven economics. The bet is that multi-silicon partitioning becomes a durable efficiency moat as the category scales. Public/peer data as of June 2026; all Gimlet figures company-asserted / unverified.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0040" y="4547616"/>
            <a:ext cx="11551615" cy="182880"/>
          </a:xfrm>
          <a:prstGeom prst="rect">
            <a:avLst/>
          </a:prstGeom>
          <a:noFill/>
        </p:spPr>
        <p:txBody>
          <a:bodyPr wrap="square" lIns="36000" tIns="14000" rIns="36000" bIns="14000" anchor="t">
            <a:spAutoFit/>
          </a:bodyPr>
          <a:lstStyle/>
          <a:p>
            <a:pPr algn="l"/>
            <a:r>
              <a:rPr sz="1000" b="1" dirty="0">
                <a:solidFill>
                  <a:srgbClr val="1A1A1A"/>
                </a:solidFill>
                <a:latin typeface="Calibri"/>
              </a:rPr>
              <a:t>VALUATION / UNDERWRITING ANALYSIS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20040" y="4730496"/>
            <a:ext cx="11551615" cy="397605"/>
          </a:xfrm>
          <a:prstGeom prst="rect">
            <a:avLst/>
          </a:prstGeom>
          <a:noFill/>
        </p:spPr>
        <p:txBody>
          <a:bodyPr wrap="square" lIns="36000" tIns="14000" rIns="36000" bIns="14000" anchor="t">
            <a:spAutoFit/>
          </a:bodyPr>
          <a:lstStyle/>
          <a:p>
            <a:pPr algn="l"/>
            <a:r>
              <a:rPr sz="800" b="0" dirty="0">
                <a:solidFill>
                  <a:srgbClr val="1A1A1A"/>
                </a:solidFill>
                <a:latin typeface="Calibri"/>
              </a:rPr>
              <a:t>There is no clean revenue-grounded multiple for Gimlet: the only figure is an asserted “eight-figure” revenue, implying roughly 7x ($30M) to 20x ($10M) on the $208M post, still far below where the inference-cloud peer set is priced. Baseten ($5B, reportedly raising at $13B), Fireworks ($4B, 10T+ tokens/day), Together ($3.3B), and Modal (~$2.5B target) are all an order of magnitude larger with real token volume. So the case does not rest on relative cheapness alone; it rests on the team executing the multi-silicon thesis into a verifiable efficiency edge and converting marquee logos into committed revenue. Critical: independent benchmarks and the basis of the revenue figure are the #1 diligence asks.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0040" y="5170000"/>
            <a:ext cx="11551615" cy="182880"/>
          </a:xfrm>
          <a:prstGeom prst="rect">
            <a:avLst/>
          </a:prstGeom>
          <a:noFill/>
        </p:spPr>
        <p:txBody>
          <a:bodyPr wrap="square" lIns="36000" tIns="14000" rIns="36000" bIns="14000" anchor="t">
            <a:spAutoFit/>
          </a:bodyPr>
          <a:lstStyle/>
          <a:p>
            <a:pPr algn="l"/>
            <a:r>
              <a:rPr sz="1000" b="1" dirty="0">
                <a:solidFill>
                  <a:srgbClr val="1A1A1A"/>
                </a:solidFill>
                <a:latin typeface="Calibri"/>
              </a:rPr>
              <a:t>SCENARIOS - EXPECTED VALUATIONS BY CASE (entry size TBD)</a:t>
            </a:r>
          </a:p>
        </p:txBody>
      </p:sp>
      <p:pic>
        <p:nvPicPr>
          <p:cNvPr id="105" name="Picture 104">
            <a:extLst>
              <a:ext uri="{FF2B5EF4-FFF2-40B4-BE49-F238E27FC236}">
                <a16:creationId xmlns:a16="http://schemas.microsoft.com/office/drawing/2014/main" id="{05D14DE4-288A-CFCF-7B4F-BB50B33FE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5402" y="312336"/>
            <a:ext cx="2191973" cy="216575"/>
          </a:xfrm>
          <a:prstGeom prst="rect">
            <a:avLst/>
          </a:prstGeom>
        </p:spPr>
      </p:pic>
      <p:graphicFrame>
        <p:nvGraphicFramePr>
          <p:cNvPr id="106" name="Table 1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4913814"/>
              </p:ext>
            </p:extLst>
          </p:nvPr>
        </p:nvGraphicFramePr>
        <p:xfrm>
          <a:off x="320040" y="1289304"/>
          <a:ext cx="11548870" cy="2816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77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1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83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236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575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650" b="1" dirty="0">
                          <a:solidFill>
                            <a:schemeClr val="bg1"/>
                          </a:solidFill>
                          <a:latin typeface="Calibri"/>
                        </a:rPr>
                        <a:t>COMPANY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1" dirty="0">
                          <a:solidFill>
                            <a:schemeClr val="bg1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1" dirty="0">
                          <a:solidFill>
                            <a:schemeClr val="bg1"/>
                          </a:solidFill>
                          <a:latin typeface="Calibri"/>
                        </a:rPr>
                        <a:t>VALUATION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1" dirty="0">
                          <a:solidFill>
                            <a:schemeClr val="bg1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1" dirty="0">
                          <a:solidFill>
                            <a:schemeClr val="bg1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 gridSpan="5">
                  <a:txBody>
                    <a:bodyPr/>
                    <a:lstStyle/>
                    <a:p>
                      <a:pPr algn="l"/>
                      <a:r>
                        <a:rPr sz="630" b="1" dirty="0">
                          <a:solidFill>
                            <a:srgbClr val="404040"/>
                          </a:solidFill>
                          <a:latin typeface="Calibri"/>
                        </a:rPr>
                        <a:t>DIRECT PRIVATE COMPS  -  Inference clouds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B w="6350" cap="flat">
                      <a:solidFill>
                        <a:srgbClr val="DADADA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B w="6350" cap="flat">
                      <a:solidFill>
                        <a:srgbClr val="DADADA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B w="6350" cap="flat">
                      <a:solidFill>
                        <a:srgbClr val="DADADA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B w="6350" cap="flat">
                      <a:solidFill>
                        <a:srgbClr val="DADAD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630" b="1">
                          <a:solidFill>
                            <a:srgbClr val="1A1A1A"/>
                          </a:solidFill>
                          <a:latin typeface="Calibri"/>
                        </a:rPr>
                        <a:t>Gimlet Labs (ID8 entry)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Series A (closed Mar 2026)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$208M post; $92.3M raised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Eight-figure (asserted)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~7-20x on asserted revenue; multi-silicon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630" b="1">
                          <a:solidFill>
                            <a:srgbClr val="1A1A1A"/>
                          </a:solidFill>
                          <a:latin typeface="Calibri"/>
                        </a:rPr>
                        <a:t>Baseten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Late-stage (Private)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$5B (Feb 2026); ~$13B reported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Scaled, undisclosed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Production inference; far larger than Gimlet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630" b="1">
                          <a:solidFill>
                            <a:srgbClr val="1A1A1A"/>
                          </a:solidFill>
                          <a:latin typeface="Calibri"/>
                        </a:rPr>
                        <a:t>Fireworks AI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Private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$4B (2024)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10T+ tokens/day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High token volume; well-capitalized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880">
                <a:tc gridSpan="5">
                  <a:txBody>
                    <a:bodyPr/>
                    <a:lstStyle/>
                    <a:p>
                      <a:pPr algn="l"/>
                      <a:r>
                        <a:rPr sz="630" b="1">
                          <a:solidFill>
                            <a:srgbClr val="404040"/>
                          </a:solidFill>
                          <a:latin typeface="Calibri"/>
                        </a:rPr>
                        <a:t>ADJACENT / OPEN-SOURCE SPINOUTS  -  category-wide rich pricing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B w="6350" cap="flat">
                      <a:solidFill>
                        <a:srgbClr val="DADADA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B w="6350" cap="flat">
                      <a:solidFill>
                        <a:srgbClr val="DADADA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B w="6350" cap="flat">
                      <a:solidFill>
                        <a:srgbClr val="DADADA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B w="6350" cap="flat">
                      <a:solidFill>
                        <a:srgbClr val="DADAD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630" b="1">
                          <a:solidFill>
                            <a:srgbClr val="1A1A1A"/>
                          </a:solidFill>
                          <a:latin typeface="Calibri"/>
                        </a:rPr>
                        <a:t>Together AI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Private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$3.3B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Serverless inference at scale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Multi-model serverless cloud; well-capitalized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2880">
                <a:tc gridSpan="5">
                  <a:txBody>
                    <a:bodyPr/>
                    <a:lstStyle/>
                    <a:p>
                      <a:pPr algn="l"/>
                      <a:r>
                        <a:rPr sz="630" b="1">
                          <a:solidFill>
                            <a:srgbClr val="404040"/>
                          </a:solidFill>
                          <a:latin typeface="Calibri"/>
                        </a:rPr>
                        <a:t>INFERENCE OPTIMIZATION / KERNEL + SERVING PRECEDENT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B w="6350" cap="flat">
                      <a:solidFill>
                        <a:srgbClr val="DADADA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B w="6350" cap="flat">
                      <a:solidFill>
                        <a:srgbClr val="DADADA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B w="6350" cap="flat">
                      <a:solidFill>
                        <a:srgbClr val="DADADA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B w="6350" cap="flat">
                      <a:solidFill>
                        <a:srgbClr val="DADAD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630" b="1" dirty="0" err="1">
                          <a:solidFill>
                            <a:srgbClr val="1A1A1A"/>
                          </a:solidFill>
                          <a:latin typeface="Calibri"/>
                        </a:rPr>
                        <a:t>Modal Labs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Private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~$2.5B (target)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~$50M run-rate (~50x)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Serverless compute; rich multiple precedent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630" b="1">
                          <a:solidFill>
                            <a:srgbClr val="1A1A1A"/>
                          </a:solidFill>
                          <a:latin typeface="Calibri"/>
                        </a:rPr>
                        <a:t>Inferact (vLLM)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Seed (Private)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$800M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Open-source serving project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a16z-led; commercialized vLLM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630" b="1">
                          <a:solidFill>
                            <a:srgbClr val="1A1A1A"/>
                          </a:solidFill>
                          <a:latin typeface="Calibri"/>
                        </a:rPr>
                        <a:t>RadixArk (SGLang)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Seed (Private)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$400M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Open-source serving project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Accel-led; commercialized SGLang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630" b="1">
                          <a:solidFill>
                            <a:srgbClr val="1A1A1A"/>
                          </a:solidFill>
                          <a:latin typeface="Calibri"/>
                        </a:rPr>
                        <a:t>Pixie / New Relic (precedent)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Acquired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Founder prior exit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Kubernetes observability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>
                          <a:solidFill>
                            <a:srgbClr val="555555"/>
                          </a:solidFill>
                          <a:latin typeface="Calibri"/>
                        </a:rPr>
                        <a:t>Validates Asgar’s systems track record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D0938C66-60C7-B23E-90B3-898A227993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68" y="-78583"/>
            <a:ext cx="1627160" cy="1084773"/>
          </a:xfrm>
          <a:prstGeom prst="rect">
            <a:avLst/>
          </a:prstGeom>
        </p:spPr>
      </p:pic>
      <p:graphicFrame>
        <p:nvGraphicFramePr>
          <p:cNvPr id="900" name="Scenarios Table"/>
          <p:cNvGraphicFramePr/>
          <p:nvPr>
            <p:extLst>
              <p:ext uri="{D42A27DB-BD31-4B8C-83A1-F6EECF244321}">
                <p14:modId xmlns:p14="http://schemas.microsoft.com/office/powerpoint/2010/main" val="482658087"/>
              </p:ext>
            </p:extLst>
          </p:nvPr>
        </p:nvGraphicFramePr>
        <p:xfrm>
          <a:off x="320040" y="5352880"/>
          <a:ext cx="11548870" cy="1040799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3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3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30002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30003"/>
                    </a:ext>
                  </a:extLst>
                </a:gridCol>
                <a:gridCol w="1856230">
                  <a:extLst>
                    <a:ext uri="{9D8B030D-6E8A-4147-A177-3AD203B41FA5}">
                      <a16:colId xmlns:a16="http://schemas.microsoft.com/office/drawing/2014/main" val="30004"/>
                    </a:ext>
                  </a:extLst>
                </a:gridCol>
              </a:tblGrid>
              <a:tr h="156675">
                <a:tc>
                  <a:txBody>
                    <a:bodyPr/>
                    <a:lstStyle/>
                    <a:p>
                      <a:pPr algn="l"/>
                      <a:r>
                        <a:rPr sz="650" b="1" dirty="0">
                          <a:solidFill>
                            <a:schemeClr val="bg1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1" dirty="0">
                          <a:solidFill>
                            <a:schemeClr val="bg1"/>
                          </a:solidFill>
                          <a:latin typeface="Calibri"/>
                        </a:rPr>
                        <a:t>WHAT PLAYS OUT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1" dirty="0">
                          <a:solidFill>
                            <a:schemeClr val="bg1"/>
                          </a:solidFill>
                          <a:latin typeface="Calibri"/>
                        </a:rPr>
                        <a:t>NEXT-ROUND VALUATION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1" dirty="0">
                          <a:solidFill>
                            <a:schemeClr val="bg1"/>
                          </a:solidFill>
                          <a:latin typeface="Calibri"/>
                        </a:rPr>
                        <a:t>OUTCOME VALUATION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1" dirty="0">
                          <a:solidFill>
                            <a:schemeClr val="bg1"/>
                          </a:solidFill>
                          <a:latin typeface="Calibri"/>
                        </a:rPr>
                        <a:t>IMPLIED MULTIPLE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4708">
                <a:tc>
                  <a:txBody>
                    <a:bodyPr/>
                    <a:lstStyle/>
                    <a:p>
                      <a:pPr algn="l"/>
                      <a:r>
                        <a:rPr lang="en-US" sz="650" b="1" dirty="0">
                          <a:solidFill>
                            <a:schemeClr val="tx1"/>
                          </a:solidFill>
                          <a:latin typeface="Calibri"/>
                        </a:rPr>
                        <a:t>Bull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dirty="0">
                          <a:solidFill>
                            <a:srgbClr val="1A1A1A"/>
                          </a:solidFill>
                          <a:latin typeface="Calibri"/>
                        </a:rPr>
                        <a:t>Benchmarks replicate, revenue compounds, multi-silicon becomes a default layer; lands marquee logos as committed customers.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>
                          <a:solidFill>
                            <a:srgbClr val="1A1A1A"/>
                          </a:solidFill>
                          <a:latin typeface="Calibri"/>
                        </a:rPr>
                        <a:t>~$600M - $1.2B step-up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>
                          <a:solidFill>
                            <a:srgbClr val="1A1A1A"/>
                          </a:solidFill>
                          <a:latin typeface="Calibri"/>
                        </a:rPr>
                        <a:t>$5B+ (Baseten / Fireworks class)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8 - 15x+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4708">
                <a:tc>
                  <a:txBody>
                    <a:bodyPr/>
                    <a:lstStyle/>
                    <a:p>
                      <a:pPr algn="l"/>
                      <a:r>
                        <a:rPr lang="en-US" sz="650" b="1" dirty="0">
                          <a:solidFill>
                            <a:schemeClr val="tx1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dirty="0">
                          <a:solidFill>
                            <a:srgbClr val="1A1A1A"/>
                          </a:solidFill>
                          <a:latin typeface="Calibri"/>
                        </a:rPr>
                        <a:t>Validates in one or two domains; real but slower commercial ramp. Raises again at a healthy, non-vertical mark; eventual IPO or strategic interest.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>
                          <a:solidFill>
                            <a:srgbClr val="1A1A1A"/>
                          </a:solidFill>
                          <a:latin typeface="Calibri"/>
                        </a:rPr>
                        <a:t>~$350M - $550M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>
                          <a:solidFill>
                            <a:srgbClr val="1A1A1A"/>
                          </a:solidFill>
                          <a:latin typeface="Calibri"/>
                        </a:rPr>
                        <a:t>$1 - 3B trade / IPO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1" dirty="0">
                          <a:solidFill>
                            <a:srgbClr val="1A1A1A"/>
                          </a:solidFill>
                          <a:latin typeface="Calibri"/>
                        </a:rPr>
                        <a:t>2 - 4x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4708">
                <a:tc>
                  <a:txBody>
                    <a:bodyPr/>
                    <a:lstStyle/>
                    <a:p>
                      <a:pPr algn="l"/>
                      <a:r>
                        <a:rPr lang="en-US" sz="650" b="1" dirty="0">
                          <a:solidFill>
                            <a:schemeClr val="tx1"/>
                          </a:solidFill>
                          <a:latin typeface="Calibri"/>
                        </a:rPr>
                        <a:t>Bear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>
                          <a:solidFill>
                            <a:srgbClr val="1A1A1A"/>
                          </a:solidFill>
                          <a:latin typeface="Calibri"/>
                        </a:rPr>
                        <a:t>Efficiency claim does not replicate; frontier lab and hyperscaler build in-house; better-capitalized peers win on token volume.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>
                          <a:solidFill>
                            <a:srgbClr val="1A1A1A"/>
                          </a:solidFill>
                          <a:latin typeface="Calibri"/>
                        </a:rPr>
                        <a:t>Flat / down (~$150M - $250M)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>
                          <a:solidFill>
                            <a:srgbClr val="1A1A1A"/>
                          </a:solidFill>
                          <a:latin typeface="Calibri"/>
                        </a:rPr>
                        <a:t>&lt; $1B or strategic sale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1" dirty="0">
                          <a:solidFill>
                            <a:srgbClr val="1A1A1A"/>
                          </a:solidFill>
                          <a:latin typeface="Calibri"/>
                        </a:rPr>
                        <a:t>0.3 - 0.7x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841248"/>
            <a:ext cx="11551615" cy="166773"/>
          </a:xfrm>
          <a:prstGeom prst="rect">
            <a:avLst/>
          </a:prstGeom>
          <a:noFill/>
        </p:spPr>
        <p:txBody>
          <a:bodyPr wrap="square" lIns="36000" tIns="14000" rIns="36000" bIns="14000" anchor="t">
            <a:spAutoFit/>
          </a:bodyPr>
          <a:lstStyle/>
          <a:p>
            <a:pPr algn="l"/>
            <a:r>
              <a:rPr sz="900" b="0" dirty="0">
                <a:solidFill>
                  <a:srgbClr val="828282"/>
                </a:solidFill>
                <a:latin typeface="Calibri"/>
              </a:rPr>
              <a:t>Research date: June 2026  -  </a:t>
            </a:r>
            <a:r>
              <a:rPr sz="900" b="0" dirty="0" err="1">
                <a:solidFill>
                  <a:srgbClr val="828282"/>
                </a:solidFill>
                <a:latin typeface="Calibri"/>
              </a:rPr>
              <a:t>PitchBook</a:t>
            </a:r>
            <a:r>
              <a:rPr sz="900" b="0" dirty="0">
                <a:solidFill>
                  <a:srgbClr val="828282"/>
                </a:solidFill>
                <a:latin typeface="Calibri"/>
              </a:rPr>
              <a:t> (PBID 607941-46) Priority 1  -  Web sources verified Jun </a:t>
            </a:r>
            <a:r>
              <a:rPr lang="en-US" sz="900" dirty="0">
                <a:solidFill>
                  <a:srgbClr val="828282"/>
                </a:solidFill>
                <a:latin typeface="Calibri"/>
              </a:rPr>
              <a:t>202</a:t>
            </a:r>
            <a:r>
              <a:rPr sz="900" b="0" dirty="0">
                <a:solidFill>
                  <a:srgbClr val="828282"/>
                </a:solidFill>
                <a:latin typeface="Calibri"/>
              </a:rPr>
              <a:t>6  -  Revenue &amp; efficiency figures company-asserted / unverified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6565392"/>
            <a:ext cx="2286000" cy="292608"/>
          </a:xfrm>
          <a:prstGeom prst="rect">
            <a:avLst/>
          </a:prstGeom>
          <a:noFill/>
        </p:spPr>
        <p:txBody>
          <a:bodyPr wrap="square" lIns="36000" tIns="14000" rIns="36000" bIns="14000" anchor="ctr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ID8 Investments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noFill/>
        </p:spPr>
        <p:txBody>
          <a:bodyPr wrap="square" lIns="36000" tIns="14000" rIns="36000" bIns="14000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INTERNAL USE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565392"/>
            <a:ext cx="2011680" cy="292608"/>
          </a:xfrm>
          <a:prstGeom prst="rect">
            <a:avLst/>
          </a:prstGeom>
          <a:noFill/>
        </p:spPr>
        <p:txBody>
          <a:bodyPr wrap="square" lIns="36000" tIns="14000" rIns="36000" bIns="14000" anchor="ctr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Calibri"/>
              </a:rPr>
              <a:t>Prepared: June 2026</a:t>
            </a:r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6D82DBFF-FF38-DAD6-C211-124BBC78EF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5402" y="312336"/>
            <a:ext cx="2191973" cy="216575"/>
          </a:xfrm>
          <a:prstGeom prst="rect">
            <a:avLst/>
          </a:prstGeom>
        </p:spPr>
      </p:pic>
      <p:graphicFrame>
        <p:nvGraphicFramePr>
          <p:cNvPr id="67" name="Table 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0906806"/>
              </p:ext>
            </p:extLst>
          </p:nvPr>
        </p:nvGraphicFramePr>
        <p:xfrm>
          <a:off x="320040" y="1188720"/>
          <a:ext cx="11548872" cy="52669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06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700" b="1" dirty="0">
                          <a:solidFill>
                            <a:schemeClr val="bg1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 dirty="0">
                          <a:solidFill>
                            <a:schemeClr val="bg1"/>
                          </a:solidFill>
                          <a:latin typeface="Calibri"/>
                        </a:rPr>
                        <a:t>SOURCE / PUBLICATION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 dirty="0">
                          <a:solidFill>
                            <a:schemeClr val="bg1"/>
                          </a:solidFill>
                          <a:latin typeface="Calibri"/>
                        </a:rPr>
                        <a:t>WHAT WAS FOUND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 dirty="0">
                          <a:solidFill>
                            <a:schemeClr val="bg1"/>
                          </a:solidFill>
                          <a:latin typeface="Calibri"/>
                        </a:rPr>
                        <a:t>URL / CITATION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1" dirty="0" err="1">
                          <a:solidFill>
                            <a:srgbClr val="1A1A1A"/>
                          </a:solidFill>
                          <a:latin typeface="Calibri"/>
                        </a:rPr>
                        <a:t>PitchBook</a:t>
                      </a:r>
                      <a:r>
                        <a:rPr sz="650" b="1" dirty="0">
                          <a:solidFill>
                            <a:srgbClr val="1A1A1A"/>
                          </a:solidFill>
                          <a:latin typeface="Calibri"/>
                        </a:rPr>
                        <a:t> (PBID 607941-46)</a:t>
                      </a: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0" dirty="0">
                          <a:solidFill>
                            <a:srgbClr val="555555"/>
                          </a:solidFill>
                          <a:latin typeface="Calibri"/>
                        </a:rPr>
                        <a:t>Founded 2023; HQ San Francisco CA. Seed $12.3M (Nov 2023, incl. $1.7M convertible) at $49.4M pre / $60M post, led by Factory. Series A (Mar 23 2026): $80M total at $165.6M pre / $208M post, led by Menlo Ventures; $42.4M equity + $37.6M debt; status Actual. Post-round investor ownership ~32.4%. 30 employees (8 at seed).</a:t>
                      </a: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50" b="0">
                          <a:solidFill>
                            <a:srgbClr val="808080"/>
                          </a:solidFill>
                          <a:latin typeface="Calibri"/>
                        </a:rPr>
                        <a:t>https://my.pitchbook.com/profile/607941-46</a:t>
                      </a: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Gimlet blog + SiliconANGLE (Mar 23, 2026) - SERIES A / TRACTION</a:t>
                      </a: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0">
                          <a:solidFill>
                            <a:srgbClr val="555555"/>
                          </a:solidFill>
                          <a:latin typeface="Calibri"/>
                        </a:rPr>
                        <a:t>Gimlet announces $80M Series A led by Menlo Ventures. Company states customer base tripled since Oct 2025 launch, now incl. a top frontier lab and a hyperscaler. Source for traction and logo claims; self-reported, contract structure and concentration unconfirmed.</a:t>
                      </a: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50" b="0">
                          <a:solidFill>
                            <a:srgbClr val="808080"/>
                          </a:solidFill>
                          <a:latin typeface="Calibri"/>
                        </a:rPr>
                        <a:t>https://siliconangle.com/2026/03/23/gimlet-labs-80m-series-a/</a:t>
                      </a: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Company statements - REVENUE (UNVERIFIED)</a:t>
                      </a: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0" dirty="0">
                          <a:solidFill>
                            <a:srgbClr val="555555"/>
                          </a:solidFill>
                          <a:latin typeface="Calibri"/>
                        </a:rPr>
                        <a:t>“Eight-figure revenue” cited at launch; no audited figure in PitchBook (status: Generating Revenue, no value). Implies roughly 7x ($30M) to 20x ($10M) on the $208M post. Treat as unverified - basis (recognized vs. usage/credits) is the #1 diligence item.</a:t>
                      </a: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50" b="0">
                          <a:solidFill>
                            <a:srgbClr val="808080"/>
                          </a:solidFill>
                          <a:latin typeface="Calibri"/>
                        </a:rPr>
                        <a:t>Company / press, unverified</a:t>
                      </a: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SiliconANGLE / TechCrunch (Mar 2026) - EFFICIENCY CLAIM</a:t>
                      </a: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0">
                          <a:solidFill>
                            <a:srgbClr val="555555"/>
                          </a:solidFill>
                          <a:latin typeface="Calibri"/>
                        </a:rPr>
                        <a:t>CEO Zain Asgar: existing hardware runs at ~15-30% efficiency; Gimlet claims 3-10x faster inference at the same cost and power by routing stages across silicon. Company-stated, not independently benchmarked. The core moat claim requiring third-party validation.</a:t>
                      </a: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50" b="0">
                          <a:solidFill>
                            <a:srgbClr val="808080"/>
                          </a:solidFill>
                          <a:latin typeface="Calibri"/>
                        </a:rPr>
                        <a:t>https://techcrunch.com/2026/03/23/gimlet-labs-multi-silicon-inference/</a:t>
                      </a: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Pixie / New Relic - FOUNDER TRACK RECORD</a:t>
                      </a: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0">
                          <a:solidFill>
                            <a:srgbClr val="555555"/>
                          </a:solidFill>
                          <a:latin typeface="Calibri"/>
                        </a:rPr>
                        <a:t>CEO Zain Asgar (Stanford faculty) co-built Pixie, an open-source Kubernetes observability tool acquired by New Relic. Establishes a credible systems-software exit and team pedigree underpinning the orchestration stack.</a:t>
                      </a: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50" b="0">
                          <a:solidFill>
                            <a:srgbClr val="808080"/>
                          </a:solidFill>
                          <a:latin typeface="Calibri"/>
                        </a:rPr>
                        <a:t>https://newrelic.com/press-release/pixie-acquisition</a:t>
                      </a: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Gimlet Labs site - PRODUCT &amp; RESEARCH SCOPE</a:t>
                      </a: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0">
                          <a:solidFill>
                            <a:srgbClr val="555555"/>
                          </a:solidFill>
                          <a:latin typeface="Calibri"/>
                        </a:rPr>
                        <a:t>Two commercial surfaces: Gimlet Cloud (serverless agent inference) and kforge (autogenerates optimized PyTorch kernels for CUDA/ROCm/Metal). Broader research agenda: MLIR universal compiler, SLA-aware scheduling, edge/cloud partitioning, headless DPU hardware. Strong research, limited tangible product proof yet.</a:t>
                      </a: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50" b="0">
                          <a:solidFill>
                            <a:srgbClr val="808080"/>
                          </a:solidFill>
                          <a:latin typeface="Calibri"/>
                        </a:rPr>
                        <a:t>https://gimletlabs.ai/about_us</a:t>
                      </a: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Investor syndicate</a:t>
                      </a: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0">
                          <a:solidFill>
                            <a:srgbClr val="555555"/>
                          </a:solidFill>
                          <a:latin typeface="Calibri"/>
                        </a:rPr>
                        <a:t>Series A led by Menlo Ventures (Tim Tully) with Prosperity7, Triatomic, Eclipse Ventures, 645 Ventures, Factory (follow-on). Angels: Dylan Field, Lip-Bu Tan, Amarjit Gill, Akshay Kothari, Nick McKeown, Krishna Rangasayee, Mark Horowitz, Chris Re. Inside-supported step-up; no new outside Tier-1 lead beyond Menlo.</a:t>
                      </a: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50" b="0">
                          <a:solidFill>
                            <a:srgbClr val="808080"/>
                          </a:solidFill>
                          <a:latin typeface="Calibri"/>
                        </a:rPr>
                        <a:t>https://my.pitchbook.com/profile/607941-46</a:t>
                      </a: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Inference-cloud comps - CATEGORY PRICING</a:t>
                      </a: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0">
                          <a:solidFill>
                            <a:srgbClr val="555555"/>
                          </a:solidFill>
                          <a:latin typeface="Calibri"/>
                        </a:rPr>
                        <a:t>Baseten $5B (Feb 2026), reportedly raising at ~$13B; Fireworks $4B (10T+ tokens/day); Together $3.3B; Modal ~$2.5B target (~50x on ~$50M run-rate). Establishes that the category trades 10-60x larger than Gimlet’s $208M entry, and at 40-60x revenue where disclosed.</a:t>
                      </a: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50" b="0">
                          <a:solidFill>
                            <a:srgbClr val="808080"/>
                          </a:solidFill>
                          <a:latin typeface="Calibri"/>
                        </a:rPr>
                        <a:t>TechCrunch  |  The Information  |  PitchBook</a:t>
                      </a: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Open-source serving spinouts - ADJACENT COMPS</a:t>
                      </a: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0">
                          <a:solidFill>
                            <a:srgbClr val="555555"/>
                          </a:solidFill>
                          <a:latin typeface="Calibri"/>
                        </a:rPr>
                        <a:t>Inferact (commercialized vLLM) raised at ~$800M, a16z-led; RadixArk (commercialized SGLang) at ~$400M, Accel-led. Shows top-tier capital chasing the inference-serving layer; these are the named baselines any efficiency benchmark should beat.</a:t>
                      </a: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50" b="0">
                          <a:solidFill>
                            <a:srgbClr val="808080"/>
                          </a:solidFill>
                          <a:latin typeface="Calibri"/>
                        </a:rPr>
                        <a:t>techcrunch.com  |  the-information.com</a:t>
                      </a: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45720" marR="45720" marT="9144" marB="914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TAM sources - AI inference / agent infrastructure</a:t>
                      </a: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0">
                          <a:solidFill>
                            <a:srgbClr val="555555"/>
                          </a:solidFill>
                          <a:latin typeface="Calibri"/>
                        </a:rPr>
                        <a:t>AI inference and agent-infrastructure spend scaling with the shift from training to serving; hyperscaler capex and token-volume growth frame the multi-silicon efficiency TAM the round is priced against. Directional; category sizing varies by source.</a:t>
                      </a: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50" b="0" dirty="0" err="1">
                          <a:solidFill>
                            <a:srgbClr val="808080"/>
                          </a:solidFill>
                          <a:latin typeface="Calibri"/>
                        </a:rPr>
                        <a:t>mordorintelligence.com</a:t>
                      </a:r>
                      <a:r>
                        <a:rPr sz="550" b="0" dirty="0">
                          <a:solidFill>
                            <a:srgbClr val="808080"/>
                          </a:solidFill>
                          <a:latin typeface="Calibri"/>
                        </a:rPr>
                        <a:t>  |  </a:t>
                      </a:r>
                      <a:r>
                        <a:rPr sz="550" b="0" dirty="0" err="1">
                          <a:solidFill>
                            <a:srgbClr val="808080"/>
                          </a:solidFill>
                          <a:latin typeface="Calibri"/>
                        </a:rPr>
                        <a:t>gartner.com</a:t>
                      </a:r>
                      <a:r>
                        <a:rPr sz="550" b="0" dirty="0">
                          <a:solidFill>
                            <a:srgbClr val="808080"/>
                          </a:solidFill>
                          <a:latin typeface="Calibri"/>
                        </a:rPr>
                        <a:t>  |  </a:t>
                      </a:r>
                      <a:r>
                        <a:rPr sz="550" b="0" dirty="0" err="1">
                          <a:solidFill>
                            <a:srgbClr val="808080"/>
                          </a:solidFill>
                          <a:latin typeface="Calibri"/>
                        </a:rPr>
                        <a:t>idc.com</a:t>
                      </a:r>
                      <a:endParaRPr sz="550" b="0" dirty="0">
                        <a:solidFill>
                          <a:srgbClr val="808080"/>
                        </a:solidFill>
                        <a:latin typeface="Calibri"/>
                      </a:endParaRPr>
                    </a:p>
                  </a:txBody>
                  <a:tcPr marL="45720" marR="45720" marT="9144" marB="9144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DFBD08A4-6D96-D977-8E55-09F235A73A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68" y="-78583"/>
            <a:ext cx="1627160" cy="108477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8390</TotalTime>
  <Words>2264</Words>
  <Application>Microsoft Macintosh PowerPoint</Application>
  <PresentationFormat>Widescreen</PresentationFormat>
  <Paragraphs>240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isabella ricardo</dc:creator>
  <cp:keywords/>
  <dc:description>generated using python-pptx</dc:description>
  <cp:lastModifiedBy>Varas Hiza, Oscar</cp:lastModifiedBy>
  <cp:revision>6</cp:revision>
  <dcterms:created xsi:type="dcterms:W3CDTF">2013-01-27T09:14:16Z</dcterms:created>
  <dcterms:modified xsi:type="dcterms:W3CDTF">2026-06-19T21:14:59Z</dcterms:modified>
  <cp:category/>
</cp:coreProperties>
</file>