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58"/>
  </p:normalViewPr>
  <p:slideViewPr>
    <p:cSldViewPr snapToGrid="0" snapToObjects="1">
      <p:cViewPr>
        <p:scale>
          <a:sx n="237" d="100"/>
          <a:sy n="237" d="100"/>
        </p:scale>
        <p:origin x="-8472" y="-10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1B205-89CD-41EB-8602-93345E461546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32BF2-F433-4995-B11A-0CA078353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32BF2-F433-4995-B11A-0CA0783531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06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32BF2-F433-4995-B11A-0CA0783531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77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4861" y="749808"/>
            <a:ext cx="10058400" cy="201168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900" b="0" dirty="0">
                <a:solidFill>
                  <a:srgbClr val="828282"/>
                </a:solidFill>
                <a:latin typeface="Calibri"/>
              </a:rPr>
              <a:t>Multi-silicon inference cloud for agentic AI  -  Series A Closed (Mar 2026)  -  San Francisco, CA  -  Founded 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87552"/>
            <a:ext cx="11551615" cy="635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20040" y="6565392"/>
            <a:ext cx="228600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ID8 Investments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40" y="6572631"/>
            <a:ext cx="12191695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INTERNAL USE ONLY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905695" y="6565392"/>
            <a:ext cx="201168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Prepared: June 2026</a:t>
            </a:r>
          </a:p>
        </p:txBody>
      </p:sp>
      <p:pic>
        <p:nvPicPr>
          <p:cNvPr id="160" name="Picture 159">
            <a:extLst>
              <a:ext uri="{FF2B5EF4-FFF2-40B4-BE49-F238E27FC236}">
                <a16:creationId xmlns:a16="http://schemas.microsoft.com/office/drawing/2014/main" id="{E2D1939A-FFA1-8BAF-E7B1-8F9BE87A2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246" y="345956"/>
            <a:ext cx="2193129" cy="217564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320040" y="109728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WHAT THE COMPANY DOES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20040" y="1280160"/>
            <a:ext cx="3749039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Gimlet Labs builds a “multi-silicon” inference cloud: software that runs agentic AI workloads across heterogeneous hardware (GPUs, CPUs, SRAM-centric / DPU-style accelerators), slicing each pipeline by the chip that runs it best. The pitch is that accelerators sit at only ~15-30% utilization, and that partitioning models and agent stages across the right silicon delivers 3-10x faster inference at the same cost and power. Commercial surface: Gimlet Cloud (serverless agent inference) and kforge (autogenerates optimized PyTorch kernels across CUDA, ROCm, Metal). Eight-figure revenue asserted; unaudited.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20039" y="2373701"/>
            <a:ext cx="374903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WHY CONSIDER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0036" y="2555669"/>
            <a:ext cx="3749039" cy="20005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Repeat Technical Founder / Systems Pedigree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CEO Zain Asgar is Stanford faculty and previously built Pixie (open-source Kubernetes observability), acquired by New Relic. Co-founders Michelle Nguyen, Omid Azizi, and Natalie Serrino come from the same systems lineage. A credible team operating on home turf in production infra.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Early Demand in a Red-Hot Category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Launched Oct 2025; customer base reportedly tripled within months, now said to include a top frontier lab and a hyperscaler running proprietary models on Gimlet, workloads not usually entrusted to a third-party provider (asserted). The inference-cloud market is paying up across the board.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Differentiated Multi-Silicon Angle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Rather than a single-GPU-fleet inference wrapper, Gimlet routes each stage to the best-fit silicon and autogenerates kernels via kforge. If the 3-10x claim holds, this is a real efficiency moat in a category where utilization is the core cost lever.</a:t>
            </a:r>
            <a:endParaRPr lang="en-US" sz="8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endParaRPr sz="8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320035" y="4541774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KEY PEOPLE &amp; SPONSOR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20035" y="4748735"/>
            <a:ext cx="3749039" cy="13721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Zain Asgar</a:t>
            </a:r>
            <a:r>
              <a:rPr lang="en-US" sz="800" b="1" dirty="0">
                <a:solidFill>
                  <a:srgbClr val="1A1A1A"/>
                </a:solidFill>
                <a:latin typeface="Calibri"/>
              </a:rPr>
              <a:t>,</a:t>
            </a:r>
            <a:r>
              <a:rPr sz="800" b="1" dirty="0">
                <a:solidFill>
                  <a:srgbClr val="1A1A1A"/>
                </a:solidFill>
                <a:latin typeface="Calibri"/>
              </a:rPr>
              <a:t> Co-Founder &amp; CEO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Stanford faculty; previously co-built Pixie (Kubernetes observability), acquired by New Relic. Systems-software operator now building production inference infrastructure.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Co-Founders</a:t>
            </a:r>
            <a:r>
              <a:rPr lang="en-US" sz="800" b="1" dirty="0">
                <a:solidFill>
                  <a:srgbClr val="1A1A1A"/>
                </a:solidFill>
                <a:latin typeface="Calibri"/>
              </a:rPr>
              <a:t>,</a:t>
            </a:r>
            <a:r>
              <a:rPr sz="800" b="1" dirty="0">
                <a:solidFill>
                  <a:srgbClr val="1A1A1A"/>
                </a:solidFill>
                <a:latin typeface="Calibri"/>
              </a:rPr>
              <a:t> Nguyen / Azizi / Serrino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Michelle Nguyen, Omid Azizi, Natalie Serrino (PitchBook primary contact). Shared systems and distributed-computing background underpinning the orchestration stack.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Menlo Ventures Series A Lead Sponsor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333333"/>
                </a:solidFill>
                <a:latin typeface="Calibri"/>
              </a:rPr>
              <a:t>Led the $42.4M Series A equity (Tim Tully). Seed led by Factory (Nov 2023). Angel roster includes Dylan Field, Lip-Bu Tan, Amarjit Gill, Akshay Kothari, Nick McKeown, Krishna Rangasayee, Mark Horowitz, Chris Re.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224528" y="109728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ROUND DETAILS</a:t>
            </a:r>
          </a:p>
        </p:txBody>
      </p:sp>
      <p:graphicFrame>
        <p:nvGraphicFramePr>
          <p:cNvPr id="168" name="Table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742294"/>
              </p:ext>
            </p:extLst>
          </p:nvPr>
        </p:nvGraphicFramePr>
        <p:xfrm>
          <a:off x="4224528" y="1280160"/>
          <a:ext cx="3749038" cy="9507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24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81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Series A - Closed (Mar 23, 2026)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81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Size/Pre/Post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$80M total - $165.6M pre - $208M post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81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Menlo Ventures (Tim Tully)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819">
                <a:tc>
                  <a:txBody>
                    <a:bodyPr/>
                    <a:lstStyle/>
                    <a:p>
                      <a:pPr algn="l"/>
                      <a:r>
                        <a:rPr sz="730" b="1" dirty="0">
                          <a:solidFill>
                            <a:srgbClr val="1A1A1A"/>
                          </a:solidFill>
                          <a:latin typeface="Calibri"/>
                        </a:rPr>
                        <a:t>Participants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Prosperity7, Triatomic, Eclipse, 645 Ventures, Factory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81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Sourcing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PitchBook (status: Actual)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819">
                <a:tc>
                  <a:txBody>
                    <a:bodyPr/>
                    <a:lstStyle/>
                    <a:p>
                      <a:pPr algn="l"/>
                      <a:r>
                        <a:rPr sz="730" b="1">
                          <a:solidFill>
                            <a:srgbClr val="1A1A1A"/>
                          </a:solidFill>
                          <a:latin typeface="Calibri"/>
                        </a:rPr>
                        <a:t>Step-Up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>
                          <a:solidFill>
                            <a:srgbClr val="333333"/>
                          </a:solidFill>
                          <a:latin typeface="Calibri"/>
                        </a:rPr>
                        <a:t>~3.5x from Seed ($60M post, Nov 2023)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5819">
                <a:tc>
                  <a:txBody>
                    <a:bodyPr/>
                    <a:lstStyle/>
                    <a:p>
                      <a:pPr algn="l"/>
                      <a:r>
                        <a:rPr sz="730" b="1" dirty="0">
                          <a:solidFill>
                            <a:srgbClr val="1A1A1A"/>
                          </a:solidFill>
                          <a:latin typeface="Calibri"/>
                        </a:rPr>
                        <a:t>Total Raised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dirty="0">
                          <a:solidFill>
                            <a:srgbClr val="333333"/>
                          </a:solidFill>
                          <a:latin typeface="Calibri"/>
                        </a:rPr>
                        <a:t>~$92.3M to date ($12.3M seed + $80M Series A)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9" name="TextBox 168"/>
          <p:cNvSpPr txBox="1"/>
          <p:nvPr/>
        </p:nvSpPr>
        <p:spPr>
          <a:xfrm>
            <a:off x="4221325" y="2272102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CAP TABLE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203037" y="4693046"/>
            <a:ext cx="3767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FINANCIAL SNAPSHOT</a:t>
            </a:r>
          </a:p>
        </p:txBody>
      </p:sp>
      <p:graphicFrame>
        <p:nvGraphicFramePr>
          <p:cNvPr id="173" name="Table 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243395"/>
              </p:ext>
            </p:extLst>
          </p:nvPr>
        </p:nvGraphicFramePr>
        <p:xfrm>
          <a:off x="4193894" y="4883165"/>
          <a:ext cx="3767326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 dirty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Seed ’23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Series A ’26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FFFFFF"/>
                          </a:solidFill>
                          <a:latin typeface="Calibri"/>
                        </a:rPr>
                        <a:t>Next Round?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Post-Money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$60M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$208M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Pre-Money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$49.4M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$165.6M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 dirty="0">
                          <a:solidFill>
                            <a:srgbClr val="1A1A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dirty="0">
                          <a:solidFill>
                            <a:srgbClr val="5555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Eight-figure*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Not disclosed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Pre-product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In market (Oct ’25)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Benchmarks unverified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 dirty="0">
                          <a:solidFill>
                            <a:srgbClr val="1A1A1A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Early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3x growth*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Frontier lab + hyperscaler*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Employees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algn="l"/>
                      <a:r>
                        <a:rPr sz="660" b="1">
                          <a:solidFill>
                            <a:srgbClr val="1A1A1A"/>
                          </a:solidFill>
                          <a:latin typeface="Calibri"/>
                        </a:rPr>
                        <a:t>Round Size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$12.3M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>
                          <a:solidFill>
                            <a:srgbClr val="555555"/>
                          </a:solidFill>
                          <a:latin typeface="Calibri"/>
                        </a:rPr>
                        <a:t>$80M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dirty="0">
                          <a:solidFill>
                            <a:srgbClr val="555555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4" name="TextBox 173"/>
          <p:cNvSpPr txBox="1"/>
          <p:nvPr/>
        </p:nvSpPr>
        <p:spPr>
          <a:xfrm>
            <a:off x="8147304" y="1097280"/>
            <a:ext cx="376732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A1A1A"/>
                </a:solidFill>
                <a:latin typeface="Calibri"/>
              </a:rPr>
              <a:t>PRELIMINARY SCORING</a:t>
            </a:r>
          </a:p>
        </p:txBody>
      </p:sp>
      <p:graphicFrame>
        <p:nvGraphicFramePr>
          <p:cNvPr id="175" name="Table 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292002"/>
              </p:ext>
            </p:extLst>
          </p:nvPr>
        </p:nvGraphicFramePr>
        <p:xfrm>
          <a:off x="8147305" y="1286691"/>
          <a:ext cx="3767327" cy="1014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2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4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Backing Quality</a:t>
                      </a:r>
                      <a:endParaRPr sz="76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4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Deal Dynamics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3 </a:t>
                      </a:r>
                      <a:r>
                        <a:rPr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Valuation</a:t>
                      </a:r>
                      <a:endParaRPr sz="76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2 / 4</a:t>
                      </a:r>
                      <a:endParaRPr sz="76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Tech Validation</a:t>
                      </a:r>
                      <a:endParaRPr sz="760" b="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  <a:r>
                        <a:rPr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1A1A1A"/>
                          </a:solidFill>
                          <a:latin typeface="Calibri"/>
                        </a:rPr>
                        <a:t>Track Record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  <a:r>
                        <a:rPr sz="760" b="0" dirty="0">
                          <a:solidFill>
                            <a:srgbClr val="1A1A1A"/>
                          </a:solidFill>
                          <a:latin typeface="Calibri"/>
                        </a:rPr>
                        <a:t> / 4</a:t>
                      </a:r>
                    </a:p>
                  </a:txBody>
                  <a:tcPr marL="45720" marR="45720" marT="9144" marB="9144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760" b="1" dirty="0">
                          <a:solidFill>
                            <a:srgbClr val="FFFFFF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/>
                        </a:rPr>
                        <a:t>3.0</a:t>
                      </a:r>
                      <a:r>
                        <a:rPr sz="760" b="1" dirty="0">
                          <a:solidFill>
                            <a:srgbClr val="FFFFFF"/>
                          </a:solidFill>
                          <a:latin typeface="Calibri"/>
                        </a:rPr>
                        <a:t> / 4.0</a:t>
                      </a:r>
                    </a:p>
                  </a:txBody>
                  <a:tcPr marL="45720" marR="45720" marT="9144" marB="9144" anchor="ctr"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6" name="TextBox 175"/>
          <p:cNvSpPr txBox="1"/>
          <p:nvPr/>
        </p:nvSpPr>
        <p:spPr>
          <a:xfrm>
            <a:off x="8147304" y="2354263"/>
            <a:ext cx="376732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1A1A1A"/>
                </a:solidFill>
                <a:latin typeface="Calibri"/>
              </a:rPr>
              <a:t>KEY CONCERNS </a:t>
            </a:r>
            <a:r>
              <a:rPr lang="en-US" sz="1000" b="1" dirty="0">
                <a:solidFill>
                  <a:srgbClr val="1A1A1A"/>
                </a:solidFill>
                <a:latin typeface="Calibri"/>
              </a:rPr>
              <a:t>AND</a:t>
            </a:r>
            <a:r>
              <a:rPr sz="1000" b="1" dirty="0">
                <a:solidFill>
                  <a:srgbClr val="1A1A1A"/>
                </a:solidFill>
                <a:latin typeface="Calibri"/>
              </a:rPr>
              <a:t> MITIGANTS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147304" y="2555669"/>
            <a:ext cx="3767328" cy="2816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Unaudited Efficiency Claim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404040"/>
                </a:solidFill>
                <a:latin typeface="Calibri"/>
              </a:rPr>
              <a:t>“3-10x faster at same cost/power” and “15-30% utilization” are company-stated, not independently audited. For an infra company this is the whole moat. Mitigant: third-party or customer-run benchmarks on named hardware vs. a real baseline (vLLM/SGLang/TensorRT-LLM).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Crowded, Better-Capitalized Field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404040"/>
                </a:solidFill>
                <a:latin typeface="Calibri"/>
              </a:rPr>
              <a:t>Comps are 10-60x bigger by valuation: Baseten ($5B, reportedly raising at $13B), Fireworks ($4B), Together ($3.3B), Modal (~$2.5B), Inferact/vLLM ($800M), RadixArk/SGLang ($400M). Must win against far more capital and existing token volume.</a:t>
            </a:r>
            <a:endParaRPr lang="en-US" sz="800" dirty="0">
              <a:solidFill>
                <a:srgbClr val="404040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Customer Concentration Risk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404040"/>
                </a:solidFill>
                <a:latin typeface="Calibri"/>
              </a:rPr>
              <a:t>A frontier lab + a hyperscaler is a strong logo signal, but those same counterparties are most likely to build in-house. Mitigant: confirm revenue concentration and contract structure (committed vs. usage, term, exclusivity).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Half the Round Is Debt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404040"/>
                </a:solidFill>
                <a:latin typeface="Calibri"/>
              </a:rPr>
              <a:t>$37.6M of the $80M is debt. Mitigant: understand the lender, terms, and what it is secured against (GPU capacity? receivables?); it changes the real equity story and balance-sheet risk.</a:t>
            </a:r>
          </a:p>
          <a:p>
            <a:pPr algn="l">
              <a:spcBef>
                <a:spcPts val="250"/>
              </a:spcBef>
              <a:spcAft>
                <a:spcPts val="100"/>
              </a:spcAft>
            </a:pPr>
            <a:r>
              <a:rPr sz="800" b="1" dirty="0">
                <a:solidFill>
                  <a:srgbClr val="1A1A1A"/>
                </a:solidFill>
                <a:latin typeface="Calibri"/>
              </a:rPr>
              <a:t>Inside-Supported Step-Up / Moonshot</a:t>
            </a:r>
          </a:p>
          <a:p>
            <a:pPr algn="l">
              <a:spcAft>
                <a:spcPts val="100"/>
              </a:spcAft>
            </a:pPr>
            <a:r>
              <a:rPr sz="800" b="0" dirty="0">
                <a:solidFill>
                  <a:srgbClr val="404040"/>
                </a:solidFill>
                <a:latin typeface="Calibri"/>
              </a:rPr>
              <a:t> Menlo led the A, Factory re-upped from seed. Raised early with no tangible, proven product yet, though the team has published strong research. Mitigant: a new outside Tier-1 lead at the next round.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203038" y="4470656"/>
            <a:ext cx="3749039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600" dirty="0">
                <a:solidFill>
                  <a:srgbClr val="8A8A8A"/>
                </a:solidFill>
                <a:latin typeface="Calibri"/>
              </a:rPr>
              <a:t>Series A verified via PitchBook PBID 607941-46 (status: Actual). Revenue (“eight-figure”) and 3-10x efficiency are company-asserted / unaudited.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3C59B9-98FC-6FDB-64CB-129CC32C9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302730"/>
              </p:ext>
            </p:extLst>
          </p:nvPr>
        </p:nvGraphicFramePr>
        <p:xfrm>
          <a:off x="4221326" y="2451783"/>
          <a:ext cx="3749038" cy="1960217"/>
        </p:xfrm>
        <a:graphic>
          <a:graphicData uri="http://schemas.openxmlformats.org/drawingml/2006/table">
            <a:tbl>
              <a:tblPr/>
              <a:tblGrid>
                <a:gridCol w="573981">
                  <a:extLst>
                    <a:ext uri="{9D8B030D-6E8A-4147-A177-3AD203B41FA5}">
                      <a16:colId xmlns:a16="http://schemas.microsoft.com/office/drawing/2014/main" val="2109155507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595410906"/>
                    </a:ext>
                  </a:extLst>
                </a:gridCol>
                <a:gridCol w="2306531">
                  <a:extLst>
                    <a:ext uri="{9D8B030D-6E8A-4147-A177-3AD203B41FA5}">
                      <a16:colId xmlns:a16="http://schemas.microsoft.com/office/drawing/2014/main" val="1210787592"/>
                    </a:ext>
                  </a:extLst>
                </a:gridCol>
              </a:tblGrid>
              <a:tr h="18596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</a:rPr>
                        <a:t>Round</a:t>
                      </a:r>
                    </a:p>
                  </a:txBody>
                  <a:tcPr marL="8021" marR="8021" marT="5347" marB="5347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</a:rPr>
                        <a:t>Amount</a:t>
                      </a:r>
                    </a:p>
                  </a:txBody>
                  <a:tcPr marL="8021" marR="8021" marT="5347" marB="5347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effectLst/>
                        </a:rPr>
                        <a:t>Investor</a:t>
                      </a:r>
                    </a:p>
                  </a:txBody>
                  <a:tcPr marL="8021" marR="8021" marT="5347" marB="5347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07927"/>
                  </a:ext>
                </a:extLst>
              </a:tr>
              <a:tr h="119980"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Seed (Nov 2023)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$12.3M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Factory (lead)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992343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Dylan Field, Lip-Bu Tan, Amarjit Gill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023797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Kothari, McKeown, Raghuraman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177860"/>
                  </a:ext>
                </a:extLst>
              </a:tr>
              <a:tr h="119980">
                <a:tc rowSpan="9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Series A (Mar 2026)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$80M</a:t>
                      </a:r>
                    </a:p>
                  </a:txBody>
                  <a:tcPr marL="8021" marR="8021" marT="5347" marB="534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Menlo Ventures (lead)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285803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 err="1">
                          <a:effectLst/>
                        </a:rPr>
                        <a:t>Prosperity7</a:t>
                      </a:r>
                      <a:r>
                        <a:rPr lang="en-US" sz="900" dirty="0">
                          <a:effectLst/>
                        </a:rPr>
                        <a:t>, Triatomic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150053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b="1" dirty="0">
                          <a:effectLst/>
                        </a:rPr>
                        <a:t>Eclipse Ventures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175576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645 Ventures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75666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Krishna Rangasayee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87617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Mark Horowitz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931213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Chris Re</a:t>
                      </a:r>
                    </a:p>
                  </a:txBody>
                  <a:tcPr marL="8021" marR="8021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595810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900" dirty="0">
                          <a:effectLst/>
                        </a:rPr>
                        <a:t>Factory (follow-on)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711034"/>
                  </a:ext>
                </a:extLst>
              </a:tr>
              <a:tr h="1199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>
                        <a:lnSpc>
                          <a:spcPct val="100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$37.6M debt incl. in round</a:t>
                      </a:r>
                    </a:p>
                  </a:txBody>
                  <a:tcPr marL="0" marR="0" marT="5347" marB="534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00908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8EE1A68-59CF-1E5B-C4D0-2DFCB7291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25" y="152351"/>
            <a:ext cx="1212247" cy="6061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3" y="-6095"/>
            <a:ext cx="12191695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20040" y="841248"/>
            <a:ext cx="11551615" cy="201168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900" b="0" dirty="0">
                <a:solidFill>
                  <a:srgbClr val="828282"/>
                </a:solidFill>
                <a:latin typeface="Calibri"/>
              </a:rPr>
              <a:t>Comps grouped by relevance  -  Inference clouds (private)  /  Adjacent infra  -  Scenario valuations by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228600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ID8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565392"/>
            <a:ext cx="201168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Prepared: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0972800" cy="18288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COMPARABLE INFERENCE-CLOUD / AI-INFRA VALUATIONS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" y="4215384"/>
            <a:ext cx="11551615" cy="50292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630" b="0">
                <a:solidFill>
                  <a:srgbClr val="A8A8A8"/>
                </a:solidFill>
                <a:latin typeface="Calibri"/>
              </a:rPr>
              <a:t>Gimlet’s $208M Series A post is the cheapest entry in the category by a wide margin: peers trade at multi-billion marks and 40-60x revenue where disclosed. With revenue only asserted (eight-figure) and the 3-10x efficiency claim unaudited, the entry is priced on early traction and a strong team, not proven economics. The bet is that multi-silicon partitioning becomes a durable efficiency moat as the category scales. Public/peer data as of June 2026; all Gimlet figures company-asserted / unverified.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4547616"/>
            <a:ext cx="11551615" cy="18288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1000" b="1" dirty="0">
                <a:solidFill>
                  <a:srgbClr val="1A1A1A"/>
                </a:solidFill>
                <a:latin typeface="Calibri"/>
              </a:rPr>
              <a:t>VALUATION / UNDERWRITING ANALYSIS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" y="4730496"/>
            <a:ext cx="11551615" cy="397605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800" b="0" dirty="0">
                <a:solidFill>
                  <a:srgbClr val="1A1A1A"/>
                </a:solidFill>
                <a:latin typeface="Calibri"/>
              </a:rPr>
              <a:t>There is no clean revenue-grounded multiple for Gimlet: the only figure is an asserted “eight-figure” revenue, implying roughly 7x ($30M) to 20x ($10M) on the $208M post, still far below where the inference-cloud peer set is priced. Baseten ($5B, reportedly raising at $13B), Fireworks ($4B, 10T+ tokens/day), Together ($3.3B), and Modal (~$2.5B target) are all an order of magnitude larger with real token volume. So the case does not rest on relative cheapness alone; it rests on the team executing the multi-silicon thesis into a verifiable efficiency edge and converting marquee logos into committed revenue. Critical: independent benchmarks and the basis of the revenue figure are the #1 diligence asks.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5170000"/>
            <a:ext cx="11551615" cy="182880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1000" b="1" dirty="0">
                <a:solidFill>
                  <a:srgbClr val="1A1A1A"/>
                </a:solidFill>
                <a:latin typeface="Calibri"/>
              </a:rPr>
              <a:t>SCENARIOS - EXPECTED VALUATIONS BY CASE (entry size TBD)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5D14DE4-288A-CFCF-7B4F-BB50B33FE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402" y="312336"/>
            <a:ext cx="2191973" cy="216575"/>
          </a:xfrm>
          <a:prstGeom prst="rect">
            <a:avLst/>
          </a:prstGeom>
        </p:spPr>
      </p:pic>
      <p:graphicFrame>
        <p:nvGraphicFramePr>
          <p:cNvPr id="106" name="Table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13814"/>
              </p:ext>
            </p:extLst>
          </p:nvPr>
        </p:nvGraphicFramePr>
        <p:xfrm>
          <a:off x="320040" y="1289304"/>
          <a:ext cx="1154887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VALUATION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l"/>
                      <a:r>
                        <a:rPr sz="630" b="1" dirty="0">
                          <a:solidFill>
                            <a:srgbClr val="404040"/>
                          </a:solidFill>
                          <a:latin typeface="Calibri"/>
                        </a:rPr>
                        <a:t>DIRECT PRIVATE COMPS  -  Inference clouds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Gimlet Labs (ID8 entry)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Series A (closed Mar 2026)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$208M post; $92.3M raised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Eight-figure (asserted)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~7-20x on asserted revenue; multi-silicon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Baseten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Late-stage (Private)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$5B (Feb 2026); ~$13B reported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Scaled, undisclosed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Production inference; far larger than Gimlet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Fireworks AI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$4B (2024)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10T+ tokens/day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High token volume; well-capitalized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404040"/>
                          </a:solidFill>
                          <a:latin typeface="Calibri"/>
                        </a:rPr>
                        <a:t>ADJACENT / OPEN-SOURCE SPINOUTS  -  category-wide rich pricing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Together AI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$3.3B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Serverless inference at scale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Multi-model serverless cloud; well-capitalized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gridSpan="5"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404040"/>
                          </a:solidFill>
                          <a:latin typeface="Calibri"/>
                        </a:rPr>
                        <a:t>INFERENCE OPTIMIZATION / KERNEL + SERVING PRECEDENT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B w="6350" cap="flat">
                      <a:solidFill>
                        <a:srgbClr val="DADAD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Modal Labs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Private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~$2.5B (target)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~$50M run-rate (~50x)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Serverless compute; rich multiple precedent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Inferact (vLLM)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Seed (Private)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$800M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Open-source serving project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a16z-led; commercialized vLLM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RadixArk (SGLang)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Seed (Private)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$400M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Open-source serving project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Accel-led; commercialized SGLang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sz="630" b="1">
                          <a:solidFill>
                            <a:srgbClr val="1A1A1A"/>
                          </a:solidFill>
                          <a:latin typeface="Calibri"/>
                        </a:rPr>
                        <a:t>Pixie / New Relic (precedent)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Acquired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Founder prior exit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Kubernetes observability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30" b="0">
                          <a:solidFill>
                            <a:srgbClr val="555555"/>
                          </a:solidFill>
                          <a:latin typeface="Calibri"/>
                        </a:rPr>
                        <a:t>Validates Asgar’s systems track record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0938C66-60C7-B23E-90B3-898A22799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8" y="-78583"/>
            <a:ext cx="1627160" cy="1084773"/>
          </a:xfrm>
          <a:prstGeom prst="rect">
            <a:avLst/>
          </a:prstGeom>
        </p:spPr>
      </p:pic>
      <p:graphicFrame>
        <p:nvGraphicFramePr>
          <p:cNvPr id="900" name="Scenarios Table"/>
          <p:cNvGraphicFramePr/>
          <p:nvPr>
            <p:extLst>
              <p:ext uri="{D42A27DB-BD31-4B8C-83A1-F6EECF244321}">
                <p14:modId xmlns:p14="http://schemas.microsoft.com/office/powerpoint/2010/main" val="482658087"/>
              </p:ext>
            </p:extLst>
          </p:nvPr>
        </p:nvGraphicFramePr>
        <p:xfrm>
          <a:off x="320040" y="5352880"/>
          <a:ext cx="11548870" cy="1040799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1856230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</a:tblGrid>
              <a:tr h="156675"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WHAT PLAYS OUT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NEXT-ROUND VALUATION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OUTCOME VALUATION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chemeClr val="bg1"/>
                          </a:solidFill>
                          <a:latin typeface="Calibri"/>
                        </a:rPr>
                        <a:t>IMPLIED MULTIPLE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08">
                <a:tc>
                  <a:txBody>
                    <a:bodyPr/>
                    <a:lstStyle/>
                    <a:p>
                      <a:pPr algn="l"/>
                      <a:r>
                        <a:rPr lang="en-US" sz="650" b="1" dirty="0">
                          <a:solidFill>
                            <a:schemeClr val="tx1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dirty="0">
                          <a:solidFill>
                            <a:srgbClr val="1A1A1A"/>
                          </a:solidFill>
                          <a:latin typeface="Calibri"/>
                        </a:rPr>
                        <a:t>Benchmarks replicate, revenue compounds, multi-silicon becomes a default layer; lands marquee logos as committed customers.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solidFill>
                            <a:srgbClr val="1A1A1A"/>
                          </a:solidFill>
                          <a:latin typeface="Calibri"/>
                        </a:rPr>
                        <a:t>~$600M - $1.2B step-up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solidFill>
                            <a:srgbClr val="1A1A1A"/>
                          </a:solidFill>
                          <a:latin typeface="Calibri"/>
                        </a:rPr>
                        <a:t>$5B+ (Baseten / Fireworks class)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8 - 15x+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708">
                <a:tc>
                  <a:txBody>
                    <a:bodyPr/>
                    <a:lstStyle/>
                    <a:p>
                      <a:pPr algn="l"/>
                      <a:r>
                        <a:rPr lang="en-US" sz="650" b="1" dirty="0">
                          <a:solidFill>
                            <a:schemeClr val="tx1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dirty="0">
                          <a:solidFill>
                            <a:srgbClr val="1A1A1A"/>
                          </a:solidFill>
                          <a:latin typeface="Calibri"/>
                        </a:rPr>
                        <a:t>Validates in one or two domains; real but slower commercial ramp. Raises again at a healthy, non-vertical mark; eventual IPO or strategic interest.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solidFill>
                            <a:srgbClr val="1A1A1A"/>
                          </a:solidFill>
                          <a:latin typeface="Calibri"/>
                        </a:rPr>
                        <a:t>~$350M - $550M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solidFill>
                            <a:srgbClr val="1A1A1A"/>
                          </a:solidFill>
                          <a:latin typeface="Calibri"/>
                        </a:rPr>
                        <a:t>$1 - 3B trade / IPO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rgbClr val="1A1A1A"/>
                          </a:solidFill>
                          <a:latin typeface="Calibri"/>
                        </a:rPr>
                        <a:t>2 - 4x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708">
                <a:tc>
                  <a:txBody>
                    <a:bodyPr/>
                    <a:lstStyle/>
                    <a:p>
                      <a:pPr algn="l"/>
                      <a:r>
                        <a:rPr lang="en-US" sz="650" b="1" dirty="0">
                          <a:solidFill>
                            <a:schemeClr val="tx1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solidFill>
                            <a:srgbClr val="1A1A1A"/>
                          </a:solidFill>
                          <a:latin typeface="Calibri"/>
                        </a:rPr>
                        <a:t>Efficiency claim does not replicate; frontier lab and hyperscaler build in-house; better-capitalized peers win on token volume.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solidFill>
                            <a:srgbClr val="1A1A1A"/>
                          </a:solidFill>
                          <a:latin typeface="Calibri"/>
                        </a:rPr>
                        <a:t>Flat / down (~$150M - $250M)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>
                          <a:solidFill>
                            <a:srgbClr val="1A1A1A"/>
                          </a:solidFill>
                          <a:latin typeface="Calibri"/>
                        </a:rPr>
                        <a:t>&lt; $1B or strategic sale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>
                          <a:solidFill>
                            <a:srgbClr val="1A1A1A"/>
                          </a:solidFill>
                          <a:latin typeface="Calibri"/>
                        </a:rPr>
                        <a:t>0.3 - 0.7x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41248"/>
            <a:ext cx="11551615" cy="166773"/>
          </a:xfrm>
          <a:prstGeom prst="rect">
            <a:avLst/>
          </a:prstGeom>
          <a:noFill/>
        </p:spPr>
        <p:txBody>
          <a:bodyPr wrap="square" lIns="36000" tIns="14000" rIns="36000" bIns="14000" anchor="t">
            <a:spAutoFit/>
          </a:bodyPr>
          <a:lstStyle/>
          <a:p>
            <a:pPr algn="l"/>
            <a:r>
              <a:rPr sz="900" b="0" dirty="0">
                <a:solidFill>
                  <a:srgbClr val="828282"/>
                </a:solidFill>
                <a:latin typeface="Calibri"/>
              </a:rPr>
              <a:t>Research date: June 2026  -  </a:t>
            </a:r>
            <a:r>
              <a:rPr sz="900" b="0" dirty="0" err="1">
                <a:solidFill>
                  <a:srgbClr val="828282"/>
                </a:solidFill>
                <a:latin typeface="Calibri"/>
              </a:rPr>
              <a:t>PitchBook</a:t>
            </a:r>
            <a:r>
              <a:rPr sz="900" b="0" dirty="0">
                <a:solidFill>
                  <a:srgbClr val="828282"/>
                </a:solidFill>
                <a:latin typeface="Calibri"/>
              </a:rPr>
              <a:t> (PBID 607941-46) Priority 1  -  Web sources verified Jun </a:t>
            </a:r>
            <a:r>
              <a:rPr lang="en-US" sz="900" dirty="0">
                <a:solidFill>
                  <a:srgbClr val="828282"/>
                </a:solidFill>
                <a:latin typeface="Calibri"/>
              </a:rPr>
              <a:t>202</a:t>
            </a:r>
            <a:r>
              <a:rPr sz="900" b="0" dirty="0">
                <a:solidFill>
                  <a:srgbClr val="828282"/>
                </a:solidFill>
                <a:latin typeface="Calibri"/>
              </a:rPr>
              <a:t>6  -  Revenue &amp; efficiency figures company-asserted / unverified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228600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Calibri"/>
              </a:rPr>
              <a:t>ID8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695" y="6565392"/>
            <a:ext cx="2011680" cy="292608"/>
          </a:xfrm>
          <a:prstGeom prst="rect">
            <a:avLst/>
          </a:prstGeom>
          <a:noFill/>
        </p:spPr>
        <p:txBody>
          <a:bodyPr wrap="square" lIns="36000" tIns="14000" rIns="36000" bIns="14000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Prepared: June 2026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D82DBFF-FF38-DAD6-C211-124BBC78E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402" y="312336"/>
            <a:ext cx="2191973" cy="216575"/>
          </a:xfrm>
          <a:prstGeom prst="rect">
            <a:avLst/>
          </a:prstGeom>
        </p:spPr>
      </p:pic>
      <p:graphicFrame>
        <p:nvGraphicFramePr>
          <p:cNvPr id="67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906806"/>
              </p:ext>
            </p:extLst>
          </p:nvPr>
        </p:nvGraphicFramePr>
        <p:xfrm>
          <a:off x="320040" y="1188720"/>
          <a:ext cx="11548872" cy="5266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00" b="1" dirty="0">
                          <a:solidFill>
                            <a:schemeClr val="bg1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dirty="0">
                          <a:solidFill>
                            <a:schemeClr val="bg1"/>
                          </a:solidFill>
                          <a:latin typeface="Calibri"/>
                        </a:rPr>
                        <a:t>SOURCE / PUBLICATION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dirty="0">
                          <a:solidFill>
                            <a:schemeClr val="bg1"/>
                          </a:solidFill>
                          <a:latin typeface="Calibri"/>
                        </a:rPr>
                        <a:t>WHAT WAS FOUND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 dirty="0">
                          <a:solidFill>
                            <a:schemeClr val="bg1"/>
                          </a:solidFill>
                          <a:latin typeface="Calibri"/>
                        </a:rPr>
                        <a:t>URL / CITATION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 dirty="0" err="1">
                          <a:solidFill>
                            <a:srgbClr val="1A1A1A"/>
                          </a:solidFill>
                          <a:latin typeface="Calibri"/>
                        </a:rPr>
                        <a:t>PitchBook</a:t>
                      </a:r>
                      <a:r>
                        <a:rPr sz="650" b="1" dirty="0">
                          <a:solidFill>
                            <a:srgbClr val="1A1A1A"/>
                          </a:solidFill>
                          <a:latin typeface="Calibri"/>
                        </a:rPr>
                        <a:t> (PBID 607941-46)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 dirty="0">
                          <a:solidFill>
                            <a:srgbClr val="555555"/>
                          </a:solidFill>
                          <a:latin typeface="Calibri"/>
                        </a:rPr>
                        <a:t>Founded 2023; HQ San Francisco CA. Seed $12.3M (Nov 2023, incl. $1.7M convertible) at $49.4M pre / $60M post, led by Factory. Series A (Mar 23 2026): $80M total at $165.6M pre / $208M post, led by Menlo Ventures; $42.4M equity + $37.6M debt; status Actual. Post-round investor ownership ~32.4%. 30 employees (8 at seed).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https://my.pitchbook.com/profile/607941-46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Gimlet blog + SiliconANGLE (Mar 23, 2026) - SERIES A / TRACTION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Gimlet announces $80M Series A led by Menlo Ventures. Company states customer base tripled since Oct 2025 launch, now incl. a top frontier lab and a hyperscaler. Source for traction and logo claims; self-reported, contract structure and concentration unconfirmed.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https://siliconangle.com/2026/03/23/gimlet-labs-80m-series-a/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Company statements - REVENUE (UNVERIFIED)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 dirty="0">
                          <a:solidFill>
                            <a:srgbClr val="555555"/>
                          </a:solidFill>
                          <a:latin typeface="Calibri"/>
                        </a:rPr>
                        <a:t>“Eight-figure revenue” cited at launch; no audited figure in PitchBook (status: Generating Revenue, no value). Implies roughly 7x ($30M) to 20x ($10M) on the $208M post. Treat as unverified - basis (recognized vs. usage/credits) is the #1 diligence item.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Company / press, unverified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SiliconANGLE / TechCrunch (Mar 2026) - EFFICIENCY CLAIM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CEO Zain Asgar: existing hardware runs at ~15-30% efficiency; Gimlet claims 3-10x faster inference at the same cost and power by routing stages across silicon. Company-stated, not independently benchmarked. The core moat claim requiring third-party validation.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https://techcrunch.com/2026/03/23/gimlet-labs-multi-silicon-inference/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Pixie / New Relic - FOUNDER TRACK RECORD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CEO Zain Asgar (Stanford faculty) co-built Pixie, an open-source Kubernetes observability tool acquired by New Relic. Establishes a credible systems-software exit and team pedigree underpinning the orchestration stack.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https://newrelic.com/press-release/pixie-acquisition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Gimlet Labs site - PRODUCT &amp; RESEARCH SCOPE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Two commercial surfaces: Gimlet Cloud (serverless agent inference) and kforge (autogenerates optimized PyTorch kernels for CUDA/ROCm/Metal). Broader research agenda: MLIR universal compiler, SLA-aware scheduling, edge/cloud partitioning, headless DPU hardware. Strong research, limited tangible product proof yet.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https://gimletlabs.ai/about_us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Investor syndicate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Series A led by Menlo Ventures (Tim Tully) with Prosperity7, Triatomic, Eclipse Ventures, 645 Ventures, Factory (follow-on). Angels: Dylan Field, Lip-Bu Tan, Amarjit Gill, Akshay Kothari, Nick McKeown, Krishna Rangasayee, Mark Horowitz, Chris Re. Inside-supported step-up; no new outside Tier-1 lead beyond Menlo.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https://my.pitchbook.com/profile/607941-46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Inference-cloud comps - CATEGORY PRICING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Baseten $5B (Feb 2026), reportedly raising at ~$13B; Fireworks $4B (10T+ tokens/day); Together $3.3B; Modal ~$2.5B target (~50x on ~$50M run-rate). Establishes that the category trades 10-60x larger than Gimlet’s $208M entry, and at 40-60x revenue where disclosed.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TechCrunch  |  The Information  |  PitchBook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Open-source serving spinouts - ADJACENT COMPS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Inferact (commercialized vLLM) raised at ~$800M, a16z-led; RadixArk (commercialized SGLang) at ~$400M, Accel-led. Shows top-tier capital chasing the inference-serving layer; these are the named baselines any efficiency benchmark should beat.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>
                          <a:solidFill>
                            <a:srgbClr val="808080"/>
                          </a:solidFill>
                          <a:latin typeface="Calibri"/>
                        </a:rPr>
                        <a:t>techcrunch.com  |  the-information.com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1">
                          <a:solidFill>
                            <a:srgbClr val="1A1A1A"/>
                          </a:solidFill>
                          <a:latin typeface="Calibri"/>
                        </a:rPr>
                        <a:t>TAM sources - AI inference / agent infrastructure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555555"/>
                          </a:solidFill>
                          <a:latin typeface="Calibri"/>
                        </a:rPr>
                        <a:t>AI inference and agent-infrastructure spend scaling with the shift from training to serving; hyperscaler capex and token-volume growth frame the multi-silicon efficiency TAM the round is priced against. Directional; category sizing varies by source.</a:t>
                      </a: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50" b="0" dirty="0" err="1">
                          <a:solidFill>
                            <a:srgbClr val="808080"/>
                          </a:solidFill>
                          <a:latin typeface="Calibri"/>
                        </a:rPr>
                        <a:t>mordorintelligence.com</a:t>
                      </a:r>
                      <a:r>
                        <a:rPr sz="550" b="0" dirty="0">
                          <a:solidFill>
                            <a:srgbClr val="808080"/>
                          </a:solidFill>
                          <a:latin typeface="Calibri"/>
                        </a:rPr>
                        <a:t>  |  </a:t>
                      </a:r>
                      <a:r>
                        <a:rPr sz="550" b="0" dirty="0" err="1">
                          <a:solidFill>
                            <a:srgbClr val="808080"/>
                          </a:solidFill>
                          <a:latin typeface="Calibri"/>
                        </a:rPr>
                        <a:t>gartner.com</a:t>
                      </a:r>
                      <a:r>
                        <a:rPr sz="550" b="0" dirty="0">
                          <a:solidFill>
                            <a:srgbClr val="808080"/>
                          </a:solidFill>
                          <a:latin typeface="Calibri"/>
                        </a:rPr>
                        <a:t>  |  </a:t>
                      </a:r>
                      <a:r>
                        <a:rPr sz="550" b="0" dirty="0" err="1">
                          <a:solidFill>
                            <a:srgbClr val="808080"/>
                          </a:solidFill>
                          <a:latin typeface="Calibri"/>
                        </a:rPr>
                        <a:t>idc.com</a:t>
                      </a:r>
                      <a:endParaRPr sz="550" b="0" dirty="0">
                        <a:solidFill>
                          <a:srgbClr val="808080"/>
                        </a:solidFill>
                        <a:latin typeface="Calibri"/>
                      </a:endParaRPr>
                    </a:p>
                  </a:txBody>
                  <a:tcPr marL="45720" marR="45720" marT="9144" marB="9144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FBD08A4-6D96-D977-8E55-09F235A73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8" y="-78583"/>
            <a:ext cx="1627160" cy="10847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8432</TotalTime>
  <Words>2264</Words>
  <Application>Microsoft Macintosh PowerPoint</Application>
  <PresentationFormat>Widescreen</PresentationFormat>
  <Paragraphs>240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isabella ricardo</dc:creator>
  <cp:keywords/>
  <dc:description>generated using python-pptx</dc:description>
  <cp:lastModifiedBy>Varas Hiza, Oscar</cp:lastModifiedBy>
  <cp:revision>9</cp:revision>
  <dcterms:created xsi:type="dcterms:W3CDTF">2013-01-27T09:14:16Z</dcterms:created>
  <dcterms:modified xsi:type="dcterms:W3CDTF">2026-07-01T20:08:58Z</dcterms:modified>
  <cp:category/>
</cp:coreProperties>
</file>