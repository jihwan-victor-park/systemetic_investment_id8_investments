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2" d="100"/>
          <a:sy n="112" d="100"/>
        </p:scale>
        <p:origin x="1566" y="-1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602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sj.com/livecoverage/stock-market-today-dow-sp-500-nasdaq-03-09-2026/card/u7Er8Pbn6fieLGWNBcnd?gaa_at=eafs&amp;gaa_n=AWEtsqe-6Se10gWAAAYO9LfhebTnH3sbBagmUSim8zGOKdsmPwnmdJFNSR7iawNmX_M%3D&amp;gaa_ts=69b1e852&amp;gaa_sig=rYYsu6ELKODh4-K0xJKaL3jeFvhAfkF8OsCbeUs8q70Q3Sv_LeD7_-gEYdz80hRYBJidc0E97w4m0tsO_su_YQ%3D%3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3"/>
        </a:solidFill>
        <a:effectLst/>
      </p:bgPr>
    </p:bg>
    <p:spTree>
      <p:nvGrpSpPr>
        <p:cNvPr id="1" name=""/>
        <p:cNvGrpSpPr/>
        <p:nvPr/>
      </p:nvGrpSpPr>
      <p:grpSpPr>
        <a:xfrm>
          <a:off x="0" y="0"/>
          <a:ext cx="0" cy="0"/>
          <a:chOff x="0" y="0"/>
          <a:chExt cx="0" cy="0"/>
        </a:xfrm>
      </p:grpSpPr>
      <p:sp>
        <p:nvSpPr>
          <p:cNvPr id="2" name="Shape 0"/>
          <p:cNvSpPr/>
          <p:nvPr/>
        </p:nvSpPr>
        <p:spPr>
          <a:xfrm>
            <a:off x="0" y="0"/>
            <a:ext cx="6858000" cy="621792"/>
          </a:xfrm>
          <a:prstGeom prst="rect">
            <a:avLst/>
          </a:prstGeom>
          <a:solidFill>
            <a:srgbClr val="1E1E1E"/>
          </a:solidFill>
          <a:ln w="12700">
            <a:solidFill>
              <a:srgbClr val="1E1E1E"/>
            </a:solidFill>
            <a:prstDash val="solid"/>
          </a:ln>
        </p:spPr>
        <p:txBody>
          <a:bodyPr/>
          <a:lstStyle/>
          <a:p>
            <a:endParaRPr lang="en-US"/>
          </a:p>
        </p:txBody>
      </p:sp>
      <p:sp>
        <p:nvSpPr>
          <p:cNvPr id="8" name="Text 6"/>
          <p:cNvSpPr/>
          <p:nvPr/>
        </p:nvSpPr>
        <p:spPr>
          <a:xfrm>
            <a:off x="0" y="228600"/>
            <a:ext cx="6583680" cy="164592"/>
          </a:xfrm>
          <a:prstGeom prst="rect">
            <a:avLst/>
          </a:prstGeom>
          <a:noFill/>
          <a:ln/>
        </p:spPr>
        <p:txBody>
          <a:bodyPr wrap="square" lIns="0" tIns="0" rIns="0" bIns="0" rtlCol="0" anchor="ctr"/>
          <a:lstStyle/>
          <a:p>
            <a:pPr marL="0" indent="0" algn="r">
              <a:buNone/>
            </a:pPr>
            <a:r>
              <a:rPr lang="en-US" sz="750" kern="0" spc="150" dirty="0">
                <a:solidFill>
                  <a:srgbClr val="666666"/>
                </a:solidFill>
                <a:latin typeface="Calibri" pitchFamily="34" charset="0"/>
                <a:ea typeface="Calibri" pitchFamily="34" charset="-122"/>
                <a:cs typeface="Calibri" pitchFamily="34" charset="-120"/>
              </a:rPr>
              <a:t>  MARCH 2026</a:t>
            </a:r>
            <a:endParaRPr lang="en-US" sz="750" dirty="0"/>
          </a:p>
        </p:txBody>
      </p:sp>
      <p:sp>
        <p:nvSpPr>
          <p:cNvPr id="9" name="Text 7"/>
          <p:cNvSpPr/>
          <p:nvPr/>
        </p:nvSpPr>
        <p:spPr>
          <a:xfrm>
            <a:off x="320040" y="804672"/>
            <a:ext cx="6217920" cy="1188720"/>
          </a:xfrm>
          <a:prstGeom prst="rect">
            <a:avLst/>
          </a:prstGeom>
          <a:noFill/>
          <a:ln/>
        </p:spPr>
        <p:txBody>
          <a:bodyPr wrap="square" lIns="0" tIns="0" rIns="0" bIns="0" rtlCol="0" anchor="ctr"/>
          <a:lstStyle/>
          <a:p>
            <a:pPr marL="0" indent="0">
              <a:buNone/>
            </a:pPr>
            <a:r>
              <a:rPr lang="en-US" sz="8200" b="1" dirty="0">
                <a:solidFill>
                  <a:srgbClr val="1A1A1A"/>
                </a:solidFill>
                <a:latin typeface="Calibri" pitchFamily="34" charset="0"/>
                <a:ea typeface="Calibri" pitchFamily="34" charset="-122"/>
                <a:cs typeface="Calibri" pitchFamily="34" charset="-120"/>
              </a:rPr>
              <a:t>Kalshi</a:t>
            </a:r>
            <a:endParaRPr lang="en-US" sz="8200" dirty="0"/>
          </a:p>
        </p:txBody>
      </p:sp>
      <p:sp>
        <p:nvSpPr>
          <p:cNvPr id="10" name="Shape 8"/>
          <p:cNvSpPr/>
          <p:nvPr/>
        </p:nvSpPr>
        <p:spPr>
          <a:xfrm>
            <a:off x="320040" y="2084832"/>
            <a:ext cx="2194560" cy="32004"/>
          </a:xfrm>
          <a:prstGeom prst="rect">
            <a:avLst/>
          </a:prstGeom>
          <a:solidFill>
            <a:srgbClr val="1FAD5A"/>
          </a:solidFill>
          <a:ln w="12700">
            <a:solidFill>
              <a:srgbClr val="1FAD5A"/>
            </a:solidFill>
            <a:prstDash val="solid"/>
          </a:ln>
        </p:spPr>
        <p:txBody>
          <a:bodyPr/>
          <a:lstStyle/>
          <a:p>
            <a:endParaRPr lang="en-US"/>
          </a:p>
        </p:txBody>
      </p:sp>
      <p:sp>
        <p:nvSpPr>
          <p:cNvPr id="11" name="Text 9"/>
          <p:cNvSpPr/>
          <p:nvPr/>
        </p:nvSpPr>
        <p:spPr>
          <a:xfrm>
            <a:off x="320040" y="2212848"/>
            <a:ext cx="6217920" cy="694944"/>
          </a:xfrm>
          <a:prstGeom prst="rect">
            <a:avLst/>
          </a:prstGeom>
          <a:noFill/>
          <a:ln/>
        </p:spPr>
        <p:txBody>
          <a:bodyPr wrap="square" lIns="0" tIns="0" rIns="0" bIns="0" rtlCol="0" anchor="ctr"/>
          <a:lstStyle/>
          <a:p>
            <a:pPr marL="0" indent="0">
              <a:buNone/>
            </a:pPr>
            <a:r>
              <a:rPr lang="en-US" sz="1650" dirty="0">
                <a:solidFill>
                  <a:srgbClr val="444444"/>
                </a:solidFill>
                <a:latin typeface="Calibri" pitchFamily="34" charset="0"/>
                <a:ea typeface="Calibri" pitchFamily="34" charset="-122"/>
                <a:cs typeface="Calibri" pitchFamily="34" charset="-120"/>
              </a:rPr>
              <a:t>The only CFTC-regulated prediction</a:t>
            </a:r>
            <a:endParaRPr lang="en-US" sz="1650" dirty="0"/>
          </a:p>
          <a:p>
            <a:pPr marL="0" indent="0">
              <a:buNone/>
            </a:pPr>
            <a:r>
              <a:rPr lang="en-US" sz="1650" dirty="0">
                <a:solidFill>
                  <a:srgbClr val="444444"/>
                </a:solidFill>
                <a:latin typeface="Calibri" pitchFamily="34" charset="0"/>
                <a:ea typeface="Calibri" pitchFamily="34" charset="-122"/>
                <a:cs typeface="Calibri" pitchFamily="34" charset="-120"/>
              </a:rPr>
              <a:t>market exchange in the United States</a:t>
            </a:r>
            <a:endParaRPr lang="en-US" sz="1650" dirty="0"/>
          </a:p>
        </p:txBody>
      </p:sp>
      <p:sp>
        <p:nvSpPr>
          <p:cNvPr id="12" name="Shape 10"/>
          <p:cNvSpPr/>
          <p:nvPr/>
        </p:nvSpPr>
        <p:spPr>
          <a:xfrm>
            <a:off x="320040" y="3017520"/>
            <a:ext cx="3200400" cy="347472"/>
          </a:xfrm>
          <a:prstGeom prst="rect">
            <a:avLst/>
          </a:prstGeom>
          <a:solidFill>
            <a:srgbClr val="EEEEEB"/>
          </a:solidFill>
          <a:ln w="8890">
            <a:solidFill>
              <a:srgbClr val="D4D4D0"/>
            </a:solidFill>
            <a:prstDash val="solid"/>
          </a:ln>
        </p:spPr>
        <p:txBody>
          <a:bodyPr/>
          <a:lstStyle/>
          <a:p>
            <a:endParaRPr lang="en-US"/>
          </a:p>
        </p:txBody>
      </p:sp>
      <p:sp>
        <p:nvSpPr>
          <p:cNvPr id="13" name="Text 11"/>
          <p:cNvSpPr/>
          <p:nvPr/>
        </p:nvSpPr>
        <p:spPr>
          <a:xfrm>
            <a:off x="320040" y="3017520"/>
            <a:ext cx="3200400" cy="347472"/>
          </a:xfrm>
          <a:prstGeom prst="rect">
            <a:avLst/>
          </a:prstGeom>
          <a:noFill/>
          <a:ln/>
        </p:spPr>
        <p:txBody>
          <a:bodyPr wrap="square" lIns="0" tIns="0" rIns="0" bIns="0" rtlCol="0" anchor="ctr"/>
          <a:lstStyle/>
          <a:p>
            <a:pPr marL="0" indent="0" algn="ctr">
              <a:buNone/>
            </a:pPr>
            <a:r>
              <a:rPr lang="en-US" sz="800" b="1" kern="0" spc="100" dirty="0">
                <a:solidFill>
                  <a:srgbClr val="444444"/>
                </a:solidFill>
                <a:latin typeface="Calibri" pitchFamily="34" charset="0"/>
                <a:ea typeface="Calibri" pitchFamily="34" charset="-122"/>
                <a:cs typeface="Calibri" pitchFamily="34" charset="-120"/>
              </a:rPr>
              <a:t>FOUNDER SECONDARY  ·  MARCH 2026</a:t>
            </a:r>
            <a:endParaRPr lang="en-US" sz="800" dirty="0"/>
          </a:p>
        </p:txBody>
      </p:sp>
      <p:sp>
        <p:nvSpPr>
          <p:cNvPr id="14" name="Shape 12"/>
          <p:cNvSpPr/>
          <p:nvPr/>
        </p:nvSpPr>
        <p:spPr>
          <a:xfrm>
            <a:off x="320040" y="3529584"/>
            <a:ext cx="2011680" cy="118872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15" name="Shape 13"/>
          <p:cNvSpPr/>
          <p:nvPr/>
        </p:nvSpPr>
        <p:spPr>
          <a:xfrm>
            <a:off x="320040" y="3529584"/>
            <a:ext cx="2011680" cy="36576"/>
          </a:xfrm>
          <a:prstGeom prst="rect">
            <a:avLst/>
          </a:prstGeom>
          <a:solidFill>
            <a:srgbClr val="1FAD5A"/>
          </a:solidFill>
          <a:ln w="12700">
            <a:solidFill>
              <a:srgbClr val="1FAD5A"/>
            </a:solidFill>
            <a:prstDash val="solid"/>
          </a:ln>
        </p:spPr>
        <p:txBody>
          <a:bodyPr/>
          <a:lstStyle/>
          <a:p>
            <a:endParaRPr lang="en-US"/>
          </a:p>
        </p:txBody>
      </p:sp>
      <p:sp>
        <p:nvSpPr>
          <p:cNvPr id="16" name="Text 14"/>
          <p:cNvSpPr/>
          <p:nvPr/>
        </p:nvSpPr>
        <p:spPr>
          <a:xfrm>
            <a:off x="411480" y="3621024"/>
            <a:ext cx="1828800" cy="658368"/>
          </a:xfrm>
          <a:prstGeom prst="rect">
            <a:avLst/>
          </a:prstGeom>
          <a:noFill/>
          <a:ln/>
        </p:spPr>
        <p:txBody>
          <a:bodyPr wrap="square" lIns="0" tIns="0" rIns="0" bIns="0" rtlCol="0" anchor="ctr"/>
          <a:lstStyle/>
          <a:p>
            <a:pPr marL="0" indent="0" algn="ctr">
              <a:buNone/>
            </a:pPr>
            <a:r>
              <a:rPr lang="en-US" sz="3400" b="1" dirty="0">
                <a:solidFill>
                  <a:srgbClr val="1A1A1A"/>
                </a:solidFill>
                <a:latin typeface="Calibri" pitchFamily="34" charset="0"/>
                <a:ea typeface="Calibri" pitchFamily="34" charset="-122"/>
                <a:cs typeface="Calibri" pitchFamily="34" charset="-120"/>
              </a:rPr>
              <a:t>$11B</a:t>
            </a:r>
            <a:endParaRPr lang="en-US" sz="3400" dirty="0"/>
          </a:p>
        </p:txBody>
      </p:sp>
      <p:sp>
        <p:nvSpPr>
          <p:cNvPr id="17" name="Text 15"/>
          <p:cNvSpPr/>
          <p:nvPr/>
        </p:nvSpPr>
        <p:spPr>
          <a:xfrm>
            <a:off x="411480" y="4315968"/>
            <a:ext cx="1828800" cy="310896"/>
          </a:xfrm>
          <a:prstGeom prst="rect">
            <a:avLst/>
          </a:prstGeom>
          <a:noFill/>
          <a:ln/>
        </p:spPr>
        <p:txBody>
          <a:bodyPr wrap="square" lIns="0" tIns="0" rIns="0" bIns="0" rtlCol="0" anchor="ctr"/>
          <a:lstStyle/>
          <a:p>
            <a:pPr marL="0" indent="0" algn="ctr">
              <a:buNone/>
            </a:pPr>
            <a:r>
              <a:rPr lang="en-US" sz="900" dirty="0">
                <a:solidFill>
                  <a:srgbClr val="777777"/>
                </a:solidFill>
                <a:latin typeface="Calibri" pitchFamily="34" charset="0"/>
                <a:ea typeface="Calibri" pitchFamily="34" charset="-122"/>
                <a:cs typeface="Calibri" pitchFamily="34" charset="-120"/>
              </a:rPr>
              <a:t>Valuation</a:t>
            </a:r>
            <a:endParaRPr lang="en-US" sz="900" dirty="0"/>
          </a:p>
        </p:txBody>
      </p:sp>
      <p:sp>
        <p:nvSpPr>
          <p:cNvPr id="18" name="Shape 16"/>
          <p:cNvSpPr/>
          <p:nvPr/>
        </p:nvSpPr>
        <p:spPr>
          <a:xfrm>
            <a:off x="2478024" y="3529584"/>
            <a:ext cx="2011680" cy="118872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19" name="Shape 17"/>
          <p:cNvSpPr/>
          <p:nvPr/>
        </p:nvSpPr>
        <p:spPr>
          <a:xfrm>
            <a:off x="2478024" y="3529584"/>
            <a:ext cx="2011680" cy="36576"/>
          </a:xfrm>
          <a:prstGeom prst="rect">
            <a:avLst/>
          </a:prstGeom>
          <a:solidFill>
            <a:srgbClr val="1FAD5A"/>
          </a:solidFill>
          <a:ln w="12700">
            <a:solidFill>
              <a:srgbClr val="1FAD5A"/>
            </a:solidFill>
            <a:prstDash val="solid"/>
          </a:ln>
        </p:spPr>
        <p:txBody>
          <a:bodyPr/>
          <a:lstStyle/>
          <a:p>
            <a:endParaRPr lang="en-US"/>
          </a:p>
        </p:txBody>
      </p:sp>
      <p:sp>
        <p:nvSpPr>
          <p:cNvPr id="20" name="Text 18"/>
          <p:cNvSpPr/>
          <p:nvPr/>
        </p:nvSpPr>
        <p:spPr>
          <a:xfrm>
            <a:off x="2569464" y="3621024"/>
            <a:ext cx="1828800" cy="658368"/>
          </a:xfrm>
          <a:prstGeom prst="rect">
            <a:avLst/>
          </a:prstGeom>
          <a:noFill/>
          <a:ln/>
        </p:spPr>
        <p:txBody>
          <a:bodyPr wrap="square" lIns="0" tIns="0" rIns="0" bIns="0" rtlCol="0" anchor="ctr"/>
          <a:lstStyle/>
          <a:p>
            <a:pPr marL="0" indent="0" algn="ctr">
              <a:buNone/>
            </a:pPr>
            <a:r>
              <a:rPr lang="en-US" sz="3400" b="1" dirty="0">
                <a:solidFill>
                  <a:srgbClr val="1A1A1A"/>
                </a:solidFill>
                <a:latin typeface="Calibri" pitchFamily="34" charset="0"/>
                <a:ea typeface="Calibri" pitchFamily="34" charset="-122"/>
                <a:cs typeface="Calibri" pitchFamily="34" charset="-120"/>
              </a:rPr>
              <a:t>$1.2B</a:t>
            </a:r>
            <a:endParaRPr lang="en-US" sz="3400" dirty="0"/>
          </a:p>
        </p:txBody>
      </p:sp>
      <p:sp>
        <p:nvSpPr>
          <p:cNvPr id="21" name="Text 19"/>
          <p:cNvSpPr/>
          <p:nvPr/>
        </p:nvSpPr>
        <p:spPr>
          <a:xfrm>
            <a:off x="2569464" y="4315968"/>
            <a:ext cx="1828800" cy="310896"/>
          </a:xfrm>
          <a:prstGeom prst="rect">
            <a:avLst/>
          </a:prstGeom>
          <a:noFill/>
          <a:ln/>
        </p:spPr>
        <p:txBody>
          <a:bodyPr wrap="square" lIns="0" tIns="0" rIns="0" bIns="0" rtlCol="0" anchor="ctr"/>
          <a:lstStyle/>
          <a:p>
            <a:pPr marL="0" indent="0" algn="ctr">
              <a:buNone/>
            </a:pPr>
            <a:r>
              <a:rPr lang="en-US" sz="900" dirty="0">
                <a:solidFill>
                  <a:srgbClr val="777777"/>
                </a:solidFill>
                <a:latin typeface="Calibri" pitchFamily="34" charset="0"/>
                <a:ea typeface="Calibri" pitchFamily="34" charset="-122"/>
                <a:cs typeface="Calibri" pitchFamily="34" charset="-120"/>
              </a:rPr>
              <a:t>Jan ’26 Rev Run-Rate</a:t>
            </a:r>
            <a:endParaRPr lang="en-US" sz="900" dirty="0"/>
          </a:p>
        </p:txBody>
      </p:sp>
      <p:sp>
        <p:nvSpPr>
          <p:cNvPr id="22" name="Shape 20"/>
          <p:cNvSpPr/>
          <p:nvPr/>
        </p:nvSpPr>
        <p:spPr>
          <a:xfrm>
            <a:off x="4636008" y="3529584"/>
            <a:ext cx="2011680" cy="118872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23" name="Shape 21"/>
          <p:cNvSpPr/>
          <p:nvPr/>
        </p:nvSpPr>
        <p:spPr>
          <a:xfrm>
            <a:off x="4636008" y="3529584"/>
            <a:ext cx="2011680" cy="36576"/>
          </a:xfrm>
          <a:prstGeom prst="rect">
            <a:avLst/>
          </a:prstGeom>
          <a:solidFill>
            <a:srgbClr val="1FAD5A"/>
          </a:solidFill>
          <a:ln w="12700">
            <a:solidFill>
              <a:srgbClr val="1FAD5A"/>
            </a:solidFill>
            <a:prstDash val="solid"/>
          </a:ln>
        </p:spPr>
        <p:txBody>
          <a:bodyPr/>
          <a:lstStyle/>
          <a:p>
            <a:endParaRPr lang="en-US"/>
          </a:p>
        </p:txBody>
      </p:sp>
      <p:sp>
        <p:nvSpPr>
          <p:cNvPr id="24" name="Text 22"/>
          <p:cNvSpPr/>
          <p:nvPr/>
        </p:nvSpPr>
        <p:spPr>
          <a:xfrm>
            <a:off x="4727448" y="3621024"/>
            <a:ext cx="1828800" cy="658368"/>
          </a:xfrm>
          <a:prstGeom prst="rect">
            <a:avLst/>
          </a:prstGeom>
          <a:noFill/>
          <a:ln/>
        </p:spPr>
        <p:txBody>
          <a:bodyPr wrap="square" lIns="0" tIns="0" rIns="0" bIns="0" rtlCol="0" anchor="ctr"/>
          <a:lstStyle/>
          <a:p>
            <a:pPr marL="0" indent="0" algn="ctr">
              <a:buNone/>
            </a:pPr>
            <a:r>
              <a:rPr lang="en-US" sz="3400" b="1" dirty="0">
                <a:solidFill>
                  <a:srgbClr val="1A1A1A"/>
                </a:solidFill>
                <a:latin typeface="Calibri" pitchFamily="34" charset="0"/>
                <a:ea typeface="Calibri" pitchFamily="34" charset="-122"/>
                <a:cs typeface="Calibri" pitchFamily="34" charset="-120"/>
              </a:rPr>
              <a:t>60×</a:t>
            </a:r>
            <a:endParaRPr lang="en-US" sz="3400" dirty="0"/>
          </a:p>
        </p:txBody>
      </p:sp>
      <p:sp>
        <p:nvSpPr>
          <p:cNvPr id="25" name="Text 23"/>
          <p:cNvSpPr/>
          <p:nvPr/>
        </p:nvSpPr>
        <p:spPr>
          <a:xfrm>
            <a:off x="4727448" y="4315968"/>
            <a:ext cx="1828800" cy="310896"/>
          </a:xfrm>
          <a:prstGeom prst="rect">
            <a:avLst/>
          </a:prstGeom>
          <a:noFill/>
          <a:ln/>
        </p:spPr>
        <p:txBody>
          <a:bodyPr wrap="square" lIns="0" tIns="0" rIns="0" bIns="0" rtlCol="0" anchor="ctr"/>
          <a:lstStyle/>
          <a:p>
            <a:pPr marL="0" indent="0" algn="ctr">
              <a:buNone/>
            </a:pPr>
            <a:r>
              <a:rPr lang="en-US" sz="900" dirty="0">
                <a:solidFill>
                  <a:srgbClr val="777777"/>
                </a:solidFill>
                <a:latin typeface="Calibri" pitchFamily="34" charset="0"/>
                <a:ea typeface="Calibri" pitchFamily="34" charset="-122"/>
                <a:cs typeface="Calibri" pitchFamily="34" charset="-120"/>
              </a:rPr>
              <a:t>Revenue Growth in '25</a:t>
            </a:r>
            <a:endParaRPr lang="en-US" sz="900" dirty="0"/>
          </a:p>
        </p:txBody>
      </p:sp>
      <p:sp>
        <p:nvSpPr>
          <p:cNvPr id="26" name="Shape 24"/>
          <p:cNvSpPr/>
          <p:nvPr/>
        </p:nvSpPr>
        <p:spPr>
          <a:xfrm>
            <a:off x="320040" y="4892040"/>
            <a:ext cx="6217920" cy="32004"/>
          </a:xfrm>
          <a:prstGeom prst="rect">
            <a:avLst/>
          </a:prstGeom>
          <a:solidFill>
            <a:srgbClr val="D4D4D0"/>
          </a:solidFill>
          <a:ln w="12700">
            <a:solidFill>
              <a:srgbClr val="D4D4D0"/>
            </a:solidFill>
            <a:prstDash val="solid"/>
          </a:ln>
        </p:spPr>
        <p:txBody>
          <a:bodyPr/>
          <a:lstStyle/>
          <a:p>
            <a:endParaRPr lang="en-US"/>
          </a:p>
        </p:txBody>
      </p:sp>
      <p:sp>
        <p:nvSpPr>
          <p:cNvPr id="27" name="Text 25"/>
          <p:cNvSpPr/>
          <p:nvPr/>
        </p:nvSpPr>
        <p:spPr>
          <a:xfrm>
            <a:off x="320040" y="4956048"/>
            <a:ext cx="6217920" cy="182880"/>
          </a:xfrm>
          <a:prstGeom prst="rect">
            <a:avLst/>
          </a:prstGeom>
          <a:noFill/>
          <a:ln/>
        </p:spPr>
        <p:txBody>
          <a:bodyPr wrap="square" lIns="0" tIns="0" rIns="0" bIns="0" rtlCol="0" anchor="ctr"/>
          <a:lstStyle/>
          <a:p>
            <a:pPr marL="0" indent="0">
              <a:buNone/>
            </a:pPr>
            <a:r>
              <a:rPr lang="en-US" sz="750" kern="0" spc="200" dirty="0">
                <a:solidFill>
                  <a:srgbClr val="777777"/>
                </a:solidFill>
                <a:latin typeface="Calibri" pitchFamily="34" charset="0"/>
                <a:ea typeface="Calibri" pitchFamily="34" charset="-122"/>
                <a:cs typeface="Calibri" pitchFamily="34" charset="-120"/>
              </a:rPr>
              <a:t>INVESTORS</a:t>
            </a:r>
            <a:endParaRPr lang="en-US" sz="750" dirty="0"/>
          </a:p>
        </p:txBody>
      </p:sp>
      <p:sp>
        <p:nvSpPr>
          <p:cNvPr id="28" name="Text 26"/>
          <p:cNvSpPr/>
          <p:nvPr/>
        </p:nvSpPr>
        <p:spPr>
          <a:xfrm>
            <a:off x="320040" y="5166360"/>
            <a:ext cx="6217920" cy="256032"/>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Sequoia  ·  a16z  ·  CapitalG  ·  Paradigm  ·  ARK Invest  ·  Y Combinator  ·  Henry Kravis</a:t>
            </a:r>
            <a:endParaRPr lang="en-US" sz="1050" dirty="0"/>
          </a:p>
        </p:txBody>
      </p:sp>
      <p:sp>
        <p:nvSpPr>
          <p:cNvPr id="29" name="Shape 27"/>
          <p:cNvSpPr/>
          <p:nvPr/>
        </p:nvSpPr>
        <p:spPr>
          <a:xfrm>
            <a:off x="320040" y="5449824"/>
            <a:ext cx="6217920" cy="32004"/>
          </a:xfrm>
          <a:prstGeom prst="rect">
            <a:avLst/>
          </a:prstGeom>
          <a:solidFill>
            <a:srgbClr val="D4D4D0"/>
          </a:solidFill>
          <a:ln w="12700">
            <a:solidFill>
              <a:srgbClr val="D4D4D0"/>
            </a:solidFill>
            <a:prstDash val="solid"/>
          </a:ln>
        </p:spPr>
        <p:txBody>
          <a:bodyPr/>
          <a:lstStyle/>
          <a:p>
            <a:endParaRPr lang="en-US"/>
          </a:p>
        </p:txBody>
      </p:sp>
      <p:sp>
        <p:nvSpPr>
          <p:cNvPr id="30" name="Text 28"/>
          <p:cNvSpPr/>
          <p:nvPr/>
        </p:nvSpPr>
        <p:spPr>
          <a:xfrm>
            <a:off x="320040" y="5541264"/>
            <a:ext cx="6217920" cy="182880"/>
          </a:xfrm>
          <a:prstGeom prst="rect">
            <a:avLst/>
          </a:prstGeom>
          <a:noFill/>
          <a:ln/>
        </p:spPr>
        <p:txBody>
          <a:bodyPr wrap="square" lIns="0" tIns="0" rIns="0" bIns="0" rtlCol="0" anchor="ctr"/>
          <a:lstStyle/>
          <a:p>
            <a:pPr marL="0" indent="0">
              <a:buNone/>
            </a:pPr>
            <a:r>
              <a:rPr lang="en-US" sz="750" kern="0" spc="200" dirty="0">
                <a:solidFill>
                  <a:srgbClr val="777777"/>
                </a:solidFill>
                <a:latin typeface="Calibri" pitchFamily="34" charset="0"/>
                <a:ea typeface="Calibri" pitchFamily="34" charset="-122"/>
                <a:cs typeface="Calibri" pitchFamily="34" charset="-120"/>
              </a:rPr>
              <a:t>FOUNDERS</a:t>
            </a:r>
            <a:endParaRPr lang="en-US" sz="750" dirty="0"/>
          </a:p>
        </p:txBody>
      </p:sp>
      <p:sp>
        <p:nvSpPr>
          <p:cNvPr id="31" name="Text 29"/>
          <p:cNvSpPr/>
          <p:nvPr/>
        </p:nvSpPr>
        <p:spPr>
          <a:xfrm>
            <a:off x="320040" y="5742432"/>
            <a:ext cx="6217920" cy="219456"/>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Tarek Mansour, CEO  ·  Citadel · Palantir · Goldman Sachs · MIT EECS &amp; Mathematics</a:t>
            </a:r>
            <a:endParaRPr lang="en-US" sz="950" dirty="0"/>
          </a:p>
        </p:txBody>
      </p:sp>
      <p:sp>
        <p:nvSpPr>
          <p:cNvPr id="32" name="Text 30"/>
          <p:cNvSpPr/>
          <p:nvPr/>
        </p:nvSpPr>
        <p:spPr>
          <a:xfrm>
            <a:off x="320040" y="5980176"/>
            <a:ext cx="6217920" cy="219456"/>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Luana Lopes Lara, COO  ·  Bridgewater · Citadel · Five Rings Capital · MIT CS</a:t>
            </a:r>
            <a:endParaRPr lang="en-US" sz="950" dirty="0"/>
          </a:p>
        </p:txBody>
      </p:sp>
      <p:sp>
        <p:nvSpPr>
          <p:cNvPr id="33" name="Shape 31"/>
          <p:cNvSpPr/>
          <p:nvPr/>
        </p:nvSpPr>
        <p:spPr>
          <a:xfrm>
            <a:off x="0" y="6473952"/>
            <a:ext cx="6858000" cy="2468880"/>
          </a:xfrm>
          <a:prstGeom prst="rect">
            <a:avLst/>
          </a:prstGeom>
          <a:solidFill>
            <a:srgbClr val="1E1E1E"/>
          </a:solidFill>
          <a:ln w="12700">
            <a:solidFill>
              <a:srgbClr val="1E1E1E"/>
            </a:solidFill>
            <a:prstDash val="solid"/>
          </a:ln>
        </p:spPr>
        <p:txBody>
          <a:bodyPr/>
          <a:lstStyle/>
          <a:p>
            <a:endParaRPr lang="en-US"/>
          </a:p>
        </p:txBody>
      </p:sp>
      <p:sp>
        <p:nvSpPr>
          <p:cNvPr id="34" name="Shape 32"/>
          <p:cNvSpPr/>
          <p:nvPr/>
        </p:nvSpPr>
        <p:spPr>
          <a:xfrm>
            <a:off x="0" y="6473952"/>
            <a:ext cx="45720" cy="2468880"/>
          </a:xfrm>
          <a:prstGeom prst="rect">
            <a:avLst/>
          </a:prstGeom>
          <a:solidFill>
            <a:srgbClr val="1FAD5A"/>
          </a:solidFill>
          <a:ln w="12700">
            <a:solidFill>
              <a:srgbClr val="1FAD5A"/>
            </a:solidFill>
            <a:prstDash val="solid"/>
          </a:ln>
        </p:spPr>
        <p:txBody>
          <a:bodyPr/>
          <a:lstStyle/>
          <a:p>
            <a:endParaRPr lang="en-US"/>
          </a:p>
        </p:txBody>
      </p:sp>
      <p:sp>
        <p:nvSpPr>
          <p:cNvPr id="35" name="Text 33"/>
          <p:cNvSpPr/>
          <p:nvPr/>
        </p:nvSpPr>
        <p:spPr>
          <a:xfrm>
            <a:off x="256032" y="6583680"/>
            <a:ext cx="2743200" cy="182880"/>
          </a:xfrm>
          <a:prstGeom prst="rect">
            <a:avLst/>
          </a:prstGeom>
          <a:noFill/>
          <a:ln/>
        </p:spPr>
        <p:txBody>
          <a:bodyPr wrap="square" lIns="0" tIns="0" rIns="0" bIns="0" rtlCol="0" anchor="ctr"/>
          <a:lstStyle/>
          <a:p>
            <a:pPr marL="0" indent="0">
              <a:buNone/>
            </a:pPr>
            <a:r>
              <a:rPr lang="en-US" sz="750" b="1" kern="0" spc="200" dirty="0">
                <a:solidFill>
                  <a:srgbClr val="777777"/>
                </a:solidFill>
                <a:latin typeface="Calibri" pitchFamily="34" charset="0"/>
                <a:ea typeface="Calibri" pitchFamily="34" charset="-122"/>
                <a:cs typeface="Calibri" pitchFamily="34" charset="-120"/>
              </a:rPr>
              <a:t>WHY NOW</a:t>
            </a:r>
            <a:endParaRPr lang="en-US" sz="750" dirty="0"/>
          </a:p>
        </p:txBody>
      </p:sp>
      <p:sp>
        <p:nvSpPr>
          <p:cNvPr id="36" name="Text 34"/>
          <p:cNvSpPr/>
          <p:nvPr/>
        </p:nvSpPr>
        <p:spPr>
          <a:xfrm>
            <a:off x="256032" y="6839712"/>
            <a:ext cx="6309360" cy="219456"/>
          </a:xfrm>
          <a:prstGeom prst="rect">
            <a:avLst/>
          </a:prstGeom>
          <a:noFill/>
          <a:ln/>
        </p:spPr>
        <p:txBody>
          <a:bodyPr wrap="square" lIns="0" tIns="0" rIns="0" bIns="0" rtlCol="0" anchor="ctr"/>
          <a:lstStyle/>
          <a:p>
            <a:pPr marL="0" indent="0">
              <a:buNone/>
            </a:pPr>
            <a:r>
              <a:rPr lang="en-US" sz="1000" b="1" dirty="0">
                <a:solidFill>
                  <a:srgbClr val="EEEEEE"/>
                </a:solidFill>
                <a:latin typeface="Calibri" pitchFamily="34" charset="0"/>
                <a:ea typeface="Calibri" pitchFamily="34" charset="-122"/>
                <a:cs typeface="Calibri" pitchFamily="34" charset="-120"/>
              </a:rPr>
              <a:t>Volume doubled</a:t>
            </a:r>
            <a:endParaRPr lang="en-US" sz="1000" dirty="0"/>
          </a:p>
        </p:txBody>
      </p:sp>
      <p:sp>
        <p:nvSpPr>
          <p:cNvPr id="37" name="Text 35"/>
          <p:cNvSpPr/>
          <p:nvPr/>
        </p:nvSpPr>
        <p:spPr>
          <a:xfrm>
            <a:off x="256032" y="7077456"/>
            <a:ext cx="6309360" cy="201168"/>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since the Sequoia-led raise in fall 2025</a:t>
            </a:r>
            <a:endParaRPr lang="en-US" sz="950" dirty="0"/>
          </a:p>
        </p:txBody>
      </p:sp>
      <p:sp>
        <p:nvSpPr>
          <p:cNvPr id="38" name="Text 36"/>
          <p:cNvSpPr/>
          <p:nvPr/>
        </p:nvSpPr>
        <p:spPr>
          <a:xfrm>
            <a:off x="256032" y="7351776"/>
            <a:ext cx="6309360" cy="219456"/>
          </a:xfrm>
          <a:prstGeom prst="rect">
            <a:avLst/>
          </a:prstGeom>
          <a:noFill/>
          <a:ln/>
        </p:spPr>
        <p:txBody>
          <a:bodyPr wrap="square" lIns="0" tIns="0" rIns="0" bIns="0" rtlCol="0" anchor="ctr"/>
          <a:lstStyle/>
          <a:p>
            <a:pPr marL="0" indent="0">
              <a:buNone/>
            </a:pPr>
            <a:r>
              <a:rPr lang="en-US" sz="1000" b="1" dirty="0">
                <a:solidFill>
                  <a:srgbClr val="EEEEEE"/>
                </a:solidFill>
                <a:latin typeface="Calibri" pitchFamily="34" charset="0"/>
                <a:ea typeface="Calibri" pitchFamily="34" charset="-122"/>
                <a:cs typeface="Calibri" pitchFamily="34" charset="-120"/>
              </a:rPr>
              <a:t>Margin trading Q1 2026</a:t>
            </a:r>
            <a:endParaRPr lang="en-US" sz="1000" dirty="0"/>
          </a:p>
        </p:txBody>
      </p:sp>
      <p:sp>
        <p:nvSpPr>
          <p:cNvPr id="39" name="Text 37"/>
          <p:cNvSpPr/>
          <p:nvPr/>
        </p:nvSpPr>
        <p:spPr>
          <a:xfrm>
            <a:off x="256032" y="7589520"/>
            <a:ext cx="6309360" cy="201168"/>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unlocks institutional capital — a transformative inflection point</a:t>
            </a:r>
            <a:endParaRPr lang="en-US" sz="950" dirty="0"/>
          </a:p>
        </p:txBody>
      </p:sp>
      <p:sp>
        <p:nvSpPr>
          <p:cNvPr id="40" name="Text 38"/>
          <p:cNvSpPr/>
          <p:nvPr/>
        </p:nvSpPr>
        <p:spPr>
          <a:xfrm>
            <a:off x="256032" y="7863840"/>
            <a:ext cx="6309360" cy="219456"/>
          </a:xfrm>
          <a:prstGeom prst="rect">
            <a:avLst/>
          </a:prstGeom>
          <a:noFill/>
          <a:ln/>
        </p:spPr>
        <p:txBody>
          <a:bodyPr wrap="square" lIns="0" tIns="0" rIns="0" bIns="0" rtlCol="0" anchor="ctr"/>
          <a:lstStyle/>
          <a:p>
            <a:pPr marL="0" indent="0">
              <a:buNone/>
            </a:pPr>
            <a:r>
              <a:rPr lang="en-US" sz="1000" b="1" dirty="0">
                <a:solidFill>
                  <a:srgbClr val="EEEEEE"/>
                </a:solidFill>
                <a:latin typeface="Calibri" pitchFamily="34" charset="0"/>
                <a:ea typeface="Calibri" pitchFamily="34" charset="-122"/>
                <a:cs typeface="Calibri" pitchFamily="34" charset="-120"/>
              </a:rPr>
              <a:t>2026 World Cup + U.S. Midterms</a:t>
            </a:r>
            <a:endParaRPr lang="en-US" sz="1000" dirty="0"/>
          </a:p>
        </p:txBody>
      </p:sp>
      <p:sp>
        <p:nvSpPr>
          <p:cNvPr id="41" name="Text 39"/>
          <p:cNvSpPr/>
          <p:nvPr/>
        </p:nvSpPr>
        <p:spPr>
          <a:xfrm>
            <a:off x="256032" y="8101584"/>
            <a:ext cx="6309360" cy="201168"/>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among the largest volume events in prediction market history</a:t>
            </a:r>
            <a:endParaRPr lang="en-US" sz="950" dirty="0"/>
          </a:p>
        </p:txBody>
      </p:sp>
      <p:sp>
        <p:nvSpPr>
          <p:cNvPr id="42" name="Text 40"/>
          <p:cNvSpPr/>
          <p:nvPr/>
        </p:nvSpPr>
        <p:spPr>
          <a:xfrm>
            <a:off x="256032" y="8375904"/>
            <a:ext cx="6309360" cy="219456"/>
          </a:xfrm>
          <a:prstGeom prst="rect">
            <a:avLst/>
          </a:prstGeom>
          <a:noFill/>
          <a:ln/>
        </p:spPr>
        <p:txBody>
          <a:bodyPr wrap="square" lIns="0" tIns="0" rIns="0" bIns="0" rtlCol="0" anchor="ctr"/>
          <a:lstStyle/>
          <a:p>
            <a:pPr marL="0" indent="0">
              <a:buNone/>
            </a:pPr>
            <a:r>
              <a:rPr lang="en-US" sz="1000" b="1" dirty="0">
                <a:solidFill>
                  <a:srgbClr val="EEEEEE"/>
                </a:solidFill>
                <a:latin typeface="Calibri" pitchFamily="34" charset="0"/>
                <a:ea typeface="Calibri" pitchFamily="34" charset="-122"/>
                <a:cs typeface="Calibri" pitchFamily="34" charset="-120"/>
              </a:rPr>
              <a:t>Primary round forthcoming</a:t>
            </a:r>
            <a:endParaRPr lang="en-US" sz="1000" dirty="0"/>
          </a:p>
        </p:txBody>
      </p:sp>
      <p:sp>
        <p:nvSpPr>
          <p:cNvPr id="43" name="Text 41"/>
          <p:cNvSpPr/>
          <p:nvPr/>
        </p:nvSpPr>
        <p:spPr>
          <a:xfrm>
            <a:off x="256032" y="8613648"/>
            <a:ext cx="6309360" cy="201168"/>
          </a:xfrm>
          <a:prstGeom prst="rect">
            <a:avLst/>
          </a:prstGeom>
          <a:noFill/>
          <a:ln/>
        </p:spPr>
        <p:txBody>
          <a:bodyPr wrap="square" lIns="0" tIns="0" rIns="0" bIns="0" rtlCol="0" anchor="ctr"/>
          <a:lstStyle/>
          <a:p>
            <a:r>
              <a:rPr lang="en-US" sz="950" dirty="0">
                <a:solidFill>
                  <a:srgbClr val="888888"/>
                </a:solidFill>
                <a:latin typeface="Calibri" pitchFamily="34" charset="0"/>
                <a:ea typeface="Calibri" pitchFamily="34" charset="-122"/>
                <a:cs typeface="Calibri" pitchFamily="34" charset="-120"/>
              </a:rPr>
              <a:t>company already receiving investor inquiries at a higher valuation — </a:t>
            </a:r>
            <a:r>
              <a:rPr lang="en-US" sz="950" dirty="0">
                <a:solidFill>
                  <a:srgbClr val="888888"/>
                </a:solidFill>
                <a:latin typeface="Calibri" pitchFamily="34" charset="0"/>
                <a:ea typeface="Calibri" pitchFamily="34" charset="-122"/>
                <a:cs typeface="Calibri" pitchFamily="34" charset="-120"/>
                <a:hlinkClick r:id="rId3"/>
              </a:rPr>
              <a:t>“Kalshi and Polymarket Each Eyeing $20Bn Valuations,” </a:t>
            </a:r>
            <a:r>
              <a:rPr lang="en-US" sz="950" dirty="0">
                <a:solidFill>
                  <a:srgbClr val="888888"/>
                </a:solidFill>
                <a:latin typeface="Calibri" pitchFamily="34" charset="0"/>
                <a:ea typeface="Calibri" pitchFamily="34" charset="-122"/>
                <a:cs typeface="Calibri" pitchFamily="34" charset="-120"/>
              </a:rPr>
              <a:t>WSJ</a:t>
            </a:r>
          </a:p>
        </p:txBody>
      </p:sp>
      <p:sp>
        <p:nvSpPr>
          <p:cNvPr id="44" name="Shape 42"/>
          <p:cNvSpPr/>
          <p:nvPr/>
        </p:nvSpPr>
        <p:spPr>
          <a:xfrm>
            <a:off x="0" y="8942832"/>
            <a:ext cx="6858000" cy="201168"/>
          </a:xfrm>
          <a:prstGeom prst="rect">
            <a:avLst/>
          </a:prstGeom>
          <a:solidFill>
            <a:srgbClr val="1E1E1E"/>
          </a:solidFill>
          <a:ln w="12700">
            <a:solidFill>
              <a:srgbClr val="1E1E1E"/>
            </a:solidFill>
            <a:prstDash val="solid"/>
          </a:ln>
        </p:spPr>
        <p:txBody>
          <a:bodyPr/>
          <a:lstStyle/>
          <a:p>
            <a:endParaRPr lang="en-US"/>
          </a:p>
        </p:txBody>
      </p:sp>
      <p:sp>
        <p:nvSpPr>
          <p:cNvPr id="45" name="Text 43"/>
          <p:cNvSpPr/>
          <p:nvPr/>
        </p:nvSpPr>
        <p:spPr>
          <a:xfrm>
            <a:off x="274320" y="8979408"/>
            <a:ext cx="6309360" cy="128016"/>
          </a:xfrm>
          <a:prstGeom prst="rect">
            <a:avLst/>
          </a:prstGeom>
          <a:noFill/>
          <a:ln/>
        </p:spPr>
        <p:txBody>
          <a:bodyPr wrap="square" lIns="0" tIns="0" rIns="0" bIns="0" rtlCol="0" anchor="ctr"/>
          <a:lstStyle/>
          <a:p>
            <a:pPr marL="0" indent="0">
              <a:buNone/>
            </a:pPr>
            <a:r>
              <a:rPr lang="en-US" sz="650" kern="0" spc="100" dirty="0">
                <a:solidFill>
                  <a:srgbClr val="555555"/>
                </a:solidFill>
                <a:latin typeface="Calibri" pitchFamily="34" charset="0"/>
                <a:ea typeface="Calibri" pitchFamily="34" charset="-122"/>
                <a:cs typeface="Calibri" pitchFamily="34" charset="-120"/>
              </a:rPr>
              <a:t>STRICTLY CONFIDENTIAL  ·  ID8 INVESTMENTS </a:t>
            </a:r>
            <a:endParaRPr lang="en-US" sz="650" dirty="0"/>
          </a:p>
        </p:txBody>
      </p:sp>
      <p:pic>
        <p:nvPicPr>
          <p:cNvPr id="46" name="Google Shape;56;p13">
            <a:extLst>
              <a:ext uri="{FF2B5EF4-FFF2-40B4-BE49-F238E27FC236}">
                <a16:creationId xmlns:a16="http://schemas.microsoft.com/office/drawing/2014/main" id="{535F2FF6-B49E-4BEF-2A16-9228E6B71971}"/>
              </a:ext>
            </a:extLst>
          </p:cNvPr>
          <p:cNvPicPr preferRelativeResize="0"/>
          <p:nvPr/>
        </p:nvPicPr>
        <p:blipFill>
          <a:blip r:embed="rId4">
            <a:alphaModFix/>
          </a:blip>
          <a:stretch>
            <a:fillRect/>
          </a:stretch>
        </p:blipFill>
        <p:spPr>
          <a:xfrm>
            <a:off x="149352" y="180594"/>
            <a:ext cx="2243328" cy="2560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3"/>
        </a:solidFill>
        <a:effectLst/>
      </p:bgPr>
    </p:bg>
    <p:spTree>
      <p:nvGrpSpPr>
        <p:cNvPr id="1" name=""/>
        <p:cNvGrpSpPr/>
        <p:nvPr/>
      </p:nvGrpSpPr>
      <p:grpSpPr>
        <a:xfrm>
          <a:off x="0" y="0"/>
          <a:ext cx="0" cy="0"/>
          <a:chOff x="0" y="0"/>
          <a:chExt cx="0" cy="0"/>
        </a:xfrm>
      </p:grpSpPr>
      <p:sp>
        <p:nvSpPr>
          <p:cNvPr id="2" name="Shape 0"/>
          <p:cNvSpPr/>
          <p:nvPr/>
        </p:nvSpPr>
        <p:spPr>
          <a:xfrm>
            <a:off x="0" y="0"/>
            <a:ext cx="6858000" cy="621792"/>
          </a:xfrm>
          <a:prstGeom prst="rect">
            <a:avLst/>
          </a:prstGeom>
          <a:solidFill>
            <a:srgbClr val="1E1E1E"/>
          </a:solidFill>
          <a:ln w="12700">
            <a:solidFill>
              <a:srgbClr val="1E1E1E"/>
            </a:solidFill>
            <a:prstDash val="solid"/>
          </a:ln>
        </p:spPr>
        <p:txBody>
          <a:bodyPr/>
          <a:lstStyle/>
          <a:p>
            <a:endParaRPr lang="en-US"/>
          </a:p>
        </p:txBody>
      </p:sp>
      <p:sp>
        <p:nvSpPr>
          <p:cNvPr id="8" name="Text 6"/>
          <p:cNvSpPr/>
          <p:nvPr/>
        </p:nvSpPr>
        <p:spPr>
          <a:xfrm>
            <a:off x="0" y="228600"/>
            <a:ext cx="6583680" cy="164592"/>
          </a:xfrm>
          <a:prstGeom prst="rect">
            <a:avLst/>
          </a:prstGeom>
          <a:noFill/>
          <a:ln/>
        </p:spPr>
        <p:txBody>
          <a:bodyPr wrap="square" lIns="0" tIns="0" rIns="0" bIns="0" rtlCol="0" anchor="ctr"/>
          <a:lstStyle/>
          <a:p>
            <a:pPr marL="0" indent="0" algn="r">
              <a:buNone/>
            </a:pPr>
            <a:r>
              <a:rPr lang="en-US" sz="750" kern="0" spc="150" dirty="0">
                <a:solidFill>
                  <a:srgbClr val="666666"/>
                </a:solidFill>
                <a:latin typeface="Calibri" pitchFamily="34" charset="0"/>
                <a:ea typeface="Calibri" pitchFamily="34" charset="-122"/>
                <a:cs typeface="Calibri" pitchFamily="34" charset="-120"/>
              </a:rPr>
              <a:t>KALSHI  ·  COMPANY OVERVIEW</a:t>
            </a:r>
            <a:endParaRPr lang="en-US" sz="750" dirty="0"/>
          </a:p>
        </p:txBody>
      </p:sp>
      <p:sp>
        <p:nvSpPr>
          <p:cNvPr id="9" name="Text 7"/>
          <p:cNvSpPr/>
          <p:nvPr/>
        </p:nvSpPr>
        <p:spPr>
          <a:xfrm>
            <a:off x="320040" y="768096"/>
            <a:ext cx="6217920" cy="475488"/>
          </a:xfrm>
          <a:prstGeom prst="rect">
            <a:avLst/>
          </a:prstGeom>
          <a:noFill/>
          <a:ln/>
        </p:spPr>
        <p:txBody>
          <a:bodyPr wrap="square" lIns="0" tIns="0" rIns="0" bIns="0" rtlCol="0" anchor="ctr"/>
          <a:lstStyle/>
          <a:p>
            <a:pPr marL="0" indent="0">
              <a:buNone/>
            </a:pPr>
            <a:r>
              <a:rPr lang="en-US" sz="2800" dirty="0">
                <a:solidFill>
                  <a:srgbClr val="1A1A1A"/>
                </a:solidFill>
                <a:latin typeface="Calibri" pitchFamily="34" charset="0"/>
                <a:ea typeface="Calibri" pitchFamily="34" charset="-122"/>
                <a:cs typeface="Calibri" pitchFamily="34" charset="-120"/>
              </a:rPr>
              <a:t>Company Overview</a:t>
            </a:r>
            <a:endParaRPr lang="en-US" sz="2800" dirty="0"/>
          </a:p>
        </p:txBody>
      </p:sp>
      <p:sp>
        <p:nvSpPr>
          <p:cNvPr id="10" name="Shape 8"/>
          <p:cNvSpPr/>
          <p:nvPr/>
        </p:nvSpPr>
        <p:spPr>
          <a:xfrm>
            <a:off x="320040" y="1298448"/>
            <a:ext cx="1645920" cy="32004"/>
          </a:xfrm>
          <a:prstGeom prst="rect">
            <a:avLst/>
          </a:prstGeom>
          <a:solidFill>
            <a:srgbClr val="1FAD5A"/>
          </a:solidFill>
          <a:ln w="12700">
            <a:solidFill>
              <a:srgbClr val="1FAD5A"/>
            </a:solidFill>
            <a:prstDash val="solid"/>
          </a:ln>
        </p:spPr>
        <p:txBody>
          <a:bodyPr/>
          <a:lstStyle/>
          <a:p>
            <a:endParaRPr lang="en-US"/>
          </a:p>
        </p:txBody>
      </p:sp>
      <p:grpSp>
        <p:nvGrpSpPr>
          <p:cNvPr id="48" name="Group 47">
            <a:extLst>
              <a:ext uri="{FF2B5EF4-FFF2-40B4-BE49-F238E27FC236}">
                <a16:creationId xmlns:a16="http://schemas.microsoft.com/office/drawing/2014/main" id="{9E3CFA13-8143-BA84-BF73-3A3AE60CFE37}"/>
              </a:ext>
            </a:extLst>
          </p:cNvPr>
          <p:cNvGrpSpPr/>
          <p:nvPr/>
        </p:nvGrpSpPr>
        <p:grpSpPr>
          <a:xfrm>
            <a:off x="320039" y="1495555"/>
            <a:ext cx="6217921" cy="1728216"/>
            <a:chOff x="320039" y="1444752"/>
            <a:chExt cx="6217921" cy="1728216"/>
          </a:xfrm>
        </p:grpSpPr>
        <p:sp>
          <p:nvSpPr>
            <p:cNvPr id="11" name="Shape 9"/>
            <p:cNvSpPr/>
            <p:nvPr/>
          </p:nvSpPr>
          <p:spPr>
            <a:xfrm>
              <a:off x="320040" y="1444752"/>
              <a:ext cx="6217920" cy="1604772"/>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12" name="Shape 10"/>
            <p:cNvSpPr/>
            <p:nvPr/>
          </p:nvSpPr>
          <p:spPr>
            <a:xfrm>
              <a:off x="320039" y="1444752"/>
              <a:ext cx="69427" cy="1604772"/>
            </a:xfrm>
            <a:prstGeom prst="rect">
              <a:avLst/>
            </a:prstGeom>
            <a:solidFill>
              <a:srgbClr val="C2E8D0"/>
            </a:solidFill>
            <a:ln w="12700">
              <a:solidFill>
                <a:srgbClr val="C2E8D0"/>
              </a:solidFill>
              <a:prstDash val="solid"/>
            </a:ln>
          </p:spPr>
          <p:txBody>
            <a:bodyPr/>
            <a:lstStyle/>
            <a:p>
              <a:endParaRPr lang="en-US"/>
            </a:p>
          </p:txBody>
        </p:sp>
        <p:sp>
          <p:nvSpPr>
            <p:cNvPr id="13" name="Text 11"/>
            <p:cNvSpPr/>
            <p:nvPr/>
          </p:nvSpPr>
          <p:spPr>
            <a:xfrm>
              <a:off x="502920" y="1536192"/>
              <a:ext cx="5870448" cy="1636776"/>
            </a:xfrm>
            <a:prstGeom prst="rect">
              <a:avLst/>
            </a:prstGeom>
            <a:noFill/>
            <a:ln/>
          </p:spPr>
          <p:txBody>
            <a:bodyPr wrap="square" lIns="0" tIns="0" rIns="0" bIns="0" rtlCol="0" anchor="t"/>
            <a:lstStyle/>
            <a:p>
              <a:pPr marL="0" indent="0">
                <a:spcAft>
                  <a:spcPts val="800"/>
                </a:spcAft>
                <a:buNone/>
              </a:pPr>
              <a:r>
                <a:rPr lang="en-US" sz="1150" dirty="0">
                  <a:solidFill>
                    <a:srgbClr val="444444"/>
                  </a:solidFill>
                  <a:latin typeface="Calibri" pitchFamily="34" charset="0"/>
                  <a:ea typeface="Calibri" pitchFamily="34" charset="-122"/>
                  <a:cs typeface="Calibri" pitchFamily="34" charset="-120"/>
                </a:rPr>
                <a:t>Kalshi is the only CFTC-regulated prediction market exchange in the United States. The platform allows retail and institutional participants to trade binary contracts on real-world outcomes — elections, economic indicators, weather, and sports.</a:t>
              </a:r>
              <a:endParaRPr lang="en-US" sz="1150" dirty="0"/>
            </a:p>
            <a:p>
              <a:pPr marL="0" indent="0">
                <a:spcAft>
                  <a:spcPts val="800"/>
                </a:spcAft>
                <a:buNone/>
              </a:pPr>
              <a:r>
                <a:rPr lang="en-US" sz="1150" dirty="0">
                  <a:solidFill>
                    <a:srgbClr val="444444"/>
                  </a:solidFill>
                  <a:latin typeface="Calibri" pitchFamily="34" charset="0"/>
                  <a:ea typeface="Calibri" pitchFamily="34" charset="-122"/>
                  <a:cs typeface="Calibri" pitchFamily="34" charset="-120"/>
                </a:rPr>
                <a:t>Unlike traditional forecasting, prediction markets aggregate crowd intelligence into price signals with genuine information value. Kalshi's federal exchange license creates a structural moat no U.S. competitor has replicated.</a:t>
              </a:r>
              <a:endParaRPr lang="en-US" sz="1150" dirty="0"/>
            </a:p>
          </p:txBody>
        </p:sp>
      </p:grpSp>
      <p:sp>
        <p:nvSpPr>
          <p:cNvPr id="14" name="Text 12"/>
          <p:cNvSpPr/>
          <p:nvPr/>
        </p:nvSpPr>
        <p:spPr>
          <a:xfrm>
            <a:off x="320040" y="3364932"/>
            <a:ext cx="6217920" cy="182880"/>
          </a:xfrm>
          <a:prstGeom prst="rect">
            <a:avLst/>
          </a:prstGeom>
          <a:noFill/>
          <a:ln/>
        </p:spPr>
        <p:txBody>
          <a:bodyPr wrap="square" lIns="0" tIns="0" rIns="0" bIns="0" rtlCol="0" anchor="ctr"/>
          <a:lstStyle/>
          <a:p>
            <a:pPr marL="0" indent="0">
              <a:buNone/>
            </a:pPr>
            <a:r>
              <a:rPr lang="en-US" sz="750" kern="0" spc="200" dirty="0">
                <a:solidFill>
                  <a:srgbClr val="777777"/>
                </a:solidFill>
                <a:latin typeface="Calibri" pitchFamily="34" charset="0"/>
                <a:ea typeface="Calibri" pitchFamily="34" charset="-122"/>
                <a:cs typeface="Calibri" pitchFamily="34" charset="-120"/>
              </a:rPr>
              <a:t>WHAT TRADES ON KALSHI</a:t>
            </a:r>
            <a:endParaRPr lang="en-US" sz="750" dirty="0"/>
          </a:p>
        </p:txBody>
      </p:sp>
      <p:sp>
        <p:nvSpPr>
          <p:cNvPr id="15" name="Shape 13"/>
          <p:cNvSpPr/>
          <p:nvPr/>
        </p:nvSpPr>
        <p:spPr>
          <a:xfrm>
            <a:off x="320040" y="3602270"/>
            <a:ext cx="6217920" cy="32004"/>
          </a:xfrm>
          <a:prstGeom prst="rect">
            <a:avLst/>
          </a:prstGeom>
          <a:solidFill>
            <a:srgbClr val="D4D4D0"/>
          </a:solidFill>
          <a:ln w="12700">
            <a:solidFill>
              <a:srgbClr val="D4D4D0"/>
            </a:solidFill>
            <a:prstDash val="solid"/>
          </a:ln>
        </p:spPr>
        <p:txBody>
          <a:bodyPr/>
          <a:lstStyle/>
          <a:p>
            <a:endParaRPr lang="en-US"/>
          </a:p>
        </p:txBody>
      </p:sp>
      <p:sp>
        <p:nvSpPr>
          <p:cNvPr id="16" name="Shape 14"/>
          <p:cNvSpPr/>
          <p:nvPr/>
        </p:nvSpPr>
        <p:spPr>
          <a:xfrm>
            <a:off x="320040" y="3662287"/>
            <a:ext cx="6240490" cy="402336"/>
          </a:xfrm>
          <a:prstGeom prst="rect">
            <a:avLst/>
          </a:prstGeom>
          <a:solidFill>
            <a:srgbClr val="FFFFFF"/>
          </a:solidFill>
          <a:ln w="3810">
            <a:solidFill>
              <a:srgbClr val="D4D4D0"/>
            </a:solidFill>
            <a:prstDash val="solid"/>
          </a:ln>
        </p:spPr>
        <p:txBody>
          <a:bodyPr/>
          <a:lstStyle/>
          <a:p>
            <a:endParaRPr lang="en-US"/>
          </a:p>
        </p:txBody>
      </p:sp>
      <p:sp>
        <p:nvSpPr>
          <p:cNvPr id="17" name="Text 15"/>
          <p:cNvSpPr/>
          <p:nvPr/>
        </p:nvSpPr>
        <p:spPr>
          <a:xfrm>
            <a:off x="457200" y="3721139"/>
            <a:ext cx="2194560" cy="237744"/>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Politics &amp; Government</a:t>
            </a:r>
            <a:endParaRPr lang="en-US" sz="1000" dirty="0"/>
          </a:p>
        </p:txBody>
      </p:sp>
      <p:sp>
        <p:nvSpPr>
          <p:cNvPr id="18" name="Text 16"/>
          <p:cNvSpPr/>
          <p:nvPr/>
        </p:nvSpPr>
        <p:spPr>
          <a:xfrm>
            <a:off x="2697480" y="3721139"/>
            <a:ext cx="365760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Elections, policy decisions, legislation outcomes</a:t>
            </a:r>
            <a:endParaRPr lang="en-US" sz="950" dirty="0"/>
          </a:p>
        </p:txBody>
      </p:sp>
      <p:sp>
        <p:nvSpPr>
          <p:cNvPr id="19" name="Shape 17"/>
          <p:cNvSpPr/>
          <p:nvPr/>
        </p:nvSpPr>
        <p:spPr>
          <a:xfrm>
            <a:off x="320040" y="4114331"/>
            <a:ext cx="6217920" cy="402336"/>
          </a:xfrm>
          <a:prstGeom prst="rect">
            <a:avLst/>
          </a:prstGeom>
          <a:solidFill>
            <a:srgbClr val="EEEEEB"/>
          </a:solidFill>
          <a:ln w="3810">
            <a:solidFill>
              <a:srgbClr val="D4D4D0"/>
            </a:solidFill>
            <a:prstDash val="solid"/>
          </a:ln>
        </p:spPr>
        <p:txBody>
          <a:bodyPr/>
          <a:lstStyle/>
          <a:p>
            <a:endParaRPr lang="en-US"/>
          </a:p>
        </p:txBody>
      </p:sp>
      <p:sp>
        <p:nvSpPr>
          <p:cNvPr id="20" name="Text 18"/>
          <p:cNvSpPr/>
          <p:nvPr/>
        </p:nvSpPr>
        <p:spPr>
          <a:xfrm>
            <a:off x="457200" y="4196627"/>
            <a:ext cx="2194560" cy="237744"/>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Economics &amp; Finance</a:t>
            </a:r>
            <a:endParaRPr lang="en-US" sz="1000" dirty="0"/>
          </a:p>
        </p:txBody>
      </p:sp>
      <p:sp>
        <p:nvSpPr>
          <p:cNvPr id="21" name="Text 19"/>
          <p:cNvSpPr/>
          <p:nvPr/>
        </p:nvSpPr>
        <p:spPr>
          <a:xfrm>
            <a:off x="2697480" y="4196627"/>
            <a:ext cx="365760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Fed rate decisions, CPI, employment data</a:t>
            </a:r>
            <a:endParaRPr lang="en-US" sz="950" dirty="0"/>
          </a:p>
        </p:txBody>
      </p:sp>
      <p:sp>
        <p:nvSpPr>
          <p:cNvPr id="22" name="Shape 20"/>
          <p:cNvSpPr/>
          <p:nvPr/>
        </p:nvSpPr>
        <p:spPr>
          <a:xfrm>
            <a:off x="320040" y="4589819"/>
            <a:ext cx="6217920" cy="402336"/>
          </a:xfrm>
          <a:prstGeom prst="rect">
            <a:avLst/>
          </a:prstGeom>
          <a:solidFill>
            <a:srgbClr val="FFFFFF"/>
          </a:solidFill>
          <a:ln w="3810">
            <a:solidFill>
              <a:srgbClr val="D4D4D0"/>
            </a:solidFill>
            <a:prstDash val="solid"/>
          </a:ln>
        </p:spPr>
        <p:txBody>
          <a:bodyPr/>
          <a:lstStyle/>
          <a:p>
            <a:endParaRPr lang="en-US"/>
          </a:p>
        </p:txBody>
      </p:sp>
      <p:sp>
        <p:nvSpPr>
          <p:cNvPr id="23" name="Text 21"/>
          <p:cNvSpPr/>
          <p:nvPr/>
        </p:nvSpPr>
        <p:spPr>
          <a:xfrm>
            <a:off x="457200" y="4672115"/>
            <a:ext cx="2194560" cy="237744"/>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Sports</a:t>
            </a:r>
            <a:endParaRPr lang="en-US" sz="1000" dirty="0"/>
          </a:p>
        </p:txBody>
      </p:sp>
      <p:sp>
        <p:nvSpPr>
          <p:cNvPr id="24" name="Text 22"/>
          <p:cNvSpPr/>
          <p:nvPr/>
        </p:nvSpPr>
        <p:spPr>
          <a:xfrm>
            <a:off x="2697480" y="4672115"/>
            <a:ext cx="365760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NFL, NBA, NHL — exclusive partnerships</a:t>
            </a:r>
            <a:endParaRPr lang="en-US" sz="950" dirty="0"/>
          </a:p>
        </p:txBody>
      </p:sp>
      <p:sp>
        <p:nvSpPr>
          <p:cNvPr id="25" name="Shape 23"/>
          <p:cNvSpPr/>
          <p:nvPr/>
        </p:nvSpPr>
        <p:spPr>
          <a:xfrm>
            <a:off x="320040" y="5065307"/>
            <a:ext cx="6217920" cy="402336"/>
          </a:xfrm>
          <a:prstGeom prst="rect">
            <a:avLst/>
          </a:prstGeom>
          <a:solidFill>
            <a:srgbClr val="EEEEEB"/>
          </a:solidFill>
          <a:ln w="3810">
            <a:solidFill>
              <a:srgbClr val="D4D4D0"/>
            </a:solidFill>
            <a:prstDash val="solid"/>
          </a:ln>
        </p:spPr>
        <p:txBody>
          <a:bodyPr/>
          <a:lstStyle/>
          <a:p>
            <a:endParaRPr lang="en-US"/>
          </a:p>
        </p:txBody>
      </p:sp>
      <p:sp>
        <p:nvSpPr>
          <p:cNvPr id="26" name="Text 24"/>
          <p:cNvSpPr/>
          <p:nvPr/>
        </p:nvSpPr>
        <p:spPr>
          <a:xfrm>
            <a:off x="457200" y="5147603"/>
            <a:ext cx="2194560" cy="237744"/>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Crypto &amp; Technology</a:t>
            </a:r>
            <a:endParaRPr lang="en-US" sz="1000" dirty="0"/>
          </a:p>
        </p:txBody>
      </p:sp>
      <p:sp>
        <p:nvSpPr>
          <p:cNvPr id="27" name="Text 25"/>
          <p:cNvSpPr/>
          <p:nvPr/>
        </p:nvSpPr>
        <p:spPr>
          <a:xfrm>
            <a:off x="2697480" y="5147603"/>
            <a:ext cx="365760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Bitcoin price, company earnings, product launches</a:t>
            </a:r>
            <a:endParaRPr lang="en-US" sz="950" dirty="0"/>
          </a:p>
        </p:txBody>
      </p:sp>
      <p:sp>
        <p:nvSpPr>
          <p:cNvPr id="28" name="Shape 26"/>
          <p:cNvSpPr/>
          <p:nvPr/>
        </p:nvSpPr>
        <p:spPr>
          <a:xfrm>
            <a:off x="320040" y="5540795"/>
            <a:ext cx="6217920" cy="402336"/>
          </a:xfrm>
          <a:prstGeom prst="rect">
            <a:avLst/>
          </a:prstGeom>
          <a:solidFill>
            <a:srgbClr val="FFFFFF"/>
          </a:solidFill>
          <a:ln w="3810">
            <a:solidFill>
              <a:srgbClr val="D4D4D0"/>
            </a:solidFill>
            <a:prstDash val="solid"/>
          </a:ln>
        </p:spPr>
        <p:txBody>
          <a:bodyPr/>
          <a:lstStyle/>
          <a:p>
            <a:endParaRPr lang="en-US"/>
          </a:p>
        </p:txBody>
      </p:sp>
      <p:sp>
        <p:nvSpPr>
          <p:cNvPr id="29" name="Text 27"/>
          <p:cNvSpPr/>
          <p:nvPr/>
        </p:nvSpPr>
        <p:spPr>
          <a:xfrm>
            <a:off x="457200" y="5623091"/>
            <a:ext cx="2194560" cy="237744"/>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Weather &amp; Culture</a:t>
            </a:r>
            <a:endParaRPr lang="en-US" sz="1000" dirty="0"/>
          </a:p>
        </p:txBody>
      </p:sp>
      <p:sp>
        <p:nvSpPr>
          <p:cNvPr id="30" name="Text 28"/>
          <p:cNvSpPr/>
          <p:nvPr/>
        </p:nvSpPr>
        <p:spPr>
          <a:xfrm>
            <a:off x="2697480" y="5623091"/>
            <a:ext cx="365760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Climate events, awards, entertainment</a:t>
            </a:r>
            <a:endParaRPr lang="en-US" sz="950" dirty="0"/>
          </a:p>
        </p:txBody>
      </p:sp>
      <p:sp>
        <p:nvSpPr>
          <p:cNvPr id="31" name="Text 29"/>
          <p:cNvSpPr/>
          <p:nvPr/>
        </p:nvSpPr>
        <p:spPr>
          <a:xfrm>
            <a:off x="300942" y="6013774"/>
            <a:ext cx="6217920" cy="221285"/>
          </a:xfrm>
          <a:prstGeom prst="rect">
            <a:avLst/>
          </a:prstGeom>
          <a:noFill/>
          <a:ln/>
        </p:spPr>
        <p:txBody>
          <a:bodyPr wrap="square" lIns="0" tIns="0" rIns="0" bIns="0" rtlCol="0" anchor="ctr"/>
          <a:lstStyle/>
          <a:p>
            <a:pPr marL="0" indent="0">
              <a:buNone/>
            </a:pPr>
            <a:r>
              <a:rPr lang="en-US" sz="750" kern="0" spc="200" dirty="0">
                <a:solidFill>
                  <a:srgbClr val="777777"/>
                </a:solidFill>
                <a:latin typeface="Calibri" pitchFamily="34" charset="0"/>
                <a:ea typeface="Calibri" pitchFamily="34" charset="-122"/>
                <a:cs typeface="Calibri" pitchFamily="34" charset="-120"/>
              </a:rPr>
              <a:t>REGULATORY POSITION</a:t>
            </a:r>
            <a:endParaRPr lang="en-US" sz="750" dirty="0"/>
          </a:p>
        </p:txBody>
      </p:sp>
      <p:sp>
        <p:nvSpPr>
          <p:cNvPr id="32" name="Shape 30"/>
          <p:cNvSpPr/>
          <p:nvPr/>
        </p:nvSpPr>
        <p:spPr>
          <a:xfrm>
            <a:off x="312420" y="6769012"/>
            <a:ext cx="6217920" cy="21859"/>
          </a:xfrm>
          <a:prstGeom prst="rect">
            <a:avLst/>
          </a:prstGeom>
          <a:solidFill>
            <a:srgbClr val="D4D4D0"/>
          </a:solidFill>
          <a:ln w="12700">
            <a:solidFill>
              <a:srgbClr val="D4D4D0"/>
            </a:solidFill>
            <a:prstDash val="solid"/>
          </a:ln>
        </p:spPr>
        <p:txBody>
          <a:bodyPr/>
          <a:lstStyle/>
          <a:p>
            <a:endParaRPr lang="en-US"/>
          </a:p>
        </p:txBody>
      </p:sp>
      <p:sp>
        <p:nvSpPr>
          <p:cNvPr id="200" name="RegBlurb"/>
          <p:cNvSpPr/>
          <p:nvPr/>
        </p:nvSpPr>
        <p:spPr>
          <a:xfrm>
            <a:off x="347472" y="6311812"/>
            <a:ext cx="6217920" cy="292608"/>
          </a:xfrm>
          <a:prstGeom prst="rect">
            <a:avLst/>
          </a:prstGeom>
          <a:noFill/>
          <a:ln>
            <a:noFill/>
          </a:ln>
        </p:spPr>
        <p:txBody>
          <a:bodyPr wrap="square" lIns="0" tIns="0" rIns="0" bIns="0" rtlCol="0" anchor="ctr"/>
          <a:lstStyle/>
          <a:p>
            <a:pPr marL="0" indent="0">
              <a:buNone/>
            </a:pPr>
            <a:r>
              <a:rPr lang="en-US" sz="850" dirty="0">
                <a:solidFill>
                  <a:srgbClr val="555555"/>
                </a:solidFill>
                <a:latin typeface="Calibri" pitchFamily="34" charset="0"/>
              </a:rPr>
              <a:t>Kalshi’s CFTC DCM license creates a structural barrier to entry that competing platforms cannot easily replicate — Polymarket operates offshore and remains blocked from U.S. markets following a 2022 settlement. No other platform has obtained a comparable federal exchange license for prediction markets in the U.S.</a:t>
            </a:r>
          </a:p>
        </p:txBody>
      </p:sp>
      <p:sp>
        <p:nvSpPr>
          <p:cNvPr id="33" name="Shape 31"/>
          <p:cNvSpPr/>
          <p:nvPr/>
        </p:nvSpPr>
        <p:spPr>
          <a:xfrm>
            <a:off x="312420" y="6815328"/>
            <a:ext cx="6217920" cy="621792"/>
          </a:xfrm>
          <a:prstGeom prst="rect">
            <a:avLst/>
          </a:prstGeom>
          <a:solidFill>
            <a:srgbClr val="FFFFFF"/>
          </a:solidFill>
          <a:ln w="381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34" name="Shape 32"/>
          <p:cNvSpPr/>
          <p:nvPr/>
        </p:nvSpPr>
        <p:spPr>
          <a:xfrm>
            <a:off x="312420" y="6815328"/>
            <a:ext cx="45720" cy="621792"/>
          </a:xfrm>
          <a:prstGeom prst="rect">
            <a:avLst/>
          </a:prstGeom>
          <a:solidFill>
            <a:srgbClr val="444444"/>
          </a:solidFill>
          <a:ln w="12700">
            <a:solidFill>
              <a:srgbClr val="444444"/>
            </a:solidFill>
            <a:prstDash val="solid"/>
          </a:ln>
        </p:spPr>
        <p:txBody>
          <a:bodyPr/>
          <a:lstStyle/>
          <a:p>
            <a:endParaRPr lang="en-US"/>
          </a:p>
        </p:txBody>
      </p:sp>
      <p:sp>
        <p:nvSpPr>
          <p:cNvPr id="35" name="Text 33"/>
          <p:cNvSpPr/>
          <p:nvPr/>
        </p:nvSpPr>
        <p:spPr>
          <a:xfrm>
            <a:off x="486156" y="6870192"/>
            <a:ext cx="5852160" cy="201168"/>
          </a:xfrm>
          <a:prstGeom prst="rect">
            <a:avLst/>
          </a:prstGeom>
          <a:noFill/>
          <a:ln/>
        </p:spPr>
        <p:txBody>
          <a:bodyPr wrap="square" lIns="0" tIns="0" rIns="0" bIns="0" rtlCol="0" anchor="ctr"/>
          <a:lstStyle/>
          <a:p>
            <a:pPr marL="0" indent="0">
              <a:buNone/>
            </a:pPr>
            <a:r>
              <a:rPr lang="en-US" sz="950" b="1" dirty="0">
                <a:solidFill>
                  <a:srgbClr val="1A1A1A"/>
                </a:solidFill>
                <a:latin typeface="Calibri" pitchFamily="34" charset="0"/>
                <a:ea typeface="Calibri" pitchFamily="34" charset="-122"/>
                <a:cs typeface="Calibri" pitchFamily="34" charset="-120"/>
              </a:rPr>
              <a:t>CFTC Designated Contract Market (DCM) License</a:t>
            </a:r>
            <a:endParaRPr lang="en-US" sz="950" dirty="0"/>
          </a:p>
        </p:txBody>
      </p:sp>
      <p:sp>
        <p:nvSpPr>
          <p:cNvPr id="36" name="Text 34"/>
          <p:cNvSpPr/>
          <p:nvPr/>
        </p:nvSpPr>
        <p:spPr>
          <a:xfrm>
            <a:off x="486156" y="7089648"/>
            <a:ext cx="5852160" cy="29260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Kalshi holds the only federal exchange license for prediction markets in the U.S. — obtained after an exhaustive multi-year CFTC review. This grants full legal authority to list event contracts as federally-regulated derivatives.</a:t>
            </a:r>
            <a:endParaRPr lang="en-US" sz="850" dirty="0"/>
          </a:p>
        </p:txBody>
      </p:sp>
      <p:sp>
        <p:nvSpPr>
          <p:cNvPr id="37" name="Shape 35"/>
          <p:cNvSpPr/>
          <p:nvPr/>
        </p:nvSpPr>
        <p:spPr>
          <a:xfrm>
            <a:off x="339852" y="7519416"/>
            <a:ext cx="6179010" cy="621792"/>
          </a:xfrm>
          <a:prstGeom prst="rect">
            <a:avLst/>
          </a:prstGeom>
          <a:solidFill>
            <a:srgbClr val="EEEEEB"/>
          </a:solidFill>
          <a:ln w="381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38" name="Shape 36"/>
          <p:cNvSpPr/>
          <p:nvPr/>
        </p:nvSpPr>
        <p:spPr>
          <a:xfrm>
            <a:off x="312420" y="7519416"/>
            <a:ext cx="45720" cy="621792"/>
          </a:xfrm>
          <a:prstGeom prst="rect">
            <a:avLst/>
          </a:prstGeom>
          <a:solidFill>
            <a:srgbClr val="444444"/>
          </a:solidFill>
          <a:ln w="12700">
            <a:solidFill>
              <a:srgbClr val="444444"/>
            </a:solidFill>
            <a:prstDash val="solid"/>
          </a:ln>
        </p:spPr>
        <p:txBody>
          <a:bodyPr/>
          <a:lstStyle/>
          <a:p>
            <a:endParaRPr lang="en-US"/>
          </a:p>
        </p:txBody>
      </p:sp>
      <p:sp>
        <p:nvSpPr>
          <p:cNvPr id="39" name="Text 37"/>
          <p:cNvSpPr/>
          <p:nvPr/>
        </p:nvSpPr>
        <p:spPr>
          <a:xfrm>
            <a:off x="486156" y="7574280"/>
            <a:ext cx="5852160" cy="201168"/>
          </a:xfrm>
          <a:prstGeom prst="rect">
            <a:avLst/>
          </a:prstGeom>
          <a:noFill/>
          <a:ln/>
        </p:spPr>
        <p:txBody>
          <a:bodyPr wrap="square" lIns="0" tIns="0" rIns="0" bIns="0" rtlCol="0" anchor="ctr"/>
          <a:lstStyle/>
          <a:p>
            <a:pPr marL="0" indent="0">
              <a:buNone/>
            </a:pPr>
            <a:r>
              <a:rPr lang="en-US" sz="950" b="1" dirty="0">
                <a:solidFill>
                  <a:srgbClr val="1A1A1A"/>
                </a:solidFill>
                <a:latin typeface="Calibri" pitchFamily="34" charset="0"/>
                <a:ea typeface="Calibri" pitchFamily="34" charset="-122"/>
                <a:cs typeface="Calibri" pitchFamily="34" charset="-120"/>
              </a:rPr>
              <a:t>2024 Landmark Legal Victory</a:t>
            </a:r>
            <a:endParaRPr lang="en-US" sz="950" dirty="0"/>
          </a:p>
        </p:txBody>
      </p:sp>
      <p:sp>
        <p:nvSpPr>
          <p:cNvPr id="40" name="Text 38"/>
          <p:cNvSpPr/>
          <p:nvPr/>
        </p:nvSpPr>
        <p:spPr>
          <a:xfrm>
            <a:off x="513588" y="7793736"/>
            <a:ext cx="5852160" cy="29260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Following a legal challenge that went to the federal courts, Kalshi won the right to list political event contracts — cementing its status and setting binding precedent. No other platform has achieved this regulatory standing.</a:t>
            </a:r>
            <a:endParaRPr lang="en-US" sz="850" dirty="0"/>
          </a:p>
        </p:txBody>
      </p:sp>
      <p:sp>
        <p:nvSpPr>
          <p:cNvPr id="41" name="Shape 39"/>
          <p:cNvSpPr/>
          <p:nvPr/>
        </p:nvSpPr>
        <p:spPr>
          <a:xfrm>
            <a:off x="301752" y="8223504"/>
            <a:ext cx="6217920" cy="621792"/>
          </a:xfrm>
          <a:prstGeom prst="rect">
            <a:avLst/>
          </a:prstGeom>
          <a:solidFill>
            <a:srgbClr val="FFFFFF"/>
          </a:solidFill>
          <a:ln w="381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42" name="Shape 40"/>
          <p:cNvSpPr/>
          <p:nvPr/>
        </p:nvSpPr>
        <p:spPr>
          <a:xfrm>
            <a:off x="301752" y="8223504"/>
            <a:ext cx="45720" cy="621792"/>
          </a:xfrm>
          <a:prstGeom prst="rect">
            <a:avLst/>
          </a:prstGeom>
          <a:solidFill>
            <a:srgbClr val="444444"/>
          </a:solidFill>
          <a:ln w="12700">
            <a:solidFill>
              <a:srgbClr val="444444"/>
            </a:solidFill>
            <a:prstDash val="solid"/>
          </a:ln>
        </p:spPr>
        <p:txBody>
          <a:bodyPr/>
          <a:lstStyle/>
          <a:p>
            <a:endParaRPr lang="en-US"/>
          </a:p>
        </p:txBody>
      </p:sp>
      <p:sp>
        <p:nvSpPr>
          <p:cNvPr id="43" name="Text 41"/>
          <p:cNvSpPr/>
          <p:nvPr/>
        </p:nvSpPr>
        <p:spPr>
          <a:xfrm>
            <a:off x="475488" y="8278368"/>
            <a:ext cx="5852160" cy="201168"/>
          </a:xfrm>
          <a:prstGeom prst="rect">
            <a:avLst/>
          </a:prstGeom>
          <a:noFill/>
          <a:ln/>
        </p:spPr>
        <p:txBody>
          <a:bodyPr wrap="square" lIns="0" tIns="0" rIns="0" bIns="0" rtlCol="0" anchor="ctr"/>
          <a:lstStyle/>
          <a:p>
            <a:pPr marL="0" indent="0">
              <a:buNone/>
            </a:pPr>
            <a:r>
              <a:rPr lang="en-US" sz="950" b="1" dirty="0">
                <a:solidFill>
                  <a:srgbClr val="1A1A1A"/>
                </a:solidFill>
                <a:latin typeface="Calibri" pitchFamily="34" charset="0"/>
                <a:ea typeface="Calibri" pitchFamily="34" charset="-122"/>
                <a:cs typeface="Calibri" pitchFamily="34" charset="-120"/>
              </a:rPr>
              <a:t>Structural Barrier to Entry</a:t>
            </a:r>
            <a:endParaRPr lang="en-US" sz="950" dirty="0"/>
          </a:p>
        </p:txBody>
      </p:sp>
      <p:sp>
        <p:nvSpPr>
          <p:cNvPr id="44" name="Text 42"/>
          <p:cNvSpPr/>
          <p:nvPr/>
        </p:nvSpPr>
        <p:spPr>
          <a:xfrm>
            <a:off x="475488" y="8497824"/>
            <a:ext cx="5852160" cy="29260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Polymarket — Kalshi's only meaningful competitor — has been blocked in the U.S. since a 2022 CFTC settlement and operates offshore using crypto infrastructure. Replicating Kalshi's DCM license requires years and significant legal resources.</a:t>
            </a:r>
            <a:endParaRPr lang="en-US" sz="850" dirty="0"/>
          </a:p>
        </p:txBody>
      </p:sp>
      <p:sp>
        <p:nvSpPr>
          <p:cNvPr id="45" name="Shape 43"/>
          <p:cNvSpPr/>
          <p:nvPr/>
        </p:nvSpPr>
        <p:spPr>
          <a:xfrm>
            <a:off x="0" y="8942832"/>
            <a:ext cx="6858000" cy="201168"/>
          </a:xfrm>
          <a:prstGeom prst="rect">
            <a:avLst/>
          </a:prstGeom>
          <a:solidFill>
            <a:srgbClr val="1E1E1E"/>
          </a:solidFill>
          <a:ln w="12700">
            <a:solidFill>
              <a:srgbClr val="1E1E1E"/>
            </a:solidFill>
            <a:prstDash val="solid"/>
          </a:ln>
        </p:spPr>
        <p:txBody>
          <a:bodyPr/>
          <a:lstStyle/>
          <a:p>
            <a:endParaRPr lang="en-US"/>
          </a:p>
        </p:txBody>
      </p:sp>
      <p:sp>
        <p:nvSpPr>
          <p:cNvPr id="46" name="Text 44"/>
          <p:cNvSpPr/>
          <p:nvPr/>
        </p:nvSpPr>
        <p:spPr>
          <a:xfrm>
            <a:off x="274320" y="8979408"/>
            <a:ext cx="6309360" cy="128016"/>
          </a:xfrm>
          <a:prstGeom prst="rect">
            <a:avLst/>
          </a:prstGeom>
          <a:noFill/>
          <a:ln/>
        </p:spPr>
        <p:txBody>
          <a:bodyPr wrap="square" lIns="0" tIns="0" rIns="0" bIns="0" rtlCol="0" anchor="ctr"/>
          <a:lstStyle/>
          <a:p>
            <a:pPr marL="0" indent="0">
              <a:buNone/>
            </a:pPr>
            <a:r>
              <a:rPr lang="en-US" sz="650" kern="0" spc="100" dirty="0">
                <a:solidFill>
                  <a:srgbClr val="555555"/>
                </a:solidFill>
                <a:latin typeface="Calibri" pitchFamily="34" charset="0"/>
                <a:ea typeface="Calibri" pitchFamily="34" charset="-122"/>
                <a:cs typeface="Calibri" pitchFamily="34" charset="-120"/>
              </a:rPr>
              <a:t>STRICTLY CONFIDENTIAL  ·  ID8 INVESTMENTS  </a:t>
            </a:r>
            <a:endParaRPr lang="en-US" sz="650" dirty="0"/>
          </a:p>
        </p:txBody>
      </p:sp>
      <p:pic>
        <p:nvPicPr>
          <p:cNvPr id="47" name="Google Shape;56;p13">
            <a:extLst>
              <a:ext uri="{FF2B5EF4-FFF2-40B4-BE49-F238E27FC236}">
                <a16:creationId xmlns:a16="http://schemas.microsoft.com/office/drawing/2014/main" id="{646871E9-3BEA-B465-7221-8439A82D0FF7}"/>
              </a:ext>
            </a:extLst>
          </p:cNvPr>
          <p:cNvPicPr preferRelativeResize="0"/>
          <p:nvPr/>
        </p:nvPicPr>
        <p:blipFill>
          <a:blip r:embed="rId3">
            <a:alphaModFix/>
          </a:blip>
          <a:stretch>
            <a:fillRect/>
          </a:stretch>
        </p:blipFill>
        <p:spPr>
          <a:xfrm>
            <a:off x="149352" y="180594"/>
            <a:ext cx="2243328" cy="2560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3"/>
        </a:solidFill>
        <a:effectLst/>
      </p:bgPr>
    </p:bg>
    <p:spTree>
      <p:nvGrpSpPr>
        <p:cNvPr id="1" name=""/>
        <p:cNvGrpSpPr/>
        <p:nvPr/>
      </p:nvGrpSpPr>
      <p:grpSpPr>
        <a:xfrm>
          <a:off x="0" y="0"/>
          <a:ext cx="0" cy="0"/>
          <a:chOff x="0" y="0"/>
          <a:chExt cx="0" cy="0"/>
        </a:xfrm>
      </p:grpSpPr>
      <p:sp>
        <p:nvSpPr>
          <p:cNvPr id="2" name="Shape 0"/>
          <p:cNvSpPr/>
          <p:nvPr/>
        </p:nvSpPr>
        <p:spPr>
          <a:xfrm>
            <a:off x="0" y="0"/>
            <a:ext cx="6858000" cy="750000"/>
          </a:xfrm>
          <a:prstGeom prst="rect">
            <a:avLst/>
          </a:prstGeom>
          <a:solidFill>
            <a:srgbClr val="1E1E1E"/>
          </a:solidFill>
          <a:ln w="12700">
            <a:solidFill>
              <a:srgbClr val="1E1E1E"/>
            </a:solidFill>
            <a:prstDash val="solid"/>
          </a:ln>
        </p:spPr>
        <p:txBody>
          <a:bodyPr/>
          <a:lstStyle/>
          <a:p>
            <a:endParaRPr lang="en-US"/>
          </a:p>
        </p:txBody>
      </p:sp>
      <p:sp>
        <p:nvSpPr>
          <p:cNvPr id="8" name="Text 6"/>
          <p:cNvSpPr/>
          <p:nvPr/>
        </p:nvSpPr>
        <p:spPr>
          <a:xfrm>
            <a:off x="0" y="228600"/>
            <a:ext cx="6583680" cy="164592"/>
          </a:xfrm>
          <a:prstGeom prst="rect">
            <a:avLst/>
          </a:prstGeom>
          <a:noFill/>
          <a:ln/>
        </p:spPr>
        <p:txBody>
          <a:bodyPr wrap="square" lIns="0" tIns="0" rIns="0" bIns="0" rtlCol="0" anchor="ctr"/>
          <a:lstStyle/>
          <a:p>
            <a:pPr marL="0" indent="0" algn="r">
              <a:buNone/>
            </a:pPr>
            <a:r>
              <a:rPr lang="en-US" sz="750" kern="0" spc="150" dirty="0">
                <a:solidFill>
                  <a:srgbClr val="666666"/>
                </a:solidFill>
                <a:latin typeface="Calibri" pitchFamily="34" charset="0"/>
                <a:ea typeface="Calibri" pitchFamily="34" charset="-122"/>
                <a:cs typeface="Calibri" pitchFamily="34" charset="-120"/>
              </a:rPr>
              <a:t>KALSHI  ·  TRACTION</a:t>
            </a:r>
            <a:endParaRPr lang="en-US" sz="750" dirty="0"/>
          </a:p>
        </p:txBody>
      </p:sp>
      <p:sp>
        <p:nvSpPr>
          <p:cNvPr id="9" name="Text 7"/>
          <p:cNvSpPr/>
          <p:nvPr/>
        </p:nvSpPr>
        <p:spPr>
          <a:xfrm>
            <a:off x="320040" y="768096"/>
            <a:ext cx="6217920" cy="877824"/>
          </a:xfrm>
          <a:prstGeom prst="rect">
            <a:avLst/>
          </a:prstGeom>
          <a:noFill/>
          <a:ln/>
        </p:spPr>
        <p:txBody>
          <a:bodyPr wrap="square" lIns="0" tIns="0" rIns="0" bIns="0" rtlCol="0" anchor="ctr"/>
          <a:lstStyle/>
          <a:p>
            <a:pPr marL="0" indent="0">
              <a:buNone/>
            </a:pPr>
            <a:r>
              <a:rPr lang="en-US" sz="2800" dirty="0">
                <a:solidFill>
                  <a:srgbClr val="1A1A1A"/>
                </a:solidFill>
                <a:latin typeface="Calibri" pitchFamily="34" charset="0"/>
                <a:ea typeface="Calibri" pitchFamily="34" charset="-122"/>
                <a:cs typeface="Calibri" pitchFamily="34" charset="-120"/>
              </a:rPr>
              <a:t>Growth</a:t>
            </a:r>
          </a:p>
          <a:p>
            <a:pPr marL="0" indent="0">
              <a:buNone/>
            </a:pPr>
            <a:r>
              <a:rPr lang="en-US" sz="2800" dirty="0">
                <a:solidFill>
                  <a:srgbClr val="1A1A1A"/>
                </a:solidFill>
                <a:latin typeface="Calibri" pitchFamily="34" charset="0"/>
                <a:ea typeface="Calibri" pitchFamily="34" charset="-122"/>
                <a:cs typeface="Calibri" pitchFamily="34" charset="-120"/>
              </a:rPr>
              <a:t>Validated by Data</a:t>
            </a:r>
            <a:endParaRPr lang="en-US" sz="2800" dirty="0"/>
          </a:p>
        </p:txBody>
      </p:sp>
      <p:sp>
        <p:nvSpPr>
          <p:cNvPr id="10" name="Shape 8"/>
          <p:cNvSpPr/>
          <p:nvPr/>
        </p:nvSpPr>
        <p:spPr>
          <a:xfrm>
            <a:off x="320040" y="1700784"/>
            <a:ext cx="1645920" cy="32004"/>
          </a:xfrm>
          <a:prstGeom prst="rect">
            <a:avLst/>
          </a:prstGeom>
          <a:solidFill>
            <a:srgbClr val="1FAD5A"/>
          </a:solidFill>
          <a:ln w="12700">
            <a:solidFill>
              <a:srgbClr val="1FAD5A"/>
            </a:solidFill>
            <a:prstDash val="solid"/>
          </a:ln>
        </p:spPr>
        <p:txBody>
          <a:bodyPr/>
          <a:lstStyle/>
          <a:p>
            <a:endParaRPr lang="en-US"/>
          </a:p>
        </p:txBody>
      </p:sp>
      <p:sp>
        <p:nvSpPr>
          <p:cNvPr id="11" name="Shape 9"/>
          <p:cNvSpPr/>
          <p:nvPr/>
        </p:nvSpPr>
        <p:spPr>
          <a:xfrm>
            <a:off x="0" y="1865376"/>
            <a:ext cx="6858000" cy="1920000"/>
          </a:xfrm>
          <a:prstGeom prst="rect">
            <a:avLst/>
          </a:prstGeom>
          <a:solidFill>
            <a:srgbClr val="EEEEEB"/>
          </a:solidFill>
          <a:ln w="12700">
            <a:solidFill>
              <a:srgbClr val="EEEEEB"/>
            </a:solidFill>
            <a:prstDash val="solid"/>
          </a:ln>
        </p:spPr>
        <p:txBody>
          <a:bodyPr/>
          <a:lstStyle/>
          <a:p>
            <a:endParaRPr lang="en-US"/>
          </a:p>
        </p:txBody>
      </p:sp>
      <p:sp>
        <p:nvSpPr>
          <p:cNvPr id="12" name="Text 10"/>
          <p:cNvSpPr/>
          <p:nvPr/>
        </p:nvSpPr>
        <p:spPr>
          <a:xfrm>
            <a:off x="320040" y="1956816"/>
            <a:ext cx="6492240" cy="182880"/>
          </a:xfrm>
          <a:prstGeom prst="rect">
            <a:avLst/>
          </a:prstGeom>
          <a:noFill/>
          <a:ln/>
        </p:spPr>
        <p:txBody>
          <a:bodyPr wrap="square" lIns="0" tIns="0" rIns="0" bIns="0" rtlCol="0" anchor="ctr"/>
          <a:lstStyle/>
          <a:p>
            <a:pPr marL="0" indent="0">
              <a:buNone/>
            </a:pPr>
            <a:r>
              <a:rPr lang="en-US" sz="750" kern="0" spc="100" dirty="0">
                <a:solidFill>
                  <a:srgbClr val="777777"/>
                </a:solidFill>
                <a:latin typeface="Calibri" pitchFamily="34" charset="0"/>
                <a:ea typeface="Calibri" pitchFamily="34" charset="-122"/>
                <a:cs typeface="Calibri" pitchFamily="34" charset="-120"/>
              </a:rPr>
              <a:t>ANNUALIZED NET REVENUE  ($mm)  ·  Jan 2025 – Jan 2026</a:t>
            </a:r>
            <a:endParaRPr lang="en-US" sz="750" dirty="0"/>
          </a:p>
        </p:txBody>
      </p:sp>
      <p:sp>
        <p:nvSpPr>
          <p:cNvPr id="13" name="Shape 11"/>
          <p:cNvSpPr/>
          <p:nvPr/>
        </p:nvSpPr>
        <p:spPr>
          <a:xfrm>
            <a:off x="347472" y="3624246"/>
            <a:ext cx="324612" cy="25600"/>
          </a:xfrm>
          <a:prstGeom prst="rect">
            <a:avLst/>
          </a:prstGeom>
          <a:solidFill>
            <a:srgbClr val="A8CDB8"/>
          </a:solidFill>
          <a:ln w="12700">
            <a:solidFill>
              <a:srgbClr val="A8CDB8"/>
            </a:solidFill>
            <a:prstDash val="solid"/>
          </a:ln>
        </p:spPr>
        <p:txBody>
          <a:bodyPr/>
          <a:lstStyle/>
          <a:p>
            <a:endParaRPr lang="en-US"/>
          </a:p>
        </p:txBody>
      </p:sp>
      <p:sp>
        <p:nvSpPr>
          <p:cNvPr id="14" name="Text 12"/>
          <p:cNvSpPr/>
          <p:nvPr/>
        </p:nvSpPr>
        <p:spPr>
          <a:xfrm>
            <a:off x="219456" y="3477422"/>
            <a:ext cx="580644" cy="124236"/>
          </a:xfrm>
          <a:prstGeom prst="rect">
            <a:avLst/>
          </a:prstGeom>
          <a:noFill/>
          <a:ln/>
        </p:spPr>
        <p:txBody>
          <a:bodyPr wrap="square" lIns="0" tIns="0" rIns="0" bIns="0" rtlCol="0" anchor="ctr"/>
          <a:lstStyle/>
          <a:p>
            <a:pPr marL="0" indent="0" algn="ctr">
              <a:buNone/>
            </a:pPr>
            <a:r>
              <a:rPr lang="en-US" sz="750" b="1" dirty="0">
                <a:solidFill>
                  <a:srgbClr val="1A1A1A"/>
                </a:solidFill>
                <a:latin typeface="Calibri" pitchFamily="34" charset="0"/>
                <a:ea typeface="Calibri" pitchFamily="34" charset="-122"/>
                <a:cs typeface="Calibri" pitchFamily="34" charset="-120"/>
              </a:rPr>
              <a:t>$20</a:t>
            </a:r>
            <a:endParaRPr lang="en-US" sz="750" dirty="0"/>
          </a:p>
        </p:txBody>
      </p:sp>
      <p:sp>
        <p:nvSpPr>
          <p:cNvPr id="15" name="Text 13"/>
          <p:cNvSpPr/>
          <p:nvPr/>
        </p:nvSpPr>
        <p:spPr>
          <a:xfrm>
            <a:off x="347472"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J</a:t>
            </a:r>
            <a:endParaRPr lang="en-US" sz="700" dirty="0"/>
          </a:p>
        </p:txBody>
      </p:sp>
      <p:sp>
        <p:nvSpPr>
          <p:cNvPr id="16" name="Shape 14"/>
          <p:cNvSpPr/>
          <p:nvPr/>
        </p:nvSpPr>
        <p:spPr>
          <a:xfrm>
            <a:off x="813816" y="3617846"/>
            <a:ext cx="324612" cy="32000"/>
          </a:xfrm>
          <a:prstGeom prst="rect">
            <a:avLst/>
          </a:prstGeom>
          <a:solidFill>
            <a:srgbClr val="A8CDB8"/>
          </a:solidFill>
          <a:ln w="12700">
            <a:solidFill>
              <a:srgbClr val="A8CDB8"/>
            </a:solidFill>
            <a:prstDash val="solid"/>
          </a:ln>
        </p:spPr>
        <p:txBody>
          <a:bodyPr/>
          <a:lstStyle/>
          <a:p>
            <a:endParaRPr lang="en-US"/>
          </a:p>
        </p:txBody>
      </p:sp>
      <p:sp>
        <p:nvSpPr>
          <p:cNvPr id="17" name="Text 15"/>
          <p:cNvSpPr/>
          <p:nvPr/>
        </p:nvSpPr>
        <p:spPr>
          <a:xfrm>
            <a:off x="813816"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F</a:t>
            </a:r>
            <a:endParaRPr lang="en-US" sz="700" dirty="0"/>
          </a:p>
        </p:txBody>
      </p:sp>
      <p:sp>
        <p:nvSpPr>
          <p:cNvPr id="18" name="Shape 16"/>
          <p:cNvSpPr/>
          <p:nvPr/>
        </p:nvSpPr>
        <p:spPr>
          <a:xfrm>
            <a:off x="1280160" y="3557686"/>
            <a:ext cx="324612" cy="92160"/>
          </a:xfrm>
          <a:prstGeom prst="rect">
            <a:avLst/>
          </a:prstGeom>
          <a:solidFill>
            <a:srgbClr val="A8CDB8"/>
          </a:solidFill>
          <a:ln w="12700">
            <a:solidFill>
              <a:srgbClr val="A8CDB8"/>
            </a:solidFill>
            <a:prstDash val="solid"/>
          </a:ln>
        </p:spPr>
        <p:txBody>
          <a:bodyPr/>
          <a:lstStyle/>
          <a:p>
            <a:endParaRPr lang="en-US"/>
          </a:p>
        </p:txBody>
      </p:sp>
      <p:sp>
        <p:nvSpPr>
          <p:cNvPr id="19" name="Text 17"/>
          <p:cNvSpPr/>
          <p:nvPr/>
        </p:nvSpPr>
        <p:spPr>
          <a:xfrm>
            <a:off x="1280160"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M</a:t>
            </a:r>
            <a:endParaRPr lang="en-US" sz="700" dirty="0"/>
          </a:p>
        </p:txBody>
      </p:sp>
      <p:sp>
        <p:nvSpPr>
          <p:cNvPr id="20" name="Shape 18"/>
          <p:cNvSpPr/>
          <p:nvPr/>
        </p:nvSpPr>
        <p:spPr>
          <a:xfrm>
            <a:off x="1746504" y="3573046"/>
            <a:ext cx="324612" cy="76800"/>
          </a:xfrm>
          <a:prstGeom prst="rect">
            <a:avLst/>
          </a:prstGeom>
          <a:solidFill>
            <a:srgbClr val="A8CDB8"/>
          </a:solidFill>
          <a:ln w="12700">
            <a:solidFill>
              <a:srgbClr val="A8CDB8"/>
            </a:solidFill>
            <a:prstDash val="solid"/>
          </a:ln>
        </p:spPr>
        <p:txBody>
          <a:bodyPr/>
          <a:lstStyle/>
          <a:p>
            <a:endParaRPr lang="en-US"/>
          </a:p>
        </p:txBody>
      </p:sp>
      <p:sp>
        <p:nvSpPr>
          <p:cNvPr id="21" name="Text 19"/>
          <p:cNvSpPr/>
          <p:nvPr/>
        </p:nvSpPr>
        <p:spPr>
          <a:xfrm>
            <a:off x="1746504"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A</a:t>
            </a:r>
            <a:endParaRPr lang="en-US" sz="700" dirty="0"/>
          </a:p>
        </p:txBody>
      </p:sp>
      <p:sp>
        <p:nvSpPr>
          <p:cNvPr id="22" name="Shape 20"/>
          <p:cNvSpPr/>
          <p:nvPr/>
        </p:nvSpPr>
        <p:spPr>
          <a:xfrm>
            <a:off x="2212848" y="3534646"/>
            <a:ext cx="324612" cy="115200"/>
          </a:xfrm>
          <a:prstGeom prst="rect">
            <a:avLst/>
          </a:prstGeom>
          <a:solidFill>
            <a:srgbClr val="A8CDB8"/>
          </a:solidFill>
          <a:ln w="12700">
            <a:solidFill>
              <a:srgbClr val="A8CDB8"/>
            </a:solidFill>
            <a:prstDash val="solid"/>
          </a:ln>
        </p:spPr>
        <p:txBody>
          <a:bodyPr/>
          <a:lstStyle/>
          <a:p>
            <a:endParaRPr lang="en-US"/>
          </a:p>
        </p:txBody>
      </p:sp>
      <p:sp>
        <p:nvSpPr>
          <p:cNvPr id="23" name="Text 21"/>
          <p:cNvSpPr/>
          <p:nvPr/>
        </p:nvSpPr>
        <p:spPr>
          <a:xfrm>
            <a:off x="2212848"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M</a:t>
            </a:r>
            <a:endParaRPr lang="en-US" sz="700" dirty="0"/>
          </a:p>
        </p:txBody>
      </p:sp>
      <p:sp>
        <p:nvSpPr>
          <p:cNvPr id="24" name="Shape 22"/>
          <p:cNvSpPr/>
          <p:nvPr/>
        </p:nvSpPr>
        <p:spPr>
          <a:xfrm>
            <a:off x="2679192" y="3523126"/>
            <a:ext cx="324612" cy="126720"/>
          </a:xfrm>
          <a:prstGeom prst="rect">
            <a:avLst/>
          </a:prstGeom>
          <a:solidFill>
            <a:srgbClr val="A8CDB8"/>
          </a:solidFill>
          <a:ln w="12700">
            <a:solidFill>
              <a:srgbClr val="A8CDB8"/>
            </a:solidFill>
            <a:prstDash val="solid"/>
          </a:ln>
        </p:spPr>
        <p:txBody>
          <a:bodyPr/>
          <a:lstStyle/>
          <a:p>
            <a:endParaRPr lang="en-US"/>
          </a:p>
        </p:txBody>
      </p:sp>
      <p:sp>
        <p:nvSpPr>
          <p:cNvPr id="25" name="Text 23"/>
          <p:cNvSpPr/>
          <p:nvPr/>
        </p:nvSpPr>
        <p:spPr>
          <a:xfrm>
            <a:off x="2679192"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J</a:t>
            </a:r>
            <a:endParaRPr lang="en-US" sz="700" dirty="0"/>
          </a:p>
        </p:txBody>
      </p:sp>
      <p:sp>
        <p:nvSpPr>
          <p:cNvPr id="26" name="Shape 24"/>
          <p:cNvSpPr/>
          <p:nvPr/>
        </p:nvSpPr>
        <p:spPr>
          <a:xfrm>
            <a:off x="3145536" y="3590966"/>
            <a:ext cx="324612" cy="58880"/>
          </a:xfrm>
          <a:prstGeom prst="rect">
            <a:avLst/>
          </a:prstGeom>
          <a:solidFill>
            <a:srgbClr val="A8CDB8"/>
          </a:solidFill>
          <a:ln w="12700">
            <a:solidFill>
              <a:srgbClr val="A8CDB8"/>
            </a:solidFill>
            <a:prstDash val="solid"/>
          </a:ln>
        </p:spPr>
        <p:txBody>
          <a:bodyPr/>
          <a:lstStyle/>
          <a:p>
            <a:endParaRPr lang="en-US"/>
          </a:p>
        </p:txBody>
      </p:sp>
      <p:sp>
        <p:nvSpPr>
          <p:cNvPr id="27" name="Text 25"/>
          <p:cNvSpPr/>
          <p:nvPr/>
        </p:nvSpPr>
        <p:spPr>
          <a:xfrm>
            <a:off x="3145536"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J</a:t>
            </a:r>
            <a:endParaRPr lang="en-US" sz="700" dirty="0"/>
          </a:p>
        </p:txBody>
      </p:sp>
      <p:sp>
        <p:nvSpPr>
          <p:cNvPr id="28" name="Shape 26"/>
          <p:cNvSpPr/>
          <p:nvPr/>
        </p:nvSpPr>
        <p:spPr>
          <a:xfrm>
            <a:off x="3611880" y="3515446"/>
            <a:ext cx="324612" cy="134400"/>
          </a:xfrm>
          <a:prstGeom prst="rect">
            <a:avLst/>
          </a:prstGeom>
          <a:solidFill>
            <a:srgbClr val="A8CDB8"/>
          </a:solidFill>
          <a:ln w="12700">
            <a:solidFill>
              <a:srgbClr val="A8CDB8"/>
            </a:solidFill>
            <a:prstDash val="solid"/>
          </a:ln>
        </p:spPr>
        <p:txBody>
          <a:bodyPr/>
          <a:lstStyle/>
          <a:p>
            <a:endParaRPr lang="en-US"/>
          </a:p>
        </p:txBody>
      </p:sp>
      <p:sp>
        <p:nvSpPr>
          <p:cNvPr id="29" name="Text 27"/>
          <p:cNvSpPr/>
          <p:nvPr/>
        </p:nvSpPr>
        <p:spPr>
          <a:xfrm>
            <a:off x="3611880"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A</a:t>
            </a:r>
            <a:endParaRPr lang="en-US" sz="700" dirty="0"/>
          </a:p>
        </p:txBody>
      </p:sp>
      <p:sp>
        <p:nvSpPr>
          <p:cNvPr id="30" name="Shape 28"/>
          <p:cNvSpPr/>
          <p:nvPr/>
        </p:nvSpPr>
        <p:spPr>
          <a:xfrm>
            <a:off x="4078224" y="3255606"/>
            <a:ext cx="324612" cy="394240"/>
          </a:xfrm>
          <a:prstGeom prst="rect">
            <a:avLst/>
          </a:prstGeom>
          <a:solidFill>
            <a:srgbClr val="A8CDB8"/>
          </a:solidFill>
          <a:ln w="12700">
            <a:solidFill>
              <a:srgbClr val="A8CDB8"/>
            </a:solidFill>
            <a:prstDash val="solid"/>
          </a:ln>
        </p:spPr>
        <p:txBody>
          <a:bodyPr/>
          <a:lstStyle/>
          <a:p>
            <a:endParaRPr lang="en-US"/>
          </a:p>
        </p:txBody>
      </p:sp>
      <p:sp>
        <p:nvSpPr>
          <p:cNvPr id="31" name="Text 29"/>
          <p:cNvSpPr/>
          <p:nvPr/>
        </p:nvSpPr>
        <p:spPr>
          <a:xfrm>
            <a:off x="3950208" y="3108783"/>
            <a:ext cx="580644" cy="124235"/>
          </a:xfrm>
          <a:prstGeom prst="rect">
            <a:avLst/>
          </a:prstGeom>
          <a:noFill/>
          <a:ln/>
        </p:spPr>
        <p:txBody>
          <a:bodyPr wrap="square" lIns="0" tIns="0" rIns="0" bIns="0" rtlCol="0" anchor="ctr"/>
          <a:lstStyle/>
          <a:p>
            <a:pPr marL="0" indent="0" algn="ctr">
              <a:buNone/>
            </a:pPr>
            <a:r>
              <a:rPr lang="en-US" sz="750" b="1" dirty="0">
                <a:solidFill>
                  <a:srgbClr val="1A1A1A"/>
                </a:solidFill>
                <a:latin typeface="Calibri" pitchFamily="34" charset="0"/>
                <a:ea typeface="Calibri" pitchFamily="34" charset="-122"/>
                <a:cs typeface="Calibri" pitchFamily="34" charset="-120"/>
              </a:rPr>
              <a:t>$308</a:t>
            </a:r>
            <a:endParaRPr lang="en-US" sz="750" dirty="0"/>
          </a:p>
        </p:txBody>
      </p:sp>
      <p:sp>
        <p:nvSpPr>
          <p:cNvPr id="32" name="Text 30"/>
          <p:cNvSpPr/>
          <p:nvPr/>
        </p:nvSpPr>
        <p:spPr>
          <a:xfrm>
            <a:off x="4078224"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S</a:t>
            </a:r>
            <a:endParaRPr lang="en-US" sz="700" dirty="0"/>
          </a:p>
        </p:txBody>
      </p:sp>
      <p:sp>
        <p:nvSpPr>
          <p:cNvPr id="33" name="Shape 31"/>
          <p:cNvSpPr/>
          <p:nvPr/>
        </p:nvSpPr>
        <p:spPr>
          <a:xfrm>
            <a:off x="4544568" y="2993206"/>
            <a:ext cx="324612" cy="656640"/>
          </a:xfrm>
          <a:prstGeom prst="rect">
            <a:avLst/>
          </a:prstGeom>
          <a:solidFill>
            <a:srgbClr val="A8CDB8"/>
          </a:solidFill>
          <a:ln w="12700">
            <a:solidFill>
              <a:srgbClr val="A8CDB8"/>
            </a:solidFill>
            <a:prstDash val="solid"/>
          </a:ln>
        </p:spPr>
        <p:txBody>
          <a:bodyPr/>
          <a:lstStyle/>
          <a:p>
            <a:endParaRPr lang="en-US"/>
          </a:p>
        </p:txBody>
      </p:sp>
      <p:sp>
        <p:nvSpPr>
          <p:cNvPr id="34" name="Text 32"/>
          <p:cNvSpPr/>
          <p:nvPr/>
        </p:nvSpPr>
        <p:spPr>
          <a:xfrm>
            <a:off x="4544568"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O</a:t>
            </a:r>
            <a:endParaRPr lang="en-US" sz="700" dirty="0"/>
          </a:p>
        </p:txBody>
      </p:sp>
      <p:sp>
        <p:nvSpPr>
          <p:cNvPr id="35" name="Shape 33"/>
          <p:cNvSpPr/>
          <p:nvPr/>
        </p:nvSpPr>
        <p:spPr>
          <a:xfrm>
            <a:off x="5010912" y="2801206"/>
            <a:ext cx="324612" cy="848640"/>
          </a:xfrm>
          <a:prstGeom prst="rect">
            <a:avLst/>
          </a:prstGeom>
          <a:solidFill>
            <a:srgbClr val="1FAD5A"/>
          </a:solidFill>
          <a:ln w="12700">
            <a:solidFill>
              <a:srgbClr val="1FAD5A"/>
            </a:solidFill>
            <a:prstDash val="solid"/>
          </a:ln>
        </p:spPr>
        <p:txBody>
          <a:bodyPr/>
          <a:lstStyle/>
          <a:p>
            <a:endParaRPr lang="en-US"/>
          </a:p>
        </p:txBody>
      </p:sp>
      <p:sp>
        <p:nvSpPr>
          <p:cNvPr id="36" name="Text 34"/>
          <p:cNvSpPr/>
          <p:nvPr/>
        </p:nvSpPr>
        <p:spPr>
          <a:xfrm>
            <a:off x="5010912"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N</a:t>
            </a:r>
            <a:endParaRPr lang="en-US" sz="700" dirty="0"/>
          </a:p>
        </p:txBody>
      </p:sp>
      <p:sp>
        <p:nvSpPr>
          <p:cNvPr id="37" name="Shape 35"/>
          <p:cNvSpPr/>
          <p:nvPr/>
        </p:nvSpPr>
        <p:spPr>
          <a:xfrm>
            <a:off x="5477256" y="2330166"/>
            <a:ext cx="324612" cy="1319680"/>
          </a:xfrm>
          <a:prstGeom prst="rect">
            <a:avLst/>
          </a:prstGeom>
          <a:solidFill>
            <a:srgbClr val="1FAD5A"/>
          </a:solidFill>
          <a:ln w="12700">
            <a:solidFill>
              <a:srgbClr val="1FAD5A"/>
            </a:solidFill>
            <a:prstDash val="solid"/>
          </a:ln>
        </p:spPr>
        <p:txBody>
          <a:bodyPr/>
          <a:lstStyle/>
          <a:p>
            <a:endParaRPr lang="en-US"/>
          </a:p>
        </p:txBody>
      </p:sp>
      <p:sp>
        <p:nvSpPr>
          <p:cNvPr id="38" name="Text 36"/>
          <p:cNvSpPr/>
          <p:nvPr/>
        </p:nvSpPr>
        <p:spPr>
          <a:xfrm>
            <a:off x="5349240" y="2183342"/>
            <a:ext cx="580644" cy="124236"/>
          </a:xfrm>
          <a:prstGeom prst="rect">
            <a:avLst/>
          </a:prstGeom>
          <a:noFill/>
          <a:ln/>
        </p:spPr>
        <p:txBody>
          <a:bodyPr wrap="square" lIns="0" tIns="0" rIns="0" bIns="0" rtlCol="0" anchor="ctr"/>
          <a:lstStyle/>
          <a:p>
            <a:pPr marL="0" indent="0" algn="ctr">
              <a:buNone/>
            </a:pPr>
            <a:r>
              <a:rPr lang="en-US" sz="750" b="1" dirty="0">
                <a:solidFill>
                  <a:srgbClr val="1A1A1A"/>
                </a:solidFill>
                <a:latin typeface="Calibri" pitchFamily="34" charset="0"/>
                <a:ea typeface="Calibri" pitchFamily="34" charset="-122"/>
                <a:cs typeface="Calibri" pitchFamily="34" charset="-120"/>
              </a:rPr>
              <a:t>$1,031</a:t>
            </a:r>
            <a:endParaRPr lang="en-US" sz="750" dirty="0"/>
          </a:p>
        </p:txBody>
      </p:sp>
      <p:sp>
        <p:nvSpPr>
          <p:cNvPr id="39" name="Text 37"/>
          <p:cNvSpPr/>
          <p:nvPr/>
        </p:nvSpPr>
        <p:spPr>
          <a:xfrm>
            <a:off x="5477256"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D</a:t>
            </a:r>
            <a:endParaRPr lang="en-US" sz="700" dirty="0"/>
          </a:p>
        </p:txBody>
      </p:sp>
      <p:sp>
        <p:nvSpPr>
          <p:cNvPr id="40" name="Shape 38"/>
          <p:cNvSpPr/>
          <p:nvPr/>
        </p:nvSpPr>
        <p:spPr>
          <a:xfrm>
            <a:off x="5943600" y="2113846"/>
            <a:ext cx="324612" cy="1536000"/>
          </a:xfrm>
          <a:prstGeom prst="rect">
            <a:avLst/>
          </a:prstGeom>
          <a:solidFill>
            <a:srgbClr val="1FAD5A"/>
          </a:solidFill>
          <a:ln w="12700">
            <a:solidFill>
              <a:srgbClr val="1FAD5A"/>
            </a:solidFill>
            <a:prstDash val="solid"/>
          </a:ln>
        </p:spPr>
        <p:txBody>
          <a:bodyPr/>
          <a:lstStyle/>
          <a:p>
            <a:endParaRPr lang="en-US"/>
          </a:p>
        </p:txBody>
      </p:sp>
      <p:sp>
        <p:nvSpPr>
          <p:cNvPr id="41" name="Text 39"/>
          <p:cNvSpPr/>
          <p:nvPr/>
        </p:nvSpPr>
        <p:spPr>
          <a:xfrm>
            <a:off x="5815584" y="1967023"/>
            <a:ext cx="580644" cy="124235"/>
          </a:xfrm>
          <a:prstGeom prst="rect">
            <a:avLst/>
          </a:prstGeom>
          <a:noFill/>
          <a:ln/>
        </p:spPr>
        <p:txBody>
          <a:bodyPr wrap="square" lIns="0" tIns="0" rIns="0" bIns="0" rtlCol="0" anchor="ctr"/>
          <a:lstStyle/>
          <a:p>
            <a:pPr marL="0" indent="0" algn="ctr">
              <a:buNone/>
            </a:pPr>
            <a:r>
              <a:rPr lang="en-US" sz="750" b="1" dirty="0">
                <a:solidFill>
                  <a:srgbClr val="1A1A1A"/>
                </a:solidFill>
                <a:latin typeface="Calibri" pitchFamily="34" charset="0"/>
                <a:ea typeface="Calibri" pitchFamily="34" charset="-122"/>
                <a:cs typeface="Calibri" pitchFamily="34" charset="-120"/>
              </a:rPr>
              <a:t>$1,200</a:t>
            </a:r>
            <a:endParaRPr lang="en-US" sz="750" dirty="0"/>
          </a:p>
        </p:txBody>
      </p:sp>
      <p:sp>
        <p:nvSpPr>
          <p:cNvPr id="42" name="Text 40"/>
          <p:cNvSpPr/>
          <p:nvPr/>
        </p:nvSpPr>
        <p:spPr>
          <a:xfrm>
            <a:off x="5943600" y="3683728"/>
            <a:ext cx="324612" cy="112942"/>
          </a:xfrm>
          <a:prstGeom prst="rect">
            <a:avLst/>
          </a:prstGeom>
          <a:noFill/>
          <a:ln/>
        </p:spPr>
        <p:txBody>
          <a:bodyPr wrap="square" lIns="0" tIns="0" rIns="0" bIns="0" rtlCol="0" anchor="ctr"/>
          <a:lstStyle/>
          <a:p>
            <a:pPr marL="0" indent="0" algn="ctr">
              <a:buNone/>
            </a:pPr>
            <a:r>
              <a:rPr lang="en-US" sz="700" dirty="0">
                <a:solidFill>
                  <a:srgbClr val="777777"/>
                </a:solidFill>
                <a:latin typeface="Calibri" pitchFamily="34" charset="0"/>
                <a:ea typeface="Calibri" pitchFamily="34" charset="-122"/>
                <a:cs typeface="Calibri" pitchFamily="34" charset="-120"/>
              </a:rPr>
              <a:t>J'26</a:t>
            </a:r>
            <a:endParaRPr lang="en-US" sz="700" dirty="0"/>
          </a:p>
        </p:txBody>
      </p:sp>
      <p:sp>
        <p:nvSpPr>
          <p:cNvPr id="201" name="FinLabel"/>
          <p:cNvSpPr/>
          <p:nvPr/>
        </p:nvSpPr>
        <p:spPr>
          <a:xfrm>
            <a:off x="320040" y="3885904"/>
            <a:ext cx="6217920" cy="109728"/>
          </a:xfrm>
          <a:prstGeom prst="rect">
            <a:avLst/>
          </a:prstGeom>
          <a:noFill/>
          <a:ln>
            <a:noFill/>
          </a:ln>
        </p:spPr>
        <p:txBody>
          <a:bodyPr wrap="square" lIns="0" tIns="0" rIns="0" bIns="0" rtlCol="0" anchor="ctr"/>
          <a:lstStyle/>
          <a:p>
            <a:pPr marL="0" indent="0">
              <a:buNone/>
            </a:pPr>
            <a:r>
              <a:rPr lang="en-US" sz="750" kern="0" spc="100" dirty="0">
                <a:solidFill>
                  <a:srgbClr val="777777"/>
                </a:solidFill>
                <a:latin typeface="Calibri" pitchFamily="34" charset="0"/>
              </a:rPr>
              <a:t>FINANCIAL SNAPSHOT  ($mm)</a:t>
            </a:r>
          </a:p>
        </p:txBody>
      </p:sp>
      <p:sp>
        <p:nvSpPr>
          <p:cNvPr id="202" name="FinDivider"/>
          <p:cNvSpPr/>
          <p:nvPr/>
        </p:nvSpPr>
        <p:spPr>
          <a:xfrm>
            <a:off x="320040" y="3994624"/>
            <a:ext cx="6217920" cy="18288"/>
          </a:xfrm>
          <a:prstGeom prst="rect">
            <a:avLst/>
          </a:prstGeom>
          <a:solidFill>
            <a:srgbClr val="D4D4D0"/>
          </a:solidFill>
          <a:ln w="3810">
            <a:solidFill>
              <a:srgbClr val="D4D4D0"/>
            </a:solidFill>
          </a:ln>
        </p:spPr>
        <p:txBody>
          <a:bodyPr/>
          <a:lstStyle/>
          <a:p>
            <a:endParaRPr lang="en-US"/>
          </a:p>
        </p:txBody>
      </p:sp>
      <p:sp>
        <p:nvSpPr>
          <p:cNvPr id="43" name="Shape 41"/>
          <p:cNvSpPr/>
          <p:nvPr/>
        </p:nvSpPr>
        <p:spPr>
          <a:xfrm>
            <a:off x="234315" y="5920225"/>
            <a:ext cx="3127248" cy="75000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44" name="Shape 42"/>
          <p:cNvSpPr/>
          <p:nvPr/>
        </p:nvSpPr>
        <p:spPr>
          <a:xfrm>
            <a:off x="234315" y="5920225"/>
            <a:ext cx="3127248" cy="36576"/>
          </a:xfrm>
          <a:prstGeom prst="rect">
            <a:avLst/>
          </a:prstGeom>
          <a:solidFill>
            <a:srgbClr val="1FAD5A"/>
          </a:solidFill>
          <a:ln w="12700">
            <a:solidFill>
              <a:srgbClr val="1FAD5A"/>
            </a:solidFill>
            <a:prstDash val="solid"/>
          </a:ln>
        </p:spPr>
        <p:txBody>
          <a:bodyPr/>
          <a:lstStyle/>
          <a:p>
            <a:endParaRPr lang="en-US"/>
          </a:p>
        </p:txBody>
      </p:sp>
      <p:sp>
        <p:nvSpPr>
          <p:cNvPr id="45" name="Text 43"/>
          <p:cNvSpPr/>
          <p:nvPr/>
        </p:nvSpPr>
        <p:spPr>
          <a:xfrm>
            <a:off x="380619" y="5973319"/>
            <a:ext cx="2011680" cy="530352"/>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30–40%</a:t>
            </a:r>
            <a:endParaRPr lang="en-US" sz="2400" dirty="0"/>
          </a:p>
        </p:txBody>
      </p:sp>
      <p:sp>
        <p:nvSpPr>
          <p:cNvPr id="46" name="Text 44"/>
          <p:cNvSpPr/>
          <p:nvPr/>
        </p:nvSpPr>
        <p:spPr>
          <a:xfrm>
            <a:off x="380619" y="6256487"/>
            <a:ext cx="2286000" cy="310896"/>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MoM Revenue Growth</a:t>
            </a:r>
            <a:endParaRPr lang="en-US" sz="900" dirty="0"/>
          </a:p>
        </p:txBody>
      </p:sp>
      <p:sp>
        <p:nvSpPr>
          <p:cNvPr id="47" name="Text 45"/>
          <p:cNvSpPr/>
          <p:nvPr/>
        </p:nvSpPr>
        <p:spPr>
          <a:xfrm>
            <a:off x="2383155" y="6008714"/>
            <a:ext cx="877824" cy="750000"/>
          </a:xfrm>
          <a:prstGeom prst="rect">
            <a:avLst/>
          </a:prstGeom>
          <a:noFill/>
          <a:ln/>
        </p:spPr>
        <p:txBody>
          <a:bodyPr wrap="square" lIns="0" tIns="0" rIns="0" bIns="0" rtlCol="0" anchor="ctr"/>
          <a:lstStyle/>
          <a:p>
            <a:pPr marL="0" indent="0" algn="r">
              <a:buNone/>
            </a:pPr>
            <a:r>
              <a:rPr lang="en-US" sz="800" dirty="0">
                <a:solidFill>
                  <a:srgbClr val="777777"/>
                </a:solidFill>
                <a:latin typeface="Calibri" pitchFamily="34" charset="0"/>
                <a:ea typeface="Calibri" pitchFamily="34" charset="-122"/>
                <a:cs typeface="Calibri" pitchFamily="34" charset="-120"/>
              </a:rPr>
              <a:t>Sustained</a:t>
            </a:r>
            <a:endParaRPr lang="en-US" sz="800" dirty="0"/>
          </a:p>
        </p:txBody>
      </p:sp>
      <p:sp>
        <p:nvSpPr>
          <p:cNvPr id="48" name="Shape 46"/>
          <p:cNvSpPr/>
          <p:nvPr/>
        </p:nvSpPr>
        <p:spPr>
          <a:xfrm>
            <a:off x="3526155" y="5920225"/>
            <a:ext cx="3127248" cy="75000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49" name="Shape 47"/>
          <p:cNvSpPr/>
          <p:nvPr/>
        </p:nvSpPr>
        <p:spPr>
          <a:xfrm>
            <a:off x="3526155" y="5920225"/>
            <a:ext cx="3127248" cy="36576"/>
          </a:xfrm>
          <a:prstGeom prst="rect">
            <a:avLst/>
          </a:prstGeom>
          <a:solidFill>
            <a:srgbClr val="D4D4D0"/>
          </a:solidFill>
          <a:ln w="12700">
            <a:solidFill>
              <a:srgbClr val="D4D4D0"/>
            </a:solidFill>
            <a:prstDash val="solid"/>
          </a:ln>
        </p:spPr>
        <p:txBody>
          <a:bodyPr/>
          <a:lstStyle/>
          <a:p>
            <a:endParaRPr lang="en-US"/>
          </a:p>
        </p:txBody>
      </p:sp>
      <p:sp>
        <p:nvSpPr>
          <p:cNvPr id="50" name="Text 48"/>
          <p:cNvSpPr/>
          <p:nvPr/>
        </p:nvSpPr>
        <p:spPr>
          <a:xfrm>
            <a:off x="3672459" y="5973319"/>
            <a:ext cx="2011680" cy="530352"/>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90%+</a:t>
            </a:r>
            <a:endParaRPr lang="en-US" sz="2400" dirty="0"/>
          </a:p>
        </p:txBody>
      </p:sp>
      <p:sp>
        <p:nvSpPr>
          <p:cNvPr id="51" name="Text 49"/>
          <p:cNvSpPr/>
          <p:nvPr/>
        </p:nvSpPr>
        <p:spPr>
          <a:xfrm>
            <a:off x="3672459" y="6256487"/>
            <a:ext cx="2286000" cy="310896"/>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Gross Margin</a:t>
            </a:r>
            <a:endParaRPr lang="en-US" sz="900" dirty="0"/>
          </a:p>
        </p:txBody>
      </p:sp>
      <p:sp>
        <p:nvSpPr>
          <p:cNvPr id="52" name="Text 50"/>
          <p:cNvSpPr/>
          <p:nvPr/>
        </p:nvSpPr>
        <p:spPr>
          <a:xfrm>
            <a:off x="5674995" y="6008714"/>
            <a:ext cx="877824" cy="750000"/>
          </a:xfrm>
          <a:prstGeom prst="rect">
            <a:avLst/>
          </a:prstGeom>
          <a:noFill/>
          <a:ln/>
        </p:spPr>
        <p:txBody>
          <a:bodyPr wrap="square" lIns="0" tIns="0" rIns="0" bIns="0" rtlCol="0" anchor="ctr"/>
          <a:lstStyle/>
          <a:p>
            <a:pPr marL="0" indent="0" algn="r">
              <a:buNone/>
            </a:pPr>
            <a:r>
              <a:rPr lang="en-US" sz="800" dirty="0">
                <a:solidFill>
                  <a:srgbClr val="777777"/>
                </a:solidFill>
                <a:latin typeface="Calibri" pitchFamily="34" charset="0"/>
                <a:ea typeface="Calibri" pitchFamily="34" charset="-122"/>
                <a:cs typeface="Calibri" pitchFamily="34" charset="-120"/>
              </a:rPr>
              <a:t>Jan '26</a:t>
            </a:r>
            <a:endParaRPr lang="en-US" sz="800" dirty="0"/>
          </a:p>
        </p:txBody>
      </p:sp>
      <p:sp>
        <p:nvSpPr>
          <p:cNvPr id="53" name="Shape 51"/>
          <p:cNvSpPr/>
          <p:nvPr/>
        </p:nvSpPr>
        <p:spPr>
          <a:xfrm>
            <a:off x="234315" y="6850225"/>
            <a:ext cx="3127248" cy="75000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54" name="Shape 52"/>
          <p:cNvSpPr/>
          <p:nvPr/>
        </p:nvSpPr>
        <p:spPr>
          <a:xfrm>
            <a:off x="234315" y="6850225"/>
            <a:ext cx="3127248" cy="36576"/>
          </a:xfrm>
          <a:prstGeom prst="rect">
            <a:avLst/>
          </a:prstGeom>
          <a:solidFill>
            <a:srgbClr val="D4D4D0"/>
          </a:solidFill>
          <a:ln w="12700">
            <a:solidFill>
              <a:srgbClr val="D4D4D0"/>
            </a:solidFill>
            <a:prstDash val="solid"/>
          </a:ln>
        </p:spPr>
        <p:txBody>
          <a:bodyPr/>
          <a:lstStyle/>
          <a:p>
            <a:endParaRPr lang="en-US"/>
          </a:p>
        </p:txBody>
      </p:sp>
      <p:sp>
        <p:nvSpPr>
          <p:cNvPr id="55" name="Text 53"/>
          <p:cNvSpPr/>
          <p:nvPr/>
        </p:nvSpPr>
        <p:spPr>
          <a:xfrm>
            <a:off x="380619" y="6903319"/>
            <a:ext cx="2011680" cy="530352"/>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8×</a:t>
            </a:r>
            <a:endParaRPr lang="en-US" sz="2400" dirty="0"/>
          </a:p>
        </p:txBody>
      </p:sp>
      <p:sp>
        <p:nvSpPr>
          <p:cNvPr id="56" name="Text 54"/>
          <p:cNvSpPr/>
          <p:nvPr/>
        </p:nvSpPr>
        <p:spPr>
          <a:xfrm>
            <a:off x="380619" y="7186487"/>
            <a:ext cx="2286000" cy="310896"/>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Volume Growth Since Jan '25</a:t>
            </a:r>
            <a:endParaRPr lang="en-US" sz="900" dirty="0"/>
          </a:p>
        </p:txBody>
      </p:sp>
      <p:sp>
        <p:nvSpPr>
          <p:cNvPr id="57" name="Text 55"/>
          <p:cNvSpPr/>
          <p:nvPr/>
        </p:nvSpPr>
        <p:spPr>
          <a:xfrm>
            <a:off x="2383155" y="6938714"/>
            <a:ext cx="877824" cy="750000"/>
          </a:xfrm>
          <a:prstGeom prst="rect">
            <a:avLst/>
          </a:prstGeom>
          <a:noFill/>
          <a:ln/>
        </p:spPr>
        <p:txBody>
          <a:bodyPr wrap="square" lIns="0" tIns="0" rIns="0" bIns="0" rtlCol="0" anchor="ctr"/>
          <a:lstStyle/>
          <a:p>
            <a:pPr marL="0" indent="0" algn="r">
              <a:buNone/>
            </a:pPr>
            <a:r>
              <a:rPr lang="en-US" sz="800" dirty="0">
                <a:solidFill>
                  <a:srgbClr val="777777"/>
                </a:solidFill>
                <a:latin typeface="Calibri" pitchFamily="34" charset="0"/>
                <a:ea typeface="Calibri" pitchFamily="34" charset="-122"/>
                <a:cs typeface="Calibri" pitchFamily="34" charset="-120"/>
              </a:rPr>
              <a:t>$179M → $11.1B</a:t>
            </a:r>
            <a:endParaRPr lang="en-US" sz="800" dirty="0"/>
          </a:p>
        </p:txBody>
      </p:sp>
      <p:sp>
        <p:nvSpPr>
          <p:cNvPr id="58" name="Shape 56"/>
          <p:cNvSpPr/>
          <p:nvPr/>
        </p:nvSpPr>
        <p:spPr>
          <a:xfrm>
            <a:off x="3526155" y="6850225"/>
            <a:ext cx="3127248" cy="75000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59" name="Shape 57"/>
          <p:cNvSpPr/>
          <p:nvPr/>
        </p:nvSpPr>
        <p:spPr>
          <a:xfrm>
            <a:off x="3526155" y="6850225"/>
            <a:ext cx="3127248" cy="36576"/>
          </a:xfrm>
          <a:prstGeom prst="rect">
            <a:avLst/>
          </a:prstGeom>
          <a:solidFill>
            <a:srgbClr val="D4D4D0"/>
          </a:solidFill>
          <a:ln w="12700">
            <a:solidFill>
              <a:srgbClr val="D4D4D0"/>
            </a:solidFill>
            <a:prstDash val="solid"/>
          </a:ln>
        </p:spPr>
        <p:txBody>
          <a:bodyPr/>
          <a:lstStyle/>
          <a:p>
            <a:endParaRPr lang="en-US"/>
          </a:p>
        </p:txBody>
      </p:sp>
      <p:sp>
        <p:nvSpPr>
          <p:cNvPr id="60" name="Text 58"/>
          <p:cNvSpPr/>
          <p:nvPr/>
        </p:nvSpPr>
        <p:spPr>
          <a:xfrm>
            <a:off x="3672459" y="6903319"/>
            <a:ext cx="2011680" cy="530352"/>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600%</a:t>
            </a:r>
            <a:endParaRPr lang="en-US" sz="2400" dirty="0"/>
          </a:p>
        </p:txBody>
      </p:sp>
      <p:sp>
        <p:nvSpPr>
          <p:cNvPr id="61" name="Text 59"/>
          <p:cNvSpPr/>
          <p:nvPr/>
        </p:nvSpPr>
        <p:spPr>
          <a:xfrm>
            <a:off x="3672459" y="7186487"/>
            <a:ext cx="2286000" cy="310896"/>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12-Mo Cohort Vol. Retention</a:t>
            </a:r>
            <a:endParaRPr lang="en-US" sz="900" dirty="0"/>
          </a:p>
        </p:txBody>
      </p:sp>
      <p:sp>
        <p:nvSpPr>
          <p:cNvPr id="62" name="Text 60"/>
          <p:cNvSpPr/>
          <p:nvPr/>
        </p:nvSpPr>
        <p:spPr>
          <a:xfrm>
            <a:off x="5674995" y="6938714"/>
            <a:ext cx="877824" cy="750000"/>
          </a:xfrm>
          <a:prstGeom prst="rect">
            <a:avLst/>
          </a:prstGeom>
          <a:noFill/>
          <a:ln/>
        </p:spPr>
        <p:txBody>
          <a:bodyPr wrap="square" lIns="0" tIns="0" rIns="0" bIns="0" rtlCol="0" anchor="ctr"/>
          <a:lstStyle/>
          <a:p>
            <a:pPr marL="0" indent="0" algn="r">
              <a:buNone/>
            </a:pPr>
            <a:r>
              <a:rPr lang="en-US" sz="800" dirty="0">
                <a:solidFill>
                  <a:srgbClr val="777777"/>
                </a:solidFill>
                <a:latin typeface="Calibri" pitchFamily="34" charset="0"/>
                <a:ea typeface="Calibri" pitchFamily="34" charset="-122"/>
                <a:cs typeface="Calibri" pitchFamily="34" charset="-120"/>
              </a:rPr>
              <a:t>Exceptional stickiness</a:t>
            </a:r>
            <a:endParaRPr lang="en-US" sz="800" dirty="0"/>
          </a:p>
        </p:txBody>
      </p:sp>
      <p:sp>
        <p:nvSpPr>
          <p:cNvPr id="63" name="Shape 61"/>
          <p:cNvSpPr/>
          <p:nvPr/>
        </p:nvSpPr>
        <p:spPr>
          <a:xfrm>
            <a:off x="234315" y="7780225"/>
            <a:ext cx="3127248" cy="75000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64" name="Shape 62"/>
          <p:cNvSpPr/>
          <p:nvPr/>
        </p:nvSpPr>
        <p:spPr>
          <a:xfrm>
            <a:off x="234315" y="7780225"/>
            <a:ext cx="3127248" cy="36576"/>
          </a:xfrm>
          <a:prstGeom prst="rect">
            <a:avLst/>
          </a:prstGeom>
          <a:solidFill>
            <a:srgbClr val="D4D4D0"/>
          </a:solidFill>
          <a:ln w="12700">
            <a:solidFill>
              <a:srgbClr val="D4D4D0"/>
            </a:solidFill>
            <a:prstDash val="solid"/>
          </a:ln>
        </p:spPr>
        <p:txBody>
          <a:bodyPr/>
          <a:lstStyle/>
          <a:p>
            <a:endParaRPr lang="en-US"/>
          </a:p>
        </p:txBody>
      </p:sp>
      <p:sp>
        <p:nvSpPr>
          <p:cNvPr id="65" name="Text 63"/>
          <p:cNvSpPr/>
          <p:nvPr/>
        </p:nvSpPr>
        <p:spPr>
          <a:xfrm>
            <a:off x="380619" y="7833319"/>
            <a:ext cx="2011680" cy="530352"/>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7 mo.</a:t>
            </a:r>
            <a:endParaRPr lang="en-US" sz="2400" dirty="0"/>
          </a:p>
        </p:txBody>
      </p:sp>
      <p:sp>
        <p:nvSpPr>
          <p:cNvPr id="66" name="Text 64"/>
          <p:cNvSpPr/>
          <p:nvPr/>
        </p:nvSpPr>
        <p:spPr>
          <a:xfrm>
            <a:off x="380619" y="8116487"/>
            <a:ext cx="2286000" cy="310896"/>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Customer Payback Period</a:t>
            </a:r>
            <a:endParaRPr lang="en-US" sz="900" dirty="0"/>
          </a:p>
        </p:txBody>
      </p:sp>
      <p:sp>
        <p:nvSpPr>
          <p:cNvPr id="67" name="Text 65"/>
          <p:cNvSpPr/>
          <p:nvPr/>
        </p:nvSpPr>
        <p:spPr>
          <a:xfrm>
            <a:off x="2383155" y="7868714"/>
            <a:ext cx="877824" cy="750000"/>
          </a:xfrm>
          <a:prstGeom prst="rect">
            <a:avLst/>
          </a:prstGeom>
          <a:noFill/>
          <a:ln/>
        </p:spPr>
        <p:txBody>
          <a:bodyPr wrap="square" lIns="0" tIns="0" rIns="0" bIns="0" rtlCol="0" anchor="ctr"/>
          <a:lstStyle/>
          <a:p>
            <a:pPr marL="0" indent="0" algn="r">
              <a:buNone/>
            </a:pPr>
            <a:r>
              <a:rPr lang="en-US" sz="800" dirty="0">
                <a:solidFill>
                  <a:srgbClr val="777777"/>
                </a:solidFill>
                <a:latin typeface="Calibri" pitchFamily="34" charset="0"/>
                <a:ea typeface="Calibri" pitchFamily="34" charset="-122"/>
                <a:cs typeface="Calibri" pitchFamily="34" charset="-120"/>
              </a:rPr>
              <a:t>Near-instant unit econ.</a:t>
            </a:r>
            <a:endParaRPr lang="en-US" sz="800" dirty="0"/>
          </a:p>
        </p:txBody>
      </p:sp>
      <p:sp>
        <p:nvSpPr>
          <p:cNvPr id="68" name="Shape 66"/>
          <p:cNvSpPr/>
          <p:nvPr/>
        </p:nvSpPr>
        <p:spPr>
          <a:xfrm>
            <a:off x="3526155" y="7780225"/>
            <a:ext cx="3127248" cy="750000"/>
          </a:xfrm>
          <a:prstGeom prst="rect">
            <a:avLst/>
          </a:prstGeom>
          <a:solidFill>
            <a:srgbClr val="FFFFFF"/>
          </a:solidFill>
          <a:ln w="635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69" name="Shape 67"/>
          <p:cNvSpPr/>
          <p:nvPr/>
        </p:nvSpPr>
        <p:spPr>
          <a:xfrm>
            <a:off x="3526155" y="7780225"/>
            <a:ext cx="3127248" cy="36576"/>
          </a:xfrm>
          <a:prstGeom prst="rect">
            <a:avLst/>
          </a:prstGeom>
          <a:solidFill>
            <a:srgbClr val="D4D4D0"/>
          </a:solidFill>
          <a:ln w="12700">
            <a:solidFill>
              <a:srgbClr val="D4D4D0"/>
            </a:solidFill>
            <a:prstDash val="solid"/>
          </a:ln>
        </p:spPr>
        <p:txBody>
          <a:bodyPr/>
          <a:lstStyle/>
          <a:p>
            <a:endParaRPr lang="en-US"/>
          </a:p>
        </p:txBody>
      </p:sp>
      <p:sp>
        <p:nvSpPr>
          <p:cNvPr id="70" name="Text 68"/>
          <p:cNvSpPr/>
          <p:nvPr/>
        </p:nvSpPr>
        <p:spPr>
          <a:xfrm>
            <a:off x="3672459" y="7833319"/>
            <a:ext cx="2011680" cy="530352"/>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$1.2B</a:t>
            </a:r>
            <a:endParaRPr lang="en-US" sz="2400" dirty="0"/>
          </a:p>
        </p:txBody>
      </p:sp>
      <p:sp>
        <p:nvSpPr>
          <p:cNvPr id="71" name="Text 69"/>
          <p:cNvSpPr/>
          <p:nvPr/>
        </p:nvSpPr>
        <p:spPr>
          <a:xfrm>
            <a:off x="3672459" y="8116487"/>
            <a:ext cx="2286000" cy="310896"/>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Cash on Balance Sheet</a:t>
            </a:r>
            <a:endParaRPr lang="en-US" sz="900" dirty="0"/>
          </a:p>
        </p:txBody>
      </p:sp>
      <p:sp>
        <p:nvSpPr>
          <p:cNvPr id="72" name="Text 70"/>
          <p:cNvSpPr/>
          <p:nvPr/>
        </p:nvSpPr>
        <p:spPr>
          <a:xfrm>
            <a:off x="5674995" y="7868714"/>
            <a:ext cx="877824" cy="750000"/>
          </a:xfrm>
          <a:prstGeom prst="rect">
            <a:avLst/>
          </a:prstGeom>
          <a:noFill/>
          <a:ln/>
        </p:spPr>
        <p:txBody>
          <a:bodyPr wrap="square" lIns="0" tIns="0" rIns="0" bIns="0" rtlCol="0" anchor="ctr"/>
          <a:lstStyle/>
          <a:p>
            <a:pPr marL="0" indent="0" algn="r">
              <a:buNone/>
            </a:pPr>
            <a:r>
              <a:rPr lang="en-US" sz="800" dirty="0">
                <a:solidFill>
                  <a:srgbClr val="777777"/>
                </a:solidFill>
                <a:latin typeface="Calibri" pitchFamily="34" charset="0"/>
                <a:ea typeface="Calibri" pitchFamily="34" charset="-122"/>
                <a:cs typeface="Calibri" pitchFamily="34" charset="-120"/>
              </a:rPr>
              <a:t>Post-Raise</a:t>
            </a:r>
            <a:endParaRPr lang="en-US" sz="800" dirty="0"/>
          </a:p>
        </p:txBody>
      </p:sp>
      <p:sp>
        <p:nvSpPr>
          <p:cNvPr id="73" name="Shape 71"/>
          <p:cNvSpPr/>
          <p:nvPr/>
        </p:nvSpPr>
        <p:spPr>
          <a:xfrm>
            <a:off x="0" y="8942832"/>
            <a:ext cx="6858000" cy="201168"/>
          </a:xfrm>
          <a:prstGeom prst="rect">
            <a:avLst/>
          </a:prstGeom>
          <a:solidFill>
            <a:srgbClr val="1E1E1E"/>
          </a:solidFill>
          <a:ln w="12700">
            <a:solidFill>
              <a:srgbClr val="1E1E1E"/>
            </a:solidFill>
            <a:prstDash val="solid"/>
          </a:ln>
        </p:spPr>
        <p:txBody>
          <a:bodyPr/>
          <a:lstStyle/>
          <a:p>
            <a:endParaRPr lang="en-US"/>
          </a:p>
        </p:txBody>
      </p:sp>
      <p:sp>
        <p:nvSpPr>
          <p:cNvPr id="74" name="Text 72"/>
          <p:cNvSpPr/>
          <p:nvPr/>
        </p:nvSpPr>
        <p:spPr>
          <a:xfrm>
            <a:off x="274320" y="8979408"/>
            <a:ext cx="6309360" cy="128016"/>
          </a:xfrm>
          <a:prstGeom prst="rect">
            <a:avLst/>
          </a:prstGeom>
          <a:noFill/>
          <a:ln/>
        </p:spPr>
        <p:txBody>
          <a:bodyPr wrap="square" lIns="0" tIns="0" rIns="0" bIns="0" rtlCol="0" anchor="ctr"/>
          <a:lstStyle/>
          <a:p>
            <a:pPr marL="0" indent="0">
              <a:buNone/>
            </a:pPr>
            <a:r>
              <a:rPr lang="en-US" sz="650" kern="0" spc="100" dirty="0">
                <a:solidFill>
                  <a:srgbClr val="555555"/>
                </a:solidFill>
                <a:latin typeface="Calibri" pitchFamily="34" charset="0"/>
                <a:ea typeface="Calibri" pitchFamily="34" charset="-122"/>
                <a:cs typeface="Calibri" pitchFamily="34" charset="-120"/>
              </a:rPr>
              <a:t>STRICTLY CONFIDENTIAL  ·  ID8 INVESTMENTS </a:t>
            </a:r>
            <a:endParaRPr lang="en-US" sz="650" dirty="0"/>
          </a:p>
        </p:txBody>
      </p:sp>
      <p:pic>
        <p:nvPicPr>
          <p:cNvPr id="75" name="Google Shape;56;p13">
            <a:extLst>
              <a:ext uri="{FF2B5EF4-FFF2-40B4-BE49-F238E27FC236}">
                <a16:creationId xmlns:a16="http://schemas.microsoft.com/office/drawing/2014/main" id="{048774DA-877A-32EB-1E9D-86766D3792A0}"/>
              </a:ext>
            </a:extLst>
          </p:cNvPr>
          <p:cNvPicPr preferRelativeResize="0"/>
          <p:nvPr/>
        </p:nvPicPr>
        <p:blipFill>
          <a:blip r:embed="rId3">
            <a:alphaModFix/>
          </a:blip>
          <a:stretch>
            <a:fillRect/>
          </a:stretch>
        </p:blipFill>
        <p:spPr>
          <a:xfrm>
            <a:off x="149352" y="180594"/>
            <a:ext cx="2243328" cy="256033"/>
          </a:xfrm>
          <a:prstGeom prst="rect">
            <a:avLst/>
          </a:prstGeom>
          <a:noFill/>
          <a:ln>
            <a:noFill/>
          </a:ln>
        </p:spPr>
      </p:pic>
      <p:graphicFrame>
        <p:nvGraphicFramePr>
          <p:cNvPr id="5" name="Table 4">
            <a:extLst>
              <a:ext uri="{FF2B5EF4-FFF2-40B4-BE49-F238E27FC236}">
                <a16:creationId xmlns:a16="http://schemas.microsoft.com/office/drawing/2014/main" id="{D0B69901-449D-C74D-EDF1-3800CFBE0510}"/>
              </a:ext>
            </a:extLst>
          </p:cNvPr>
          <p:cNvGraphicFramePr>
            <a:graphicFrameLocks noGrp="1"/>
          </p:cNvGraphicFramePr>
          <p:nvPr>
            <p:extLst>
              <p:ext uri="{D42A27DB-BD31-4B8C-83A1-F6EECF244321}">
                <p14:modId xmlns:p14="http://schemas.microsoft.com/office/powerpoint/2010/main" val="2328999900"/>
              </p:ext>
            </p:extLst>
          </p:nvPr>
        </p:nvGraphicFramePr>
        <p:xfrm>
          <a:off x="304038" y="4076999"/>
          <a:ext cx="6217920" cy="1711961"/>
        </p:xfrm>
        <a:graphic>
          <a:graphicData uri="http://schemas.openxmlformats.org/drawingml/2006/table">
            <a:tbl>
              <a:tblPr firstRow="1" firstCol="1" bandRow="1"/>
              <a:tblGrid>
                <a:gridCol w="1634198">
                  <a:extLst>
                    <a:ext uri="{9D8B030D-6E8A-4147-A177-3AD203B41FA5}">
                      <a16:colId xmlns:a16="http://schemas.microsoft.com/office/drawing/2014/main" val="4251530421"/>
                    </a:ext>
                  </a:extLst>
                </a:gridCol>
                <a:gridCol w="797169">
                  <a:extLst>
                    <a:ext uri="{9D8B030D-6E8A-4147-A177-3AD203B41FA5}">
                      <a16:colId xmlns:a16="http://schemas.microsoft.com/office/drawing/2014/main" val="1519865489"/>
                    </a:ext>
                  </a:extLst>
                </a:gridCol>
                <a:gridCol w="797169">
                  <a:extLst>
                    <a:ext uri="{9D8B030D-6E8A-4147-A177-3AD203B41FA5}">
                      <a16:colId xmlns:a16="http://schemas.microsoft.com/office/drawing/2014/main" val="3687546882"/>
                    </a:ext>
                  </a:extLst>
                </a:gridCol>
                <a:gridCol w="797169">
                  <a:extLst>
                    <a:ext uri="{9D8B030D-6E8A-4147-A177-3AD203B41FA5}">
                      <a16:colId xmlns:a16="http://schemas.microsoft.com/office/drawing/2014/main" val="1608836792"/>
                    </a:ext>
                  </a:extLst>
                </a:gridCol>
                <a:gridCol w="797169">
                  <a:extLst>
                    <a:ext uri="{9D8B030D-6E8A-4147-A177-3AD203B41FA5}">
                      <a16:colId xmlns:a16="http://schemas.microsoft.com/office/drawing/2014/main" val="3060267039"/>
                    </a:ext>
                  </a:extLst>
                </a:gridCol>
                <a:gridCol w="1395046">
                  <a:extLst>
                    <a:ext uri="{9D8B030D-6E8A-4147-A177-3AD203B41FA5}">
                      <a16:colId xmlns:a16="http://schemas.microsoft.com/office/drawing/2014/main" val="2827736828"/>
                    </a:ext>
                  </a:extLst>
                </a:gridCol>
              </a:tblGrid>
              <a:tr h="270206">
                <a:tc>
                  <a:txBody>
                    <a:bodyPr/>
                    <a:lstStyle/>
                    <a:p>
                      <a:pPr marL="0" marR="0">
                        <a:buNone/>
                      </a:pPr>
                      <a:r>
                        <a:rPr lang="en-US" sz="800" b="1">
                          <a:solidFill>
                            <a:srgbClr val="FFFFFF"/>
                          </a:solidFill>
                          <a:effectLst/>
                          <a:latin typeface="Sora"/>
                          <a:ea typeface="Sora"/>
                          <a:cs typeface="Sora"/>
                        </a:rPr>
                        <a:t>METRIC</a:t>
                      </a:r>
                      <a:endParaRPr lang="en-US" sz="900">
                        <a:solidFill>
                          <a:srgbClr val="1A1A1A"/>
                        </a:solidFill>
                        <a:effectLst/>
                        <a:latin typeface="Sora"/>
                        <a:ea typeface="Sora"/>
                        <a:cs typeface="Sora"/>
                      </a:endParaRPr>
                    </a:p>
                  </a:txBody>
                  <a:tcPr marL="88473" marR="50556" marT="50556" marB="50556">
                    <a:lnL w="12700" cap="flat" cmpd="sng" algn="ctr">
                      <a:solidFill>
                        <a:srgbClr val="444444"/>
                      </a:solidFill>
                      <a:prstDash val="solid"/>
                      <a:round/>
                      <a:headEnd type="none" w="med" len="med"/>
                      <a:tailEnd type="none" w="med" len="med"/>
                    </a:lnL>
                    <a:lnR w="12700" cap="flat" cmpd="sng" algn="ctr">
                      <a:solidFill>
                        <a:srgbClr val="444444"/>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444444"/>
                      </a:solidFill>
                      <a:prstDash val="solid"/>
                      <a:round/>
                      <a:headEnd type="none" w="med" len="med"/>
                      <a:tailEnd type="none" w="med" len="med"/>
                    </a:lnB>
                    <a:solidFill>
                      <a:srgbClr val="1A1A1A"/>
                    </a:solidFill>
                  </a:tcPr>
                </a:tc>
                <a:tc>
                  <a:txBody>
                    <a:bodyPr/>
                    <a:lstStyle/>
                    <a:p>
                      <a:pPr marL="0" marR="0" algn="r">
                        <a:buNone/>
                      </a:pPr>
                      <a:r>
                        <a:rPr lang="en-US" sz="800" b="1" dirty="0">
                          <a:solidFill>
                            <a:srgbClr val="FFFFFF"/>
                          </a:solidFill>
                          <a:effectLst/>
                          <a:latin typeface="Sora"/>
                          <a:ea typeface="Sora"/>
                          <a:cs typeface="Sora"/>
                        </a:rPr>
                        <a:t>Jan '25</a:t>
                      </a:r>
                      <a:endParaRPr lang="en-US" sz="900" dirty="0">
                        <a:solidFill>
                          <a:srgbClr val="1A1A1A"/>
                        </a:solidFill>
                        <a:effectLst/>
                        <a:latin typeface="Sora"/>
                        <a:ea typeface="Sora"/>
                        <a:cs typeface="Sora"/>
                      </a:endParaRPr>
                    </a:p>
                  </a:txBody>
                  <a:tcPr marL="88473" marR="50556" marT="50556" marB="50556">
                    <a:lnL w="12700" cap="flat" cmpd="sng" algn="ctr">
                      <a:solidFill>
                        <a:srgbClr val="444444"/>
                      </a:solidFill>
                      <a:prstDash val="solid"/>
                      <a:round/>
                      <a:headEnd type="none" w="med" len="med"/>
                      <a:tailEnd type="none" w="med" len="med"/>
                    </a:lnL>
                    <a:lnR w="12700" cap="flat" cmpd="sng" algn="ctr">
                      <a:solidFill>
                        <a:srgbClr val="444444"/>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444444"/>
                      </a:solidFill>
                      <a:prstDash val="solid"/>
                      <a:round/>
                      <a:headEnd type="none" w="med" len="med"/>
                      <a:tailEnd type="none" w="med" len="med"/>
                    </a:lnB>
                    <a:solidFill>
                      <a:srgbClr val="1A1A1A"/>
                    </a:solidFill>
                  </a:tcPr>
                </a:tc>
                <a:tc>
                  <a:txBody>
                    <a:bodyPr/>
                    <a:lstStyle/>
                    <a:p>
                      <a:pPr marL="0" marR="0" algn="r">
                        <a:buNone/>
                      </a:pPr>
                      <a:r>
                        <a:rPr lang="en-US" sz="800" b="1" dirty="0">
                          <a:solidFill>
                            <a:srgbClr val="FFFFFF"/>
                          </a:solidFill>
                          <a:effectLst/>
                          <a:latin typeface="Sora"/>
                          <a:ea typeface="Sora"/>
                          <a:cs typeface="Sora"/>
                        </a:rPr>
                        <a:t>Sep '25</a:t>
                      </a:r>
                      <a:endParaRPr lang="en-US" sz="900" dirty="0">
                        <a:solidFill>
                          <a:srgbClr val="1A1A1A"/>
                        </a:solidFill>
                        <a:effectLst/>
                        <a:latin typeface="Sora"/>
                        <a:ea typeface="Sora"/>
                        <a:cs typeface="Sora"/>
                      </a:endParaRPr>
                    </a:p>
                  </a:txBody>
                  <a:tcPr marL="88473" marR="50556" marT="50556" marB="50556">
                    <a:lnL w="12700" cap="flat" cmpd="sng" algn="ctr">
                      <a:solidFill>
                        <a:srgbClr val="444444"/>
                      </a:solidFill>
                      <a:prstDash val="solid"/>
                      <a:round/>
                      <a:headEnd type="none" w="med" len="med"/>
                      <a:tailEnd type="none" w="med" len="med"/>
                    </a:lnL>
                    <a:lnR w="12700" cap="flat" cmpd="sng" algn="ctr">
                      <a:solidFill>
                        <a:srgbClr val="444444"/>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444444"/>
                      </a:solidFill>
                      <a:prstDash val="solid"/>
                      <a:round/>
                      <a:headEnd type="none" w="med" len="med"/>
                      <a:tailEnd type="none" w="med" len="med"/>
                    </a:lnB>
                    <a:solidFill>
                      <a:srgbClr val="1A1A1A"/>
                    </a:solidFill>
                  </a:tcPr>
                </a:tc>
                <a:tc>
                  <a:txBody>
                    <a:bodyPr/>
                    <a:lstStyle/>
                    <a:p>
                      <a:pPr marL="0" marR="0" algn="r">
                        <a:buNone/>
                      </a:pPr>
                      <a:r>
                        <a:rPr lang="en-US" sz="800" b="1">
                          <a:solidFill>
                            <a:srgbClr val="FFFFFF"/>
                          </a:solidFill>
                          <a:effectLst/>
                          <a:latin typeface="Sora"/>
                          <a:ea typeface="Sora"/>
                          <a:cs typeface="Sora"/>
                        </a:rPr>
                        <a:t>Dec '25</a:t>
                      </a:r>
                      <a:endParaRPr lang="en-US" sz="900">
                        <a:solidFill>
                          <a:srgbClr val="1A1A1A"/>
                        </a:solidFill>
                        <a:effectLst/>
                        <a:latin typeface="Sora"/>
                        <a:ea typeface="Sora"/>
                        <a:cs typeface="Sora"/>
                      </a:endParaRPr>
                    </a:p>
                  </a:txBody>
                  <a:tcPr marL="88473" marR="50556" marT="50556" marB="50556">
                    <a:lnL w="12700" cap="flat" cmpd="sng" algn="ctr">
                      <a:solidFill>
                        <a:srgbClr val="444444"/>
                      </a:solidFill>
                      <a:prstDash val="solid"/>
                      <a:round/>
                      <a:headEnd type="none" w="med" len="med"/>
                      <a:tailEnd type="none" w="med" len="med"/>
                    </a:lnL>
                    <a:lnR w="12700" cap="flat" cmpd="sng" algn="ctr">
                      <a:solidFill>
                        <a:srgbClr val="444444"/>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444444"/>
                      </a:solidFill>
                      <a:prstDash val="solid"/>
                      <a:round/>
                      <a:headEnd type="none" w="med" len="med"/>
                      <a:tailEnd type="none" w="med" len="med"/>
                    </a:lnB>
                    <a:solidFill>
                      <a:srgbClr val="1A1A1A"/>
                    </a:solidFill>
                  </a:tcPr>
                </a:tc>
                <a:tc>
                  <a:txBody>
                    <a:bodyPr/>
                    <a:lstStyle/>
                    <a:p>
                      <a:pPr marL="0" marR="0" algn="r">
                        <a:buNone/>
                      </a:pPr>
                      <a:r>
                        <a:rPr lang="en-US" sz="800" b="1">
                          <a:solidFill>
                            <a:srgbClr val="FFFFFF"/>
                          </a:solidFill>
                          <a:effectLst/>
                          <a:latin typeface="Sora"/>
                          <a:ea typeface="Sora"/>
                          <a:cs typeface="Sora"/>
                        </a:rPr>
                        <a:t>Jan '26</a:t>
                      </a:r>
                      <a:endParaRPr lang="en-US" sz="900">
                        <a:solidFill>
                          <a:srgbClr val="1A1A1A"/>
                        </a:solidFill>
                        <a:effectLst/>
                        <a:latin typeface="Sora"/>
                        <a:ea typeface="Sora"/>
                        <a:cs typeface="Sora"/>
                      </a:endParaRPr>
                    </a:p>
                  </a:txBody>
                  <a:tcPr marL="88473" marR="50556" marT="50556" marB="50556">
                    <a:lnL w="12700" cap="flat" cmpd="sng" algn="ctr">
                      <a:solidFill>
                        <a:srgbClr val="444444"/>
                      </a:solidFill>
                      <a:prstDash val="solid"/>
                      <a:round/>
                      <a:headEnd type="none" w="med" len="med"/>
                      <a:tailEnd type="none" w="med" len="med"/>
                    </a:lnL>
                    <a:lnR w="12700" cap="flat" cmpd="sng" algn="ctr">
                      <a:solidFill>
                        <a:srgbClr val="444444"/>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444444"/>
                      </a:solidFill>
                      <a:prstDash val="solid"/>
                      <a:round/>
                      <a:headEnd type="none" w="med" len="med"/>
                      <a:tailEnd type="none" w="med" len="med"/>
                    </a:lnB>
                    <a:solidFill>
                      <a:srgbClr val="1A1A1A"/>
                    </a:solidFill>
                  </a:tcPr>
                </a:tc>
                <a:tc>
                  <a:txBody>
                    <a:bodyPr/>
                    <a:lstStyle/>
                    <a:p>
                      <a:pPr marL="0" marR="0" algn="r">
                        <a:buNone/>
                      </a:pPr>
                      <a:r>
                        <a:rPr lang="en-US" sz="800" b="1">
                          <a:solidFill>
                            <a:srgbClr val="FFFFFF"/>
                          </a:solidFill>
                          <a:effectLst/>
                          <a:latin typeface="Sora"/>
                          <a:ea typeface="Sora"/>
                          <a:cs typeface="Sora"/>
                        </a:rPr>
                        <a:t>NOTE</a:t>
                      </a:r>
                      <a:endParaRPr lang="en-US" sz="900">
                        <a:solidFill>
                          <a:srgbClr val="1A1A1A"/>
                        </a:solidFill>
                        <a:effectLst/>
                        <a:latin typeface="Sora"/>
                        <a:ea typeface="Sora"/>
                        <a:cs typeface="Sora"/>
                      </a:endParaRPr>
                    </a:p>
                  </a:txBody>
                  <a:tcPr marL="88473" marR="50556" marT="50556" marB="50556">
                    <a:lnL w="12700" cap="flat" cmpd="sng" algn="ctr">
                      <a:solidFill>
                        <a:srgbClr val="444444"/>
                      </a:solidFill>
                      <a:prstDash val="solid"/>
                      <a:round/>
                      <a:headEnd type="none" w="med" len="med"/>
                      <a:tailEnd type="none" w="med" len="med"/>
                    </a:lnL>
                    <a:lnR w="12700" cap="flat" cmpd="sng" algn="ctr">
                      <a:solidFill>
                        <a:srgbClr val="444444"/>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444444"/>
                      </a:solidFill>
                      <a:prstDash val="solid"/>
                      <a:round/>
                      <a:headEnd type="none" w="med" len="med"/>
                      <a:tailEnd type="none" w="med" len="med"/>
                    </a:lnB>
                    <a:solidFill>
                      <a:srgbClr val="1A1A1A"/>
                    </a:solidFill>
                  </a:tcPr>
                </a:tc>
                <a:extLst>
                  <a:ext uri="{0D108BD9-81ED-4DB2-BD59-A6C34878D82A}">
                    <a16:rowId xmlns:a16="http://schemas.microsoft.com/office/drawing/2014/main" val="1281803589"/>
                  </a:ext>
                </a:extLst>
              </a:tr>
              <a:tr h="243845">
                <a:tc>
                  <a:txBody>
                    <a:bodyPr/>
                    <a:lstStyle/>
                    <a:p>
                      <a:pPr marL="0" marR="0">
                        <a:buNone/>
                      </a:pPr>
                      <a:r>
                        <a:rPr lang="en-US" sz="800" b="1" dirty="0">
                          <a:solidFill>
                            <a:srgbClr val="1A1A1A"/>
                          </a:solidFill>
                          <a:effectLst/>
                          <a:latin typeface="Sora"/>
                          <a:ea typeface="Sora"/>
                          <a:cs typeface="Sora"/>
                        </a:rPr>
                        <a:t>Gross Trading Volume</a:t>
                      </a:r>
                      <a:endParaRPr lang="en-US" sz="900" dirty="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$179M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$2,864M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$9,554M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$11,111M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buNone/>
                      </a:pPr>
                      <a:r>
                        <a:rPr lang="en-US" sz="800">
                          <a:solidFill>
                            <a:srgbClr val="777777"/>
                          </a:solidFill>
                          <a:effectLst/>
                          <a:latin typeface="Sora"/>
                          <a:ea typeface="Sora"/>
                          <a:cs typeface="Sora"/>
                        </a:rPr>
                        <a:t>8× growth vs Jan '25</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444444"/>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61787402"/>
                  </a:ext>
                </a:extLst>
              </a:tr>
              <a:tr h="239582">
                <a:tc>
                  <a:txBody>
                    <a:bodyPr/>
                    <a:lstStyle/>
                    <a:p>
                      <a:pPr marL="0" marR="0">
                        <a:buNone/>
                      </a:pPr>
                      <a:r>
                        <a:rPr lang="en-US" sz="800" b="1">
                          <a:solidFill>
                            <a:srgbClr val="1A1A1A"/>
                          </a:solidFill>
                          <a:effectLst/>
                          <a:latin typeface="Sora"/>
                          <a:ea typeface="Sora"/>
                          <a:cs typeface="Sora"/>
                        </a:rPr>
                        <a:t>Annualized Net Revenue</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$20M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$308M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$1,031M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$1,200M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buNone/>
                      </a:pPr>
                      <a:r>
                        <a:rPr lang="en-US" sz="800">
                          <a:solidFill>
                            <a:srgbClr val="777777"/>
                          </a:solidFill>
                          <a:effectLst/>
                          <a:latin typeface="Sora"/>
                          <a:ea typeface="Sora"/>
                          <a:cs typeface="Sora"/>
                        </a:rPr>
                        <a:t>60× growth in 2025</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extLst>
                  <a:ext uri="{0D108BD9-81ED-4DB2-BD59-A6C34878D82A}">
                    <a16:rowId xmlns:a16="http://schemas.microsoft.com/office/drawing/2014/main" val="2951404299"/>
                  </a:ext>
                </a:extLst>
              </a:tr>
              <a:tr h="239582">
                <a:tc>
                  <a:txBody>
                    <a:bodyPr/>
                    <a:lstStyle/>
                    <a:p>
                      <a:pPr marL="0" marR="0">
                        <a:buNone/>
                      </a:pPr>
                      <a:r>
                        <a:rPr lang="en-US" sz="800" b="1">
                          <a:solidFill>
                            <a:srgbClr val="1A1A1A"/>
                          </a:solidFill>
                          <a:effectLst/>
                          <a:latin typeface="Sora"/>
                          <a:ea typeface="Sora"/>
                          <a:cs typeface="Sora"/>
                        </a:rPr>
                        <a:t>Net Revenue (monthly)</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$2M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dirty="0">
                          <a:solidFill>
                            <a:srgbClr val="444444"/>
                          </a:solidFill>
                          <a:effectLst/>
                          <a:latin typeface="Sora"/>
                          <a:ea typeface="Sora"/>
                          <a:cs typeface="Sora"/>
                        </a:rPr>
                        <a:t>$26M</a:t>
                      </a:r>
                      <a:endParaRPr lang="en-US" sz="900" dirty="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$85M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dirty="0">
                          <a:solidFill>
                            <a:srgbClr val="444444"/>
                          </a:solidFill>
                          <a:effectLst/>
                          <a:latin typeface="Sora"/>
                          <a:ea typeface="Sora"/>
                          <a:cs typeface="Sora"/>
                        </a:rPr>
                        <a:t>$100M</a:t>
                      </a:r>
                      <a:endParaRPr lang="en-US" sz="900" dirty="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buNone/>
                      </a:pPr>
                      <a:r>
                        <a:rPr lang="en-US" sz="800" dirty="0">
                          <a:solidFill>
                            <a:srgbClr val="777777"/>
                          </a:solidFill>
                          <a:effectLst/>
                          <a:latin typeface="Sora"/>
                          <a:ea typeface="Sora"/>
                          <a:cs typeface="Sora"/>
                        </a:rPr>
                        <a:t>~$1.1B annualized</a:t>
                      </a:r>
                      <a:endParaRPr lang="en-US" sz="900" dirty="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153119373"/>
                  </a:ext>
                </a:extLst>
              </a:tr>
              <a:tr h="239582">
                <a:tc>
                  <a:txBody>
                    <a:bodyPr/>
                    <a:lstStyle/>
                    <a:p>
                      <a:pPr marL="0" marR="0">
                        <a:buNone/>
                      </a:pPr>
                      <a:r>
                        <a:rPr lang="en-US" sz="800" b="1">
                          <a:solidFill>
                            <a:srgbClr val="1A1A1A"/>
                          </a:solidFill>
                          <a:effectLst/>
                          <a:latin typeface="Sora"/>
                          <a:ea typeface="Sora"/>
                          <a:cs typeface="Sora"/>
                        </a:rPr>
                        <a:t>Gross Margin %</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55%</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95%</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91%</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92%</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buNone/>
                      </a:pPr>
                      <a:r>
                        <a:rPr lang="en-US" sz="800">
                          <a:solidFill>
                            <a:srgbClr val="777777"/>
                          </a:solidFill>
                          <a:effectLst/>
                          <a:latin typeface="Sora"/>
                          <a:ea typeface="Sora"/>
                          <a:cs typeface="Sora"/>
                        </a:rPr>
                        <a:t>Structurally high</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extLst>
                  <a:ext uri="{0D108BD9-81ED-4DB2-BD59-A6C34878D82A}">
                    <a16:rowId xmlns:a16="http://schemas.microsoft.com/office/drawing/2014/main" val="3866108254"/>
                  </a:ext>
                </a:extLst>
              </a:tr>
              <a:tr h="239582">
                <a:tc>
                  <a:txBody>
                    <a:bodyPr/>
                    <a:lstStyle/>
                    <a:p>
                      <a:pPr marL="0" marR="0">
                        <a:buNone/>
                      </a:pPr>
                      <a:r>
                        <a:rPr lang="en-US" sz="800" b="1">
                          <a:solidFill>
                            <a:srgbClr val="1A1A1A"/>
                          </a:solidFill>
                          <a:effectLst/>
                          <a:latin typeface="Sora"/>
                          <a:ea typeface="Sora"/>
                          <a:cs typeface="Sora"/>
                        </a:rPr>
                        <a:t>Total OpEx</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$1.9M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$17.4M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$79.0M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r">
                        <a:buNone/>
                      </a:pPr>
                      <a:r>
                        <a:rPr lang="en-US" sz="800">
                          <a:solidFill>
                            <a:srgbClr val="444444"/>
                          </a:solidFill>
                          <a:effectLst/>
                          <a:latin typeface="Sora"/>
                          <a:ea typeface="Sora"/>
                          <a:cs typeface="Sora"/>
                        </a:rPr>
                        <a:t>$91.9M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buNone/>
                      </a:pPr>
                      <a:r>
                        <a:rPr lang="en-US" sz="800">
                          <a:solidFill>
                            <a:srgbClr val="777777"/>
                          </a:solidFill>
                          <a:effectLst/>
                          <a:latin typeface="Sora"/>
                          <a:ea typeface="Sora"/>
                          <a:cs typeface="Sora"/>
                        </a:rPr>
                        <a:t>Investing in growth</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859803067"/>
                  </a:ext>
                </a:extLst>
              </a:tr>
              <a:tr h="239582">
                <a:tc>
                  <a:txBody>
                    <a:bodyPr/>
                    <a:lstStyle/>
                    <a:p>
                      <a:pPr marL="0" marR="0">
                        <a:buNone/>
                      </a:pPr>
                      <a:r>
                        <a:rPr lang="en-US" sz="800" b="1">
                          <a:solidFill>
                            <a:srgbClr val="1A1A1A"/>
                          </a:solidFill>
                          <a:effectLst/>
                          <a:latin typeface="Sora"/>
                          <a:ea typeface="Sora"/>
                          <a:cs typeface="Sora"/>
                        </a:rPr>
                        <a:t>Net Income</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($1M)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$2M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($13M)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lgn="r">
                        <a:buNone/>
                      </a:pPr>
                      <a:r>
                        <a:rPr lang="en-US" sz="800">
                          <a:solidFill>
                            <a:srgbClr val="444444"/>
                          </a:solidFill>
                          <a:effectLst/>
                          <a:latin typeface="Sora"/>
                          <a:ea typeface="Sora"/>
                          <a:cs typeface="Sora"/>
                        </a:rPr>
                        <a:t>($16M)</a:t>
                      </a:r>
                      <a:endParaRPr lang="en-US" sz="90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tc>
                  <a:txBody>
                    <a:bodyPr/>
                    <a:lstStyle/>
                    <a:p>
                      <a:pPr marL="0" marR="0">
                        <a:buNone/>
                      </a:pPr>
                      <a:r>
                        <a:rPr lang="en-US" sz="800" dirty="0">
                          <a:solidFill>
                            <a:srgbClr val="777777"/>
                          </a:solidFill>
                          <a:effectLst/>
                          <a:latin typeface="Sora"/>
                          <a:ea typeface="Sora"/>
                          <a:cs typeface="Sora"/>
                        </a:rPr>
                        <a:t>$1.2B cash cushion</a:t>
                      </a:r>
                      <a:endParaRPr lang="en-US" sz="900" dirty="0">
                        <a:solidFill>
                          <a:srgbClr val="1A1A1A"/>
                        </a:solidFill>
                        <a:effectLst/>
                        <a:latin typeface="Sora"/>
                        <a:ea typeface="Sora"/>
                        <a:cs typeface="Sora"/>
                      </a:endParaRPr>
                    </a:p>
                  </a:txBody>
                  <a:tcPr marL="88473" marR="50556" marT="37917" marB="37917">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4F4F2"/>
                    </a:solidFill>
                  </a:tcPr>
                </a:tc>
                <a:extLst>
                  <a:ext uri="{0D108BD9-81ED-4DB2-BD59-A6C34878D82A}">
                    <a16:rowId xmlns:a16="http://schemas.microsoft.com/office/drawing/2014/main" val="429206401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3"/>
        </a:solidFill>
        <a:effectLst/>
      </p:bgPr>
    </p:bg>
    <p:spTree>
      <p:nvGrpSpPr>
        <p:cNvPr id="1" name=""/>
        <p:cNvGrpSpPr/>
        <p:nvPr/>
      </p:nvGrpSpPr>
      <p:grpSpPr>
        <a:xfrm>
          <a:off x="0" y="0"/>
          <a:ext cx="0" cy="0"/>
          <a:chOff x="0" y="0"/>
          <a:chExt cx="0" cy="0"/>
        </a:xfrm>
      </p:grpSpPr>
      <p:sp>
        <p:nvSpPr>
          <p:cNvPr id="2" name="Shape 0"/>
          <p:cNvSpPr/>
          <p:nvPr/>
        </p:nvSpPr>
        <p:spPr>
          <a:xfrm>
            <a:off x="0" y="0"/>
            <a:ext cx="6858000" cy="621792"/>
          </a:xfrm>
          <a:prstGeom prst="rect">
            <a:avLst/>
          </a:prstGeom>
          <a:solidFill>
            <a:srgbClr val="1E1E1E"/>
          </a:solidFill>
          <a:ln w="12700">
            <a:solidFill>
              <a:srgbClr val="1E1E1E"/>
            </a:solidFill>
            <a:prstDash val="solid"/>
          </a:ln>
        </p:spPr>
        <p:txBody>
          <a:bodyPr/>
          <a:lstStyle/>
          <a:p>
            <a:endParaRPr lang="en-US"/>
          </a:p>
        </p:txBody>
      </p:sp>
      <p:sp>
        <p:nvSpPr>
          <p:cNvPr id="8" name="Text 6"/>
          <p:cNvSpPr/>
          <p:nvPr/>
        </p:nvSpPr>
        <p:spPr>
          <a:xfrm>
            <a:off x="0" y="228600"/>
            <a:ext cx="6583680" cy="164592"/>
          </a:xfrm>
          <a:prstGeom prst="rect">
            <a:avLst/>
          </a:prstGeom>
          <a:noFill/>
          <a:ln/>
        </p:spPr>
        <p:txBody>
          <a:bodyPr wrap="square" lIns="0" tIns="0" rIns="0" bIns="0" rtlCol="0" anchor="ctr"/>
          <a:lstStyle/>
          <a:p>
            <a:pPr marL="0" indent="0" algn="r">
              <a:buNone/>
            </a:pPr>
            <a:r>
              <a:rPr lang="en-US" sz="750" kern="0" spc="150" dirty="0">
                <a:solidFill>
                  <a:srgbClr val="666666"/>
                </a:solidFill>
                <a:latin typeface="Calibri" pitchFamily="34" charset="0"/>
                <a:ea typeface="Calibri" pitchFamily="34" charset="-122"/>
                <a:cs typeface="Calibri" pitchFamily="34" charset="-120"/>
              </a:rPr>
              <a:t>KALSHI  ·  MARKET &amp; RISKS</a:t>
            </a:r>
            <a:endParaRPr lang="en-US" sz="750" dirty="0"/>
          </a:p>
        </p:txBody>
      </p:sp>
      <p:sp>
        <p:nvSpPr>
          <p:cNvPr id="9" name="Text 7"/>
          <p:cNvSpPr/>
          <p:nvPr/>
        </p:nvSpPr>
        <p:spPr>
          <a:xfrm>
            <a:off x="320040" y="768096"/>
            <a:ext cx="6217920" cy="877824"/>
          </a:xfrm>
          <a:prstGeom prst="rect">
            <a:avLst/>
          </a:prstGeom>
          <a:noFill/>
          <a:ln/>
        </p:spPr>
        <p:txBody>
          <a:bodyPr wrap="square" lIns="0" tIns="0" rIns="0" bIns="0" rtlCol="0" anchor="ctr"/>
          <a:lstStyle/>
          <a:p>
            <a:pPr marL="0" indent="0">
              <a:buNone/>
            </a:pPr>
            <a:r>
              <a:rPr lang="en-US" sz="2600" dirty="0">
                <a:solidFill>
                  <a:srgbClr val="1A1A1A"/>
                </a:solidFill>
                <a:latin typeface="Calibri" pitchFamily="34" charset="0"/>
                <a:ea typeface="Calibri" pitchFamily="34" charset="-122"/>
                <a:cs typeface="Calibri" pitchFamily="34" charset="-120"/>
              </a:rPr>
              <a:t>Market Opportunity</a:t>
            </a:r>
            <a:endParaRPr lang="en-US" sz="2600" dirty="0"/>
          </a:p>
          <a:p>
            <a:pPr marL="0" indent="0">
              <a:buNone/>
            </a:pPr>
            <a:r>
              <a:rPr lang="en-US" sz="2600" dirty="0">
                <a:solidFill>
                  <a:srgbClr val="1A1A1A"/>
                </a:solidFill>
                <a:latin typeface="Calibri" pitchFamily="34" charset="0"/>
                <a:ea typeface="Calibri" pitchFamily="34" charset="-122"/>
                <a:cs typeface="Calibri" pitchFamily="34" charset="-120"/>
              </a:rPr>
              <a:t>&amp; Risk Considerations</a:t>
            </a:r>
            <a:endParaRPr lang="en-US" sz="2600" dirty="0"/>
          </a:p>
        </p:txBody>
      </p:sp>
      <p:sp>
        <p:nvSpPr>
          <p:cNvPr id="10" name="Shape 8"/>
          <p:cNvSpPr/>
          <p:nvPr/>
        </p:nvSpPr>
        <p:spPr>
          <a:xfrm>
            <a:off x="320040" y="1709928"/>
            <a:ext cx="1645920" cy="32004"/>
          </a:xfrm>
          <a:prstGeom prst="rect">
            <a:avLst/>
          </a:prstGeom>
          <a:solidFill>
            <a:srgbClr val="1FAD5A"/>
          </a:solidFill>
          <a:ln w="12700">
            <a:solidFill>
              <a:srgbClr val="1FAD5A"/>
            </a:solidFill>
            <a:prstDash val="solid"/>
          </a:ln>
        </p:spPr>
        <p:txBody>
          <a:bodyPr/>
          <a:lstStyle/>
          <a:p>
            <a:endParaRPr lang="en-US"/>
          </a:p>
        </p:txBody>
      </p:sp>
      <p:sp>
        <p:nvSpPr>
          <p:cNvPr id="11" name="Shape 9"/>
          <p:cNvSpPr/>
          <p:nvPr/>
        </p:nvSpPr>
        <p:spPr>
          <a:xfrm>
            <a:off x="320040" y="1865376"/>
            <a:ext cx="6217920" cy="822960"/>
          </a:xfrm>
          <a:prstGeom prst="rect">
            <a:avLst/>
          </a:prstGeom>
          <a:solidFill>
            <a:srgbClr val="E8F7EE"/>
          </a:solidFill>
          <a:ln w="8890">
            <a:solidFill>
              <a:srgbClr val="C2E8D0"/>
            </a:solidFill>
            <a:prstDash val="solid"/>
          </a:ln>
          <a:effectLst>
            <a:outerShdw blurRad="76200" dist="12700" dir="8100000" algn="bl" rotWithShape="0">
              <a:srgbClr val="000000">
                <a:alpha val="8000"/>
              </a:srgbClr>
            </a:outerShdw>
          </a:effectLst>
        </p:spPr>
        <p:txBody>
          <a:bodyPr/>
          <a:lstStyle/>
          <a:p>
            <a:endParaRPr lang="en-US"/>
          </a:p>
        </p:txBody>
      </p:sp>
      <p:sp>
        <p:nvSpPr>
          <p:cNvPr id="12" name="Text 10"/>
          <p:cNvSpPr/>
          <p:nvPr/>
        </p:nvSpPr>
        <p:spPr>
          <a:xfrm>
            <a:off x="502920" y="1920240"/>
            <a:ext cx="2103120" cy="594360"/>
          </a:xfrm>
          <a:prstGeom prst="rect">
            <a:avLst/>
          </a:prstGeom>
          <a:noFill/>
          <a:ln/>
        </p:spPr>
        <p:txBody>
          <a:bodyPr wrap="square" lIns="0" tIns="0" rIns="0" bIns="0" rtlCol="0" anchor="ctr"/>
          <a:lstStyle/>
          <a:p>
            <a:pPr marL="0" indent="0">
              <a:buNone/>
            </a:pPr>
            <a:r>
              <a:rPr lang="en-US" sz="4000" b="1" dirty="0">
                <a:solidFill>
                  <a:srgbClr val="1A1A1A"/>
                </a:solidFill>
                <a:latin typeface="Calibri" pitchFamily="34" charset="0"/>
                <a:ea typeface="Calibri" pitchFamily="34" charset="-122"/>
                <a:cs typeface="Calibri" pitchFamily="34" charset="-120"/>
              </a:rPr>
              <a:t>$100B</a:t>
            </a:r>
            <a:endParaRPr lang="en-US" sz="4000" dirty="0"/>
          </a:p>
        </p:txBody>
      </p:sp>
      <p:sp>
        <p:nvSpPr>
          <p:cNvPr id="13" name="Text 11"/>
          <p:cNvSpPr/>
          <p:nvPr/>
        </p:nvSpPr>
        <p:spPr>
          <a:xfrm>
            <a:off x="502920" y="2496312"/>
            <a:ext cx="2103120" cy="164592"/>
          </a:xfrm>
          <a:prstGeom prst="rect">
            <a:avLst/>
          </a:prstGeom>
          <a:noFill/>
          <a:ln/>
        </p:spPr>
        <p:txBody>
          <a:bodyPr wrap="square" lIns="0" tIns="0" rIns="0" bIns="0" rtlCol="0" anchor="ctr"/>
          <a:lstStyle/>
          <a:p>
            <a:pPr marL="0" indent="0">
              <a:buNone/>
            </a:pPr>
            <a:r>
              <a:rPr lang="en-US" sz="800" dirty="0">
                <a:solidFill>
                  <a:srgbClr val="1FAD5A"/>
                </a:solidFill>
                <a:latin typeface="Calibri" pitchFamily="34" charset="0"/>
                <a:ea typeface="Calibri" pitchFamily="34" charset="-122"/>
                <a:cs typeface="Calibri" pitchFamily="34" charset="-120"/>
              </a:rPr>
              <a:t>2035 Prediction Market TAM</a:t>
            </a:r>
            <a:endParaRPr lang="en-US" sz="800" dirty="0"/>
          </a:p>
        </p:txBody>
      </p:sp>
      <p:sp>
        <p:nvSpPr>
          <p:cNvPr id="14" name="Text 12"/>
          <p:cNvSpPr/>
          <p:nvPr/>
        </p:nvSpPr>
        <p:spPr>
          <a:xfrm>
            <a:off x="2788920" y="1965960"/>
            <a:ext cx="3566160" cy="62179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Prediction markets are gaining traction as financial infrastructure. Kalshi currently captures ~60% of U.S.-regulated volume, with no comparable licensed competitor operating domestically.</a:t>
            </a:r>
            <a:endParaRPr lang="en-US" sz="950" dirty="0"/>
          </a:p>
        </p:txBody>
      </p:sp>
      <p:sp>
        <p:nvSpPr>
          <p:cNvPr id="15" name="Text 13"/>
          <p:cNvSpPr/>
          <p:nvPr/>
        </p:nvSpPr>
        <p:spPr>
          <a:xfrm>
            <a:off x="320040" y="2816352"/>
            <a:ext cx="6217920" cy="182880"/>
          </a:xfrm>
          <a:prstGeom prst="rect">
            <a:avLst/>
          </a:prstGeom>
          <a:noFill/>
          <a:ln/>
        </p:spPr>
        <p:txBody>
          <a:bodyPr wrap="square" lIns="0" tIns="0" rIns="0" bIns="0" rtlCol="0" anchor="ctr"/>
          <a:lstStyle/>
          <a:p>
            <a:pPr marL="0" indent="0">
              <a:buNone/>
            </a:pPr>
            <a:r>
              <a:rPr lang="en-US" sz="750" kern="0" spc="200" dirty="0">
                <a:solidFill>
                  <a:srgbClr val="777777"/>
                </a:solidFill>
                <a:latin typeface="Calibri" pitchFamily="34" charset="0"/>
                <a:ea typeface="Calibri" pitchFamily="34" charset="-122"/>
                <a:cs typeface="Calibri" pitchFamily="34" charset="-120"/>
              </a:rPr>
              <a:t>MARKET OUTLOOK</a:t>
            </a:r>
            <a:endParaRPr lang="en-US" sz="750" dirty="0"/>
          </a:p>
        </p:txBody>
      </p:sp>
      <p:sp>
        <p:nvSpPr>
          <p:cNvPr id="16" name="Shape 14"/>
          <p:cNvSpPr/>
          <p:nvPr/>
        </p:nvSpPr>
        <p:spPr>
          <a:xfrm>
            <a:off x="320040" y="3017520"/>
            <a:ext cx="6217920" cy="32004"/>
          </a:xfrm>
          <a:prstGeom prst="rect">
            <a:avLst/>
          </a:prstGeom>
          <a:solidFill>
            <a:srgbClr val="D4D4D0"/>
          </a:solidFill>
          <a:ln w="12700">
            <a:solidFill>
              <a:srgbClr val="D4D4D0"/>
            </a:solidFill>
            <a:prstDash val="solid"/>
          </a:ln>
        </p:spPr>
        <p:txBody>
          <a:bodyPr/>
          <a:lstStyle/>
          <a:p>
            <a:endParaRPr lang="en-US"/>
          </a:p>
        </p:txBody>
      </p:sp>
      <p:sp>
        <p:nvSpPr>
          <p:cNvPr id="17" name="Shape 15"/>
          <p:cNvSpPr/>
          <p:nvPr/>
        </p:nvSpPr>
        <p:spPr>
          <a:xfrm>
            <a:off x="320040" y="3145536"/>
            <a:ext cx="6217920" cy="585216"/>
          </a:xfrm>
          <a:prstGeom prst="rect">
            <a:avLst/>
          </a:prstGeom>
          <a:solidFill>
            <a:srgbClr val="FFFFFF"/>
          </a:solidFill>
          <a:ln w="381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18" name="Shape 16"/>
          <p:cNvSpPr/>
          <p:nvPr/>
        </p:nvSpPr>
        <p:spPr>
          <a:xfrm>
            <a:off x="320040" y="3145536"/>
            <a:ext cx="45720" cy="585216"/>
          </a:xfrm>
          <a:prstGeom prst="rect">
            <a:avLst/>
          </a:prstGeom>
          <a:solidFill>
            <a:srgbClr val="444444"/>
          </a:solidFill>
          <a:ln w="12700">
            <a:solidFill>
              <a:srgbClr val="444444"/>
            </a:solidFill>
            <a:prstDash val="solid"/>
          </a:ln>
        </p:spPr>
        <p:txBody>
          <a:bodyPr/>
          <a:lstStyle/>
          <a:p>
            <a:endParaRPr lang="en-US"/>
          </a:p>
        </p:txBody>
      </p:sp>
      <p:sp>
        <p:nvSpPr>
          <p:cNvPr id="19" name="Text 17"/>
          <p:cNvSpPr/>
          <p:nvPr/>
        </p:nvSpPr>
        <p:spPr>
          <a:xfrm>
            <a:off x="493776" y="3200400"/>
            <a:ext cx="5852160" cy="201168"/>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Category Creation</a:t>
            </a:r>
            <a:endParaRPr lang="en-US" sz="1000" dirty="0"/>
          </a:p>
        </p:txBody>
      </p:sp>
      <p:sp>
        <p:nvSpPr>
          <p:cNvPr id="20" name="Text 18"/>
          <p:cNvSpPr/>
          <p:nvPr/>
        </p:nvSpPr>
        <p:spPr>
          <a:xfrm>
            <a:off x="493776" y="3419856"/>
            <a:ext cx="5852160" cy="25603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Prediction markets gained significant mainstream visibility through the 2024 election cycle. Member balances grew from $500M to $1.2B in under a quarter. 2026 guidance points to 3×+ growth.</a:t>
            </a:r>
            <a:endParaRPr lang="en-US" sz="850" dirty="0"/>
          </a:p>
        </p:txBody>
      </p:sp>
      <p:sp>
        <p:nvSpPr>
          <p:cNvPr id="21" name="Shape 19"/>
          <p:cNvSpPr/>
          <p:nvPr/>
        </p:nvSpPr>
        <p:spPr>
          <a:xfrm>
            <a:off x="320040" y="3803904"/>
            <a:ext cx="6217920" cy="585216"/>
          </a:xfrm>
          <a:prstGeom prst="rect">
            <a:avLst/>
          </a:prstGeom>
          <a:solidFill>
            <a:srgbClr val="EEEEEB"/>
          </a:solidFill>
          <a:ln w="381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22" name="Shape 20"/>
          <p:cNvSpPr/>
          <p:nvPr/>
        </p:nvSpPr>
        <p:spPr>
          <a:xfrm>
            <a:off x="320040" y="3803904"/>
            <a:ext cx="45720" cy="585216"/>
          </a:xfrm>
          <a:prstGeom prst="rect">
            <a:avLst/>
          </a:prstGeom>
          <a:solidFill>
            <a:srgbClr val="444444"/>
          </a:solidFill>
          <a:ln w="12700">
            <a:solidFill>
              <a:srgbClr val="444444"/>
            </a:solidFill>
            <a:prstDash val="solid"/>
          </a:ln>
        </p:spPr>
        <p:txBody>
          <a:bodyPr/>
          <a:lstStyle/>
          <a:p>
            <a:endParaRPr lang="en-US"/>
          </a:p>
        </p:txBody>
      </p:sp>
      <p:sp>
        <p:nvSpPr>
          <p:cNvPr id="23" name="Text 21"/>
          <p:cNvSpPr/>
          <p:nvPr/>
        </p:nvSpPr>
        <p:spPr>
          <a:xfrm>
            <a:off x="493776" y="3858768"/>
            <a:ext cx="5852160" cy="201168"/>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Mainstream Distribution</a:t>
            </a:r>
            <a:endParaRPr lang="en-US" sz="1000" dirty="0"/>
          </a:p>
        </p:txBody>
      </p:sp>
      <p:sp>
        <p:nvSpPr>
          <p:cNvPr id="24" name="Text 22"/>
          <p:cNvSpPr/>
          <p:nvPr/>
        </p:nvSpPr>
        <p:spPr>
          <a:xfrm>
            <a:off x="493776" y="4078224"/>
            <a:ext cx="5852160" cy="25603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Integrated with Robinhood, WeBull, and Coinbase. Exclusive CNN &amp; CNBC data partnerships. Sports deals with NHL, Blackhawks, and Bryson DeChambeau. 70% of volume is direct, 30% via channel.</a:t>
            </a:r>
            <a:endParaRPr lang="en-US" sz="850" dirty="0"/>
          </a:p>
        </p:txBody>
      </p:sp>
      <p:sp>
        <p:nvSpPr>
          <p:cNvPr id="25" name="Shape 23"/>
          <p:cNvSpPr/>
          <p:nvPr/>
        </p:nvSpPr>
        <p:spPr>
          <a:xfrm>
            <a:off x="320040" y="4462272"/>
            <a:ext cx="6217920" cy="585216"/>
          </a:xfrm>
          <a:prstGeom prst="rect">
            <a:avLst/>
          </a:prstGeom>
          <a:solidFill>
            <a:srgbClr val="FFFFFF"/>
          </a:solidFill>
          <a:ln w="381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26" name="Shape 24"/>
          <p:cNvSpPr/>
          <p:nvPr/>
        </p:nvSpPr>
        <p:spPr>
          <a:xfrm>
            <a:off x="320040" y="4462272"/>
            <a:ext cx="45720" cy="585216"/>
          </a:xfrm>
          <a:prstGeom prst="rect">
            <a:avLst/>
          </a:prstGeom>
          <a:solidFill>
            <a:srgbClr val="444444"/>
          </a:solidFill>
          <a:ln w="12700">
            <a:solidFill>
              <a:srgbClr val="444444"/>
            </a:solidFill>
            <a:prstDash val="solid"/>
          </a:ln>
        </p:spPr>
        <p:txBody>
          <a:bodyPr/>
          <a:lstStyle/>
          <a:p>
            <a:endParaRPr lang="en-US"/>
          </a:p>
        </p:txBody>
      </p:sp>
      <p:sp>
        <p:nvSpPr>
          <p:cNvPr id="27" name="Text 25"/>
          <p:cNvSpPr/>
          <p:nvPr/>
        </p:nvSpPr>
        <p:spPr>
          <a:xfrm>
            <a:off x="493776" y="4517136"/>
            <a:ext cx="5852160" cy="201168"/>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Institutional Inflection</a:t>
            </a:r>
            <a:endParaRPr lang="en-US" sz="1000" dirty="0"/>
          </a:p>
        </p:txBody>
      </p:sp>
      <p:sp>
        <p:nvSpPr>
          <p:cNvPr id="28" name="Text 26"/>
          <p:cNvSpPr/>
          <p:nvPr/>
        </p:nvSpPr>
        <p:spPr>
          <a:xfrm>
            <a:off x="493776" y="4736592"/>
            <a:ext cx="5852160" cy="25603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Margin trading (Q1 2026) positions Kalshi to serve institutional participants for the first time, meaningfully expanding the addressable capital base. The 2026 World Cup and U.S. Midterms are expected to be among the largest volume events in prediction market history.</a:t>
            </a:r>
            <a:endParaRPr lang="en-US" sz="850" dirty="0"/>
          </a:p>
        </p:txBody>
      </p:sp>
      <p:sp>
        <p:nvSpPr>
          <p:cNvPr id="29" name="Shape 27"/>
          <p:cNvSpPr/>
          <p:nvPr/>
        </p:nvSpPr>
        <p:spPr>
          <a:xfrm>
            <a:off x="320040" y="5120640"/>
            <a:ext cx="6217920" cy="585216"/>
          </a:xfrm>
          <a:prstGeom prst="rect">
            <a:avLst/>
          </a:prstGeom>
          <a:solidFill>
            <a:srgbClr val="EEEEEB"/>
          </a:solidFill>
          <a:ln w="3810">
            <a:solidFill>
              <a:srgbClr val="D4D4D0"/>
            </a:solidFill>
            <a:prstDash val="solid"/>
          </a:ln>
          <a:effectLst>
            <a:outerShdw blurRad="76200" dist="12700" dir="8100000" algn="bl" rotWithShape="0">
              <a:srgbClr val="000000">
                <a:alpha val="8000"/>
              </a:srgbClr>
            </a:outerShdw>
          </a:effectLst>
        </p:spPr>
        <p:txBody>
          <a:bodyPr/>
          <a:lstStyle/>
          <a:p>
            <a:endParaRPr lang="en-US"/>
          </a:p>
        </p:txBody>
      </p:sp>
      <p:sp>
        <p:nvSpPr>
          <p:cNvPr id="30" name="Shape 28"/>
          <p:cNvSpPr/>
          <p:nvPr/>
        </p:nvSpPr>
        <p:spPr>
          <a:xfrm>
            <a:off x="320040" y="5120640"/>
            <a:ext cx="45720" cy="585216"/>
          </a:xfrm>
          <a:prstGeom prst="rect">
            <a:avLst/>
          </a:prstGeom>
          <a:solidFill>
            <a:srgbClr val="444444"/>
          </a:solidFill>
          <a:ln w="12700">
            <a:solidFill>
              <a:srgbClr val="444444"/>
            </a:solidFill>
            <a:prstDash val="solid"/>
          </a:ln>
        </p:spPr>
        <p:txBody>
          <a:bodyPr/>
          <a:lstStyle/>
          <a:p>
            <a:endParaRPr lang="en-US"/>
          </a:p>
        </p:txBody>
      </p:sp>
      <p:sp>
        <p:nvSpPr>
          <p:cNvPr id="31" name="Text 29"/>
          <p:cNvSpPr/>
          <p:nvPr/>
        </p:nvSpPr>
        <p:spPr>
          <a:xfrm>
            <a:off x="493776" y="5175504"/>
            <a:ext cx="5852160" cy="201168"/>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Global Expansion</a:t>
            </a:r>
            <a:endParaRPr lang="en-US" sz="1000" dirty="0"/>
          </a:p>
        </p:txBody>
      </p:sp>
      <p:sp>
        <p:nvSpPr>
          <p:cNvPr id="32" name="Text 30"/>
          <p:cNvSpPr/>
          <p:nvPr/>
        </p:nvSpPr>
        <p:spPr>
          <a:xfrm>
            <a:off x="493776" y="5394960"/>
            <a:ext cx="5852160" cy="25603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Live in 100+ countries on a non-solicited basis. Formal expansion underway: signed partnership with large brokerages in Canada and Brazil; direct market entry planned for Europe and Asia.</a:t>
            </a:r>
            <a:endParaRPr lang="en-US" sz="850" dirty="0"/>
          </a:p>
        </p:txBody>
      </p:sp>
      <p:sp>
        <p:nvSpPr>
          <p:cNvPr id="33" name="Text 31"/>
          <p:cNvSpPr/>
          <p:nvPr/>
        </p:nvSpPr>
        <p:spPr>
          <a:xfrm>
            <a:off x="320040" y="5824728"/>
            <a:ext cx="6217920" cy="182880"/>
          </a:xfrm>
          <a:prstGeom prst="rect">
            <a:avLst/>
          </a:prstGeom>
          <a:noFill/>
          <a:ln/>
        </p:spPr>
        <p:txBody>
          <a:bodyPr wrap="square" lIns="0" tIns="0" rIns="0" bIns="0" rtlCol="0" anchor="ctr"/>
          <a:lstStyle/>
          <a:p>
            <a:pPr marL="0" indent="0">
              <a:buNone/>
            </a:pPr>
            <a:r>
              <a:rPr lang="en-US" sz="750" kern="0" spc="200" dirty="0">
                <a:solidFill>
                  <a:srgbClr val="777777"/>
                </a:solidFill>
                <a:latin typeface="Calibri" pitchFamily="34" charset="0"/>
                <a:ea typeface="Calibri" pitchFamily="34" charset="-122"/>
                <a:cs typeface="Calibri" pitchFamily="34" charset="-120"/>
              </a:rPr>
              <a:t>RISKS &amp; MITIGANTS</a:t>
            </a:r>
            <a:endParaRPr lang="en-US" sz="750" dirty="0"/>
          </a:p>
        </p:txBody>
      </p:sp>
      <p:sp>
        <p:nvSpPr>
          <p:cNvPr id="34" name="Shape 32"/>
          <p:cNvSpPr/>
          <p:nvPr/>
        </p:nvSpPr>
        <p:spPr>
          <a:xfrm>
            <a:off x="320040" y="6025896"/>
            <a:ext cx="6217920" cy="32004"/>
          </a:xfrm>
          <a:prstGeom prst="rect">
            <a:avLst/>
          </a:prstGeom>
          <a:solidFill>
            <a:srgbClr val="D4D4D0"/>
          </a:solidFill>
          <a:ln w="12700">
            <a:solidFill>
              <a:srgbClr val="D4D4D0"/>
            </a:solidFill>
            <a:prstDash val="solid"/>
          </a:ln>
        </p:spPr>
        <p:txBody>
          <a:bodyPr/>
          <a:lstStyle/>
          <a:p>
            <a:endParaRPr lang="en-US"/>
          </a:p>
        </p:txBody>
      </p:sp>
      <p:sp>
        <p:nvSpPr>
          <p:cNvPr id="35" name="Shape 33"/>
          <p:cNvSpPr/>
          <p:nvPr/>
        </p:nvSpPr>
        <p:spPr>
          <a:xfrm>
            <a:off x="320040" y="6144768"/>
            <a:ext cx="6217920" cy="603504"/>
          </a:xfrm>
          <a:prstGeom prst="rect">
            <a:avLst/>
          </a:prstGeom>
          <a:solidFill>
            <a:srgbClr val="FFFFFF"/>
          </a:solidFill>
          <a:ln w="3810">
            <a:solidFill>
              <a:srgbClr val="D4D4D0"/>
            </a:solidFill>
            <a:prstDash val="solid"/>
          </a:ln>
        </p:spPr>
        <p:txBody>
          <a:bodyPr/>
          <a:lstStyle/>
          <a:p>
            <a:endParaRPr lang="en-US"/>
          </a:p>
        </p:txBody>
      </p:sp>
      <p:sp>
        <p:nvSpPr>
          <p:cNvPr id="36" name="Shape 34"/>
          <p:cNvSpPr/>
          <p:nvPr/>
        </p:nvSpPr>
        <p:spPr>
          <a:xfrm>
            <a:off x="320040" y="6144768"/>
            <a:ext cx="1737360" cy="603504"/>
          </a:xfrm>
          <a:prstGeom prst="rect">
            <a:avLst/>
          </a:prstGeom>
          <a:solidFill>
            <a:srgbClr val="E2E2DF"/>
          </a:solidFill>
          <a:ln w="3810">
            <a:solidFill>
              <a:srgbClr val="D4D4D0"/>
            </a:solidFill>
            <a:prstDash val="solid"/>
          </a:ln>
        </p:spPr>
        <p:txBody>
          <a:bodyPr/>
          <a:lstStyle/>
          <a:p>
            <a:endParaRPr lang="en-US"/>
          </a:p>
        </p:txBody>
      </p:sp>
      <p:sp>
        <p:nvSpPr>
          <p:cNvPr id="37" name="Text 35"/>
          <p:cNvSpPr/>
          <p:nvPr/>
        </p:nvSpPr>
        <p:spPr>
          <a:xfrm>
            <a:off x="402336" y="6236208"/>
            <a:ext cx="1572768" cy="402336"/>
          </a:xfrm>
          <a:prstGeom prst="rect">
            <a:avLst/>
          </a:prstGeom>
          <a:noFill/>
          <a:ln/>
        </p:spPr>
        <p:txBody>
          <a:bodyPr wrap="square" lIns="0" tIns="0" rIns="0" bIns="0" rtlCol="0" anchor="ctr"/>
          <a:lstStyle/>
          <a:p>
            <a:pPr marL="0" indent="0">
              <a:buNone/>
            </a:pPr>
            <a:r>
              <a:rPr lang="en-US" sz="850" b="1" dirty="0">
                <a:solidFill>
                  <a:srgbClr val="1A1A1A"/>
                </a:solidFill>
                <a:latin typeface="Calibri" pitchFamily="34" charset="0"/>
                <a:ea typeface="Calibri" pitchFamily="34" charset="-122"/>
                <a:cs typeface="Calibri" pitchFamily="34" charset="-120"/>
              </a:rPr>
              <a:t>Regulatory Risk</a:t>
            </a:r>
            <a:endParaRPr lang="en-US" sz="850" dirty="0"/>
          </a:p>
        </p:txBody>
      </p:sp>
      <p:sp>
        <p:nvSpPr>
          <p:cNvPr id="38" name="Text 36"/>
          <p:cNvSpPr/>
          <p:nvPr/>
        </p:nvSpPr>
        <p:spPr>
          <a:xfrm>
            <a:off x="2176272" y="6217920"/>
            <a:ext cx="4206240" cy="4572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Mitigated by Kalshi's CFTC DCM license — the strongest regulatory status available for a U.S. prediction market. The 2024 court victory created binding legal precedent. Risk of license revocation is considered low.</a:t>
            </a:r>
            <a:endParaRPr lang="en-US" sz="850" dirty="0"/>
          </a:p>
        </p:txBody>
      </p:sp>
      <p:sp>
        <p:nvSpPr>
          <p:cNvPr id="39" name="Shape 37"/>
          <p:cNvSpPr/>
          <p:nvPr/>
        </p:nvSpPr>
        <p:spPr>
          <a:xfrm>
            <a:off x="320040" y="6821424"/>
            <a:ext cx="6217920" cy="603504"/>
          </a:xfrm>
          <a:prstGeom prst="rect">
            <a:avLst/>
          </a:prstGeom>
          <a:solidFill>
            <a:srgbClr val="EEEEEB"/>
          </a:solidFill>
          <a:ln w="3810">
            <a:solidFill>
              <a:srgbClr val="D4D4D0"/>
            </a:solidFill>
            <a:prstDash val="solid"/>
          </a:ln>
        </p:spPr>
        <p:txBody>
          <a:bodyPr/>
          <a:lstStyle/>
          <a:p>
            <a:endParaRPr lang="en-US"/>
          </a:p>
        </p:txBody>
      </p:sp>
      <p:sp>
        <p:nvSpPr>
          <p:cNvPr id="40" name="Shape 38"/>
          <p:cNvSpPr/>
          <p:nvPr/>
        </p:nvSpPr>
        <p:spPr>
          <a:xfrm>
            <a:off x="320040" y="6821424"/>
            <a:ext cx="1737360" cy="603504"/>
          </a:xfrm>
          <a:prstGeom prst="rect">
            <a:avLst/>
          </a:prstGeom>
          <a:solidFill>
            <a:srgbClr val="E2E2DF"/>
          </a:solidFill>
          <a:ln w="3810">
            <a:solidFill>
              <a:srgbClr val="D4D4D0"/>
            </a:solidFill>
            <a:prstDash val="solid"/>
          </a:ln>
        </p:spPr>
        <p:txBody>
          <a:bodyPr/>
          <a:lstStyle/>
          <a:p>
            <a:endParaRPr lang="en-US"/>
          </a:p>
        </p:txBody>
      </p:sp>
      <p:sp>
        <p:nvSpPr>
          <p:cNvPr id="41" name="Text 39"/>
          <p:cNvSpPr/>
          <p:nvPr/>
        </p:nvSpPr>
        <p:spPr>
          <a:xfrm>
            <a:off x="402336" y="6912864"/>
            <a:ext cx="1572768" cy="402336"/>
          </a:xfrm>
          <a:prstGeom prst="rect">
            <a:avLst/>
          </a:prstGeom>
          <a:noFill/>
          <a:ln/>
        </p:spPr>
        <p:txBody>
          <a:bodyPr wrap="square" lIns="0" tIns="0" rIns="0" bIns="0" rtlCol="0" anchor="ctr"/>
          <a:lstStyle/>
          <a:p>
            <a:pPr marL="0" indent="0">
              <a:buNone/>
            </a:pPr>
            <a:r>
              <a:rPr lang="en-US" sz="850" b="1" dirty="0">
                <a:solidFill>
                  <a:srgbClr val="1A1A1A"/>
                </a:solidFill>
                <a:latin typeface="Calibri" pitchFamily="34" charset="0"/>
                <a:ea typeface="Calibri" pitchFamily="34" charset="-122"/>
                <a:cs typeface="Calibri" pitchFamily="34" charset="-120"/>
              </a:rPr>
              <a:t>Valuation Premium</a:t>
            </a:r>
            <a:endParaRPr lang="en-US" sz="850" dirty="0"/>
          </a:p>
        </p:txBody>
      </p:sp>
      <p:sp>
        <p:nvSpPr>
          <p:cNvPr id="42" name="Text 40"/>
          <p:cNvSpPr/>
          <p:nvPr/>
        </p:nvSpPr>
        <p:spPr>
          <a:xfrm>
            <a:off x="2176272" y="6894576"/>
            <a:ext cx="4206240" cy="4572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At $11B post-money against a $1.2B revenue run-rate, entry is at ~9× forward revenue. Justified by 30–40% MoM growth and 90%+ margins, though multiple compression in growth markets would affect mark-to-market.</a:t>
            </a:r>
            <a:endParaRPr lang="en-US" sz="850" dirty="0"/>
          </a:p>
        </p:txBody>
      </p:sp>
      <p:sp>
        <p:nvSpPr>
          <p:cNvPr id="43" name="Shape 41"/>
          <p:cNvSpPr/>
          <p:nvPr/>
        </p:nvSpPr>
        <p:spPr>
          <a:xfrm>
            <a:off x="320040" y="7498080"/>
            <a:ext cx="6217920" cy="603504"/>
          </a:xfrm>
          <a:prstGeom prst="rect">
            <a:avLst/>
          </a:prstGeom>
          <a:solidFill>
            <a:srgbClr val="FFFFFF"/>
          </a:solidFill>
          <a:ln w="3810">
            <a:solidFill>
              <a:srgbClr val="D4D4D0"/>
            </a:solidFill>
            <a:prstDash val="solid"/>
          </a:ln>
        </p:spPr>
        <p:txBody>
          <a:bodyPr/>
          <a:lstStyle/>
          <a:p>
            <a:endParaRPr lang="en-US"/>
          </a:p>
        </p:txBody>
      </p:sp>
      <p:sp>
        <p:nvSpPr>
          <p:cNvPr id="44" name="Shape 42"/>
          <p:cNvSpPr/>
          <p:nvPr/>
        </p:nvSpPr>
        <p:spPr>
          <a:xfrm>
            <a:off x="320040" y="7498080"/>
            <a:ext cx="1737360" cy="603504"/>
          </a:xfrm>
          <a:prstGeom prst="rect">
            <a:avLst/>
          </a:prstGeom>
          <a:solidFill>
            <a:srgbClr val="E2E2DF"/>
          </a:solidFill>
          <a:ln w="3810">
            <a:solidFill>
              <a:srgbClr val="D4D4D0"/>
            </a:solidFill>
            <a:prstDash val="solid"/>
          </a:ln>
        </p:spPr>
        <p:txBody>
          <a:bodyPr/>
          <a:lstStyle/>
          <a:p>
            <a:endParaRPr lang="en-US"/>
          </a:p>
        </p:txBody>
      </p:sp>
      <p:sp>
        <p:nvSpPr>
          <p:cNvPr id="45" name="Text 43"/>
          <p:cNvSpPr/>
          <p:nvPr/>
        </p:nvSpPr>
        <p:spPr>
          <a:xfrm>
            <a:off x="402336" y="7589520"/>
            <a:ext cx="1572768" cy="402336"/>
          </a:xfrm>
          <a:prstGeom prst="rect">
            <a:avLst/>
          </a:prstGeom>
          <a:noFill/>
          <a:ln/>
        </p:spPr>
        <p:txBody>
          <a:bodyPr wrap="square" lIns="0" tIns="0" rIns="0" bIns="0" rtlCol="0" anchor="ctr"/>
          <a:lstStyle/>
          <a:p>
            <a:pPr marL="0" indent="0">
              <a:buNone/>
            </a:pPr>
            <a:r>
              <a:rPr lang="en-US" sz="850" b="1" dirty="0">
                <a:solidFill>
                  <a:srgbClr val="1A1A1A"/>
                </a:solidFill>
                <a:latin typeface="Calibri" pitchFamily="34" charset="0"/>
                <a:ea typeface="Calibri" pitchFamily="34" charset="-122"/>
                <a:cs typeface="Calibri" pitchFamily="34" charset="-120"/>
              </a:rPr>
              <a:t>Founder Secondary</a:t>
            </a:r>
            <a:endParaRPr lang="en-US" sz="850" dirty="0"/>
          </a:p>
        </p:txBody>
      </p:sp>
      <p:sp>
        <p:nvSpPr>
          <p:cNvPr id="46" name="Text 44"/>
          <p:cNvSpPr/>
          <p:nvPr/>
        </p:nvSpPr>
        <p:spPr>
          <a:xfrm>
            <a:off x="2176272" y="7571232"/>
            <a:ext cx="4206240" cy="4572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ID8 acquires founder and early employee shares (common equity), which rank below preferred stock. Mitigated by $1.2B cash on balance sheet, a near-term primary round pathway, and secondary market demand (Kalshi appears in the Setter 30).</a:t>
            </a:r>
            <a:endParaRPr lang="en-US" sz="850" dirty="0"/>
          </a:p>
        </p:txBody>
      </p:sp>
      <p:sp>
        <p:nvSpPr>
          <p:cNvPr id="47" name="Shape 45"/>
          <p:cNvSpPr/>
          <p:nvPr/>
        </p:nvSpPr>
        <p:spPr>
          <a:xfrm>
            <a:off x="320040" y="8174736"/>
            <a:ext cx="6217920" cy="603504"/>
          </a:xfrm>
          <a:prstGeom prst="rect">
            <a:avLst/>
          </a:prstGeom>
          <a:solidFill>
            <a:srgbClr val="EEEEEB"/>
          </a:solidFill>
          <a:ln w="3810">
            <a:solidFill>
              <a:srgbClr val="D4D4D0"/>
            </a:solidFill>
            <a:prstDash val="solid"/>
          </a:ln>
        </p:spPr>
        <p:txBody>
          <a:bodyPr/>
          <a:lstStyle/>
          <a:p>
            <a:endParaRPr lang="en-US"/>
          </a:p>
        </p:txBody>
      </p:sp>
      <p:sp>
        <p:nvSpPr>
          <p:cNvPr id="48" name="Shape 46"/>
          <p:cNvSpPr/>
          <p:nvPr/>
        </p:nvSpPr>
        <p:spPr>
          <a:xfrm>
            <a:off x="320040" y="8174736"/>
            <a:ext cx="1737360" cy="603504"/>
          </a:xfrm>
          <a:prstGeom prst="rect">
            <a:avLst/>
          </a:prstGeom>
          <a:solidFill>
            <a:srgbClr val="E2E2DF"/>
          </a:solidFill>
          <a:ln w="3810">
            <a:solidFill>
              <a:srgbClr val="D4D4D0"/>
            </a:solidFill>
            <a:prstDash val="solid"/>
          </a:ln>
        </p:spPr>
        <p:txBody>
          <a:bodyPr/>
          <a:lstStyle/>
          <a:p>
            <a:endParaRPr lang="en-US"/>
          </a:p>
        </p:txBody>
      </p:sp>
      <p:sp>
        <p:nvSpPr>
          <p:cNvPr id="49" name="Text 47"/>
          <p:cNvSpPr/>
          <p:nvPr/>
        </p:nvSpPr>
        <p:spPr>
          <a:xfrm>
            <a:off x="402336" y="8266176"/>
            <a:ext cx="1572768" cy="402336"/>
          </a:xfrm>
          <a:prstGeom prst="rect">
            <a:avLst/>
          </a:prstGeom>
          <a:noFill/>
          <a:ln/>
        </p:spPr>
        <p:txBody>
          <a:bodyPr wrap="square" lIns="0" tIns="0" rIns="0" bIns="0" rtlCol="0" anchor="ctr"/>
          <a:lstStyle/>
          <a:p>
            <a:pPr marL="0" indent="0">
              <a:buNone/>
            </a:pPr>
            <a:r>
              <a:rPr lang="en-US" sz="850" b="1" dirty="0">
                <a:solidFill>
                  <a:srgbClr val="1A1A1A"/>
                </a:solidFill>
                <a:latin typeface="Calibri" pitchFamily="34" charset="0"/>
                <a:ea typeface="Calibri" pitchFamily="34" charset="-122"/>
                <a:cs typeface="Calibri" pitchFamily="34" charset="-120"/>
              </a:rPr>
              <a:t>Revenue Concentration</a:t>
            </a:r>
            <a:endParaRPr lang="en-US" sz="850" dirty="0"/>
          </a:p>
        </p:txBody>
      </p:sp>
      <p:sp>
        <p:nvSpPr>
          <p:cNvPr id="50" name="Text 48"/>
          <p:cNvSpPr/>
          <p:nvPr/>
        </p:nvSpPr>
        <p:spPr>
          <a:xfrm>
            <a:off x="2176272" y="8247888"/>
            <a:ext cx="4206240" cy="4572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Current volume is weighted toward political and macro events. Mitigated by active diversification into sports, crypto, and weather categories and by the 2026 catalyst calendar providing sustained, broad-based volume.</a:t>
            </a:r>
            <a:endParaRPr lang="en-US" sz="850" dirty="0"/>
          </a:p>
        </p:txBody>
      </p:sp>
      <p:sp>
        <p:nvSpPr>
          <p:cNvPr id="51" name="Shape 49"/>
          <p:cNvSpPr/>
          <p:nvPr/>
        </p:nvSpPr>
        <p:spPr>
          <a:xfrm>
            <a:off x="0" y="8942832"/>
            <a:ext cx="6858000" cy="201168"/>
          </a:xfrm>
          <a:prstGeom prst="rect">
            <a:avLst/>
          </a:prstGeom>
          <a:solidFill>
            <a:srgbClr val="1E1E1E"/>
          </a:solidFill>
          <a:ln w="12700">
            <a:solidFill>
              <a:srgbClr val="1E1E1E"/>
            </a:solidFill>
            <a:prstDash val="solid"/>
          </a:ln>
        </p:spPr>
        <p:txBody>
          <a:bodyPr/>
          <a:lstStyle/>
          <a:p>
            <a:endParaRPr lang="en-US"/>
          </a:p>
        </p:txBody>
      </p:sp>
      <p:sp>
        <p:nvSpPr>
          <p:cNvPr id="52" name="Text 50"/>
          <p:cNvSpPr/>
          <p:nvPr/>
        </p:nvSpPr>
        <p:spPr>
          <a:xfrm>
            <a:off x="274320" y="8979408"/>
            <a:ext cx="6309360" cy="128016"/>
          </a:xfrm>
          <a:prstGeom prst="rect">
            <a:avLst/>
          </a:prstGeom>
          <a:noFill/>
          <a:ln/>
        </p:spPr>
        <p:txBody>
          <a:bodyPr wrap="square" lIns="0" tIns="0" rIns="0" bIns="0" rtlCol="0" anchor="ctr"/>
          <a:lstStyle/>
          <a:p>
            <a:pPr marL="0" indent="0">
              <a:buNone/>
            </a:pPr>
            <a:r>
              <a:rPr lang="en-US" sz="650" kern="0" spc="100" dirty="0">
                <a:solidFill>
                  <a:srgbClr val="555555"/>
                </a:solidFill>
                <a:latin typeface="Calibri" pitchFamily="34" charset="0"/>
                <a:ea typeface="Calibri" pitchFamily="34" charset="-122"/>
                <a:cs typeface="Calibri" pitchFamily="34" charset="-120"/>
              </a:rPr>
              <a:t>STRICTLY CONFIDENTIAL  ·  ID8 INVESTMENTS  </a:t>
            </a:r>
            <a:endParaRPr lang="en-US" sz="650" dirty="0"/>
          </a:p>
        </p:txBody>
      </p:sp>
      <p:pic>
        <p:nvPicPr>
          <p:cNvPr id="53" name="Google Shape;56;p13">
            <a:extLst>
              <a:ext uri="{FF2B5EF4-FFF2-40B4-BE49-F238E27FC236}">
                <a16:creationId xmlns:a16="http://schemas.microsoft.com/office/drawing/2014/main" id="{567B71D8-40DC-D403-77C5-7634F5F78776}"/>
              </a:ext>
            </a:extLst>
          </p:cNvPr>
          <p:cNvPicPr preferRelativeResize="0"/>
          <p:nvPr/>
        </p:nvPicPr>
        <p:blipFill>
          <a:blip r:embed="rId3">
            <a:alphaModFix/>
          </a:blip>
          <a:stretch>
            <a:fillRect/>
          </a:stretch>
        </p:blipFill>
        <p:spPr>
          <a:xfrm>
            <a:off x="149352" y="180594"/>
            <a:ext cx="2243328" cy="25603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1067</Words>
  <Application>Microsoft Office PowerPoint</Application>
  <PresentationFormat>On-screen Show (4:3)</PresentationFormat>
  <Paragraphs>162</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Sora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Mussadiq Lakhani</cp:lastModifiedBy>
  <cp:revision>12</cp:revision>
  <dcterms:created xsi:type="dcterms:W3CDTF">2026-03-11T17:28:57Z</dcterms:created>
  <dcterms:modified xsi:type="dcterms:W3CDTF">2026-03-11T22:17:06Z</dcterms:modified>
</cp:coreProperties>
</file>