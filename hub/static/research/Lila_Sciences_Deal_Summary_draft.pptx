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0"/>
  </p:normalViewPr>
  <p:slideViewPr>
    <p:cSldViewPr snapToGrid="0" snapToObjects="1">
      <p:cViewPr>
        <p:scale>
          <a:sx n="83" d="100"/>
          <a:sy n="83" d="100"/>
        </p:scale>
        <p:origin x="680" y="9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01B205-89CD-41EB-8602-93345E461546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32BF2-F433-4995-B11A-0CA078353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32BF2-F433-4995-B11A-0CA0783531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06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64861" y="749808"/>
            <a:ext cx="10058400" cy="201168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900" b="0" dirty="0">
                <a:solidFill>
                  <a:srgbClr val="828282"/>
                </a:solidFill>
                <a:latin typeface="Calibri"/>
              </a:rPr>
              <a:t>Autonomous AI Science Factories for scientific discovery  -  Series B Rumored (Jun 2026)  -  Cambridge, MA  -  Founded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11551615" cy="635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20040" y="6565392"/>
            <a:ext cx="2286000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ID8 Investments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40" y="6572631"/>
            <a:ext cx="12191695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INTERNAL USE ONLY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905695" y="6565392"/>
            <a:ext cx="2011680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Prepared: June 2026</a:t>
            </a:r>
          </a:p>
        </p:txBody>
      </p:sp>
      <p:pic>
        <p:nvPicPr>
          <p:cNvPr id="160" name="Picture 159">
            <a:extLst>
              <a:ext uri="{FF2B5EF4-FFF2-40B4-BE49-F238E27FC236}">
                <a16:creationId xmlns:a16="http://schemas.microsoft.com/office/drawing/2014/main" id="{E2D1939A-FFA1-8BAF-E7B1-8F9BE87A2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246" y="345956"/>
            <a:ext cx="2193129" cy="217564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320040" y="1097280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Calibri"/>
              </a:rPr>
              <a:t>WHAT THE COMPANY DOES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20040" y="1280160"/>
            <a:ext cx="3749039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333333"/>
                </a:solidFill>
                <a:latin typeface="Calibri"/>
              </a:rPr>
              <a:t>Lila Sciences (a Flagship Pioneering company) builds autonomous, closed-loop “AI Science Factories”</a:t>
            </a:r>
            <a:r>
              <a:rPr lang="en-US" sz="800" dirty="0">
                <a:solidFill>
                  <a:srgbClr val="333333"/>
                </a:solidFill>
                <a:latin typeface="Calibri"/>
              </a:rPr>
              <a:t>;</a:t>
            </a:r>
            <a:r>
              <a:rPr sz="800" b="0" dirty="0">
                <a:solidFill>
                  <a:srgbClr val="333333"/>
                </a:solidFill>
                <a:latin typeface="Calibri"/>
              </a:rPr>
              <a:t> physical labs where an AI layer generates hypotheses, designs experiments, runs them via robotic instruments, and learns from results in a continuous design-build-test-learn loop. The pitch is “scientific superintelligence”: a platform that compresses the scientific method itself, applied across life, materials, chemical, and environmental sciences rather than as a point solution. Core facility is a 22,000 m² AI Science Factory in Cambridge, MA. Revenue is partnerships, licensing, and co-development</a:t>
            </a:r>
            <a:r>
              <a:rPr lang="en-US" sz="800" b="0" dirty="0">
                <a:solidFill>
                  <a:srgbClr val="333333"/>
                </a:solidFill>
                <a:latin typeface="Calibri"/>
              </a:rPr>
              <a:t>. </a:t>
            </a:r>
            <a:r>
              <a:rPr sz="800" b="0" dirty="0">
                <a:solidFill>
                  <a:srgbClr val="333333"/>
                </a:solidFill>
                <a:latin typeface="Calibri"/>
              </a:rPr>
              <a:t>No commercialized product yet</a:t>
            </a:r>
            <a:r>
              <a:rPr lang="en-US" sz="800" b="0" dirty="0">
                <a:solidFill>
                  <a:srgbClr val="333333"/>
                </a:solidFill>
                <a:latin typeface="Calibri"/>
              </a:rPr>
              <a:t> (by public information.)</a:t>
            </a:r>
            <a:endParaRPr sz="8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320040" y="2362600"/>
            <a:ext cx="3749039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1A1A1A"/>
                </a:solidFill>
                <a:latin typeface="Calibri"/>
              </a:rPr>
              <a:t>WHY CONSIDER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20040" y="2636530"/>
            <a:ext cx="3749039" cy="17415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Exceptional Syndicate / Capital Signal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333333"/>
                </a:solidFill>
                <a:latin typeface="Calibri"/>
              </a:rPr>
              <a:t>Rumored Series B (~$2.0Bn at ~$6.5Bn pre / ~$8.5Bn post, Bloomberg 3-Jun-26) would add CalPERS and NVIDIA </a:t>
            </a:r>
            <a:r>
              <a:rPr sz="800" b="0" dirty="0" err="1">
                <a:solidFill>
                  <a:srgbClr val="333333"/>
                </a:solidFill>
                <a:latin typeface="Calibri"/>
              </a:rPr>
              <a:t>NVentures</a:t>
            </a:r>
            <a:r>
              <a:rPr sz="800" b="0" dirty="0">
                <a:solidFill>
                  <a:srgbClr val="333333"/>
                </a:solidFill>
                <a:latin typeface="Calibri"/>
              </a:rPr>
              <a:t> to Flagship, General Catalyst, ADIA, In-Q-Tel, </a:t>
            </a:r>
            <a:r>
              <a:rPr sz="800" b="0" dirty="0" err="1">
                <a:solidFill>
                  <a:srgbClr val="333333"/>
                </a:solidFill>
                <a:latin typeface="Calibri"/>
              </a:rPr>
              <a:t>Braidwell</a:t>
            </a:r>
            <a:r>
              <a:rPr sz="800" b="0" dirty="0">
                <a:solidFill>
                  <a:srgbClr val="333333"/>
                </a:solidFill>
                <a:latin typeface="Calibri"/>
              </a:rPr>
              <a:t>, and Collective Global. Sovereign, strategic, pension, and national-security capital underwriting one thesis.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Category Creation / Large TAM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333333"/>
                </a:solidFill>
                <a:latin typeface="Calibri"/>
              </a:rPr>
              <a:t>A horizontal “ARM of science” platform. AI-biotech TAM ~$5.6Bn (2026) → ~$31.9Bn (2035), ~19% CAGR; AI drug discovery ~$3.25Bn → ~$17.8Bn. Cross-domain reach exceeds any single market.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Credible Sponsor &amp; Founder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333333"/>
                </a:solidFill>
                <a:latin typeface="Calibri"/>
              </a:rPr>
              <a:t>Flagship produced category winners (Moderna, ~$100Bn+ peak). CEO Geoffrey von Maltzahn (Flagship GP) gave the MIT 2026 undergraduate commencement address — a believable, high-visibility operator. ~$550M raised to date.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20040" y="4471416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1A1A1A"/>
                </a:solidFill>
                <a:latin typeface="Calibri"/>
              </a:rPr>
              <a:t>KEY PEOPLE &amp; SPONSOR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20040" y="4747680"/>
            <a:ext cx="3749039" cy="13721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Geoffrey von Maltzahn</a:t>
            </a:r>
            <a:r>
              <a:rPr lang="en-US" sz="800" b="1" dirty="0">
                <a:solidFill>
                  <a:srgbClr val="1A1A1A"/>
                </a:solidFill>
                <a:latin typeface="Calibri"/>
              </a:rPr>
              <a:t>,</a:t>
            </a:r>
            <a:r>
              <a:rPr sz="800" b="1" dirty="0">
                <a:solidFill>
                  <a:srgbClr val="1A1A1A"/>
                </a:solidFill>
                <a:latin typeface="Calibri"/>
              </a:rPr>
              <a:t> Co-Founder &amp; CEO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333333"/>
                </a:solidFill>
                <a:latin typeface="Calibri"/>
              </a:rPr>
              <a:t>Flagship GP (since 2009), 11+ companies. MIT 2026 commencement speaker. Mixed record: </a:t>
            </a:r>
            <a:r>
              <a:rPr sz="800" b="0" dirty="0" err="1">
                <a:solidFill>
                  <a:srgbClr val="333333"/>
                </a:solidFill>
                <a:latin typeface="Calibri"/>
              </a:rPr>
              <a:t>Axcella</a:t>
            </a:r>
            <a:r>
              <a:rPr sz="800" b="0" dirty="0">
                <a:solidFill>
                  <a:srgbClr val="333333"/>
                </a:solidFill>
                <a:latin typeface="Calibri"/>
              </a:rPr>
              <a:t>, Indigo (failures), Sana, Seres (class actions); </a:t>
            </a:r>
            <a:r>
              <a:rPr sz="800" b="0" dirty="0" err="1">
                <a:solidFill>
                  <a:srgbClr val="333333"/>
                </a:solidFill>
                <a:latin typeface="Calibri"/>
              </a:rPr>
              <a:t>Generate:Biomedicines</a:t>
            </a:r>
            <a:r>
              <a:rPr sz="800" b="0" dirty="0">
                <a:solidFill>
                  <a:srgbClr val="333333"/>
                </a:solidFill>
                <a:latin typeface="Calibri"/>
              </a:rPr>
              <a:t> moderate.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George Church</a:t>
            </a:r>
            <a:r>
              <a:rPr lang="en-US" sz="800" b="1" dirty="0">
                <a:solidFill>
                  <a:srgbClr val="1A1A1A"/>
                </a:solidFill>
                <a:latin typeface="Calibri"/>
              </a:rPr>
              <a:t>,</a:t>
            </a:r>
            <a:r>
              <a:rPr sz="800" b="1" dirty="0">
                <a:solidFill>
                  <a:srgbClr val="1A1A1A"/>
                </a:solidFill>
                <a:latin typeface="Calibri"/>
              </a:rPr>
              <a:t> Relevant Scientist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333333"/>
                </a:solidFill>
                <a:latin typeface="Calibri"/>
              </a:rPr>
              <a:t>Genomics pioneer; 50+ biotech co-</a:t>
            </a:r>
            <a:r>
              <a:rPr sz="800" b="0" dirty="0" err="1">
                <a:solidFill>
                  <a:srgbClr val="333333"/>
                </a:solidFill>
                <a:latin typeface="Calibri"/>
              </a:rPr>
              <a:t>foundings</a:t>
            </a:r>
            <a:r>
              <a:rPr sz="800" b="0" dirty="0">
                <a:solidFill>
                  <a:srgbClr val="333333"/>
                </a:solidFill>
                <a:latin typeface="Calibri"/>
              </a:rPr>
              <a:t>, 200+ patents. Lends deep scientific credibility.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Flagship </a:t>
            </a:r>
            <a:r>
              <a:rPr sz="800" b="1" dirty="0" err="1">
                <a:solidFill>
                  <a:srgbClr val="1A1A1A"/>
                </a:solidFill>
                <a:latin typeface="Calibri"/>
              </a:rPr>
              <a:t>Pioneering</a:t>
            </a:r>
            <a:r>
              <a:rPr lang="en-US" sz="800" b="1" dirty="0" err="1">
                <a:solidFill>
                  <a:srgbClr val="1A1A1A"/>
                </a:solidFill>
                <a:latin typeface="Calibri"/>
              </a:rPr>
              <a:t>l</a:t>
            </a:r>
            <a:r>
              <a:rPr sz="800" b="1" dirty="0">
                <a:solidFill>
                  <a:srgbClr val="1A1A1A"/>
                </a:solidFill>
                <a:latin typeface="Calibri"/>
              </a:rPr>
              <a:t> Originator &amp; Lead Sponsor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333333"/>
                </a:solidFill>
                <a:latin typeface="Calibri"/>
              </a:rPr>
              <a:t>Founded Lila from its incubator (Mar 2025). &gt;100 companies, ~$75Bn value; manufactures category-definers and prices ahead of product. Volatile below the top end.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224528" y="1097280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Calibri"/>
              </a:rPr>
              <a:t>ROUND DETAILS</a:t>
            </a:r>
          </a:p>
        </p:txBody>
      </p:sp>
      <p:graphicFrame>
        <p:nvGraphicFramePr>
          <p:cNvPr id="168" name="Table 167"/>
          <p:cNvGraphicFramePr>
            <a:graphicFrameLocks noGrp="1"/>
          </p:cNvGraphicFramePr>
          <p:nvPr/>
        </p:nvGraphicFramePr>
        <p:xfrm>
          <a:off x="4224528" y="1280160"/>
          <a:ext cx="3749038" cy="9921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4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1732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1A1A1A"/>
                          </a:solidFill>
                          <a:latin typeface="Calibri"/>
                        </a:rPr>
                        <a:t>Round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333333"/>
                          </a:solidFill>
                          <a:latin typeface="Calibri"/>
                        </a:rPr>
                        <a:t>Series B — Rumored / in talks (Jun 3, 2026)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1A1A1A"/>
                          </a:solidFill>
                          <a:latin typeface="Calibri"/>
                        </a:rPr>
                        <a:t>Size/Pre/Post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333333"/>
                          </a:solidFill>
                          <a:latin typeface="Calibri"/>
                        </a:rPr>
                        <a:t>~$2.0Bn — ~$6.5Bn pre — ~$8.5Bn post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1A1A1A"/>
                          </a:solidFill>
                          <a:latin typeface="Calibri"/>
                        </a:rPr>
                        <a:t>Lead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333333"/>
                          </a:solidFill>
                          <a:latin typeface="Calibri"/>
                        </a:rPr>
                        <a:t>Undisclosed (TBD — key diligence item)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1A1A1A"/>
                          </a:solidFill>
                          <a:latin typeface="Calibri"/>
                        </a:rPr>
                        <a:t>Participants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333333"/>
                          </a:solidFill>
                          <a:latin typeface="Calibri"/>
                        </a:rPr>
                        <a:t>CalPERS (new), NVIDIA NVentures, Flagship, GC, ADIA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1A1A1A"/>
                          </a:solidFill>
                          <a:latin typeface="Calibri"/>
                        </a:rPr>
                        <a:t>Sourcing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333333"/>
                          </a:solidFill>
                          <a:latin typeface="Calibri"/>
                        </a:rPr>
                        <a:t>Press / PitchBook (Rumor / Speculation)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1A1A1A"/>
                          </a:solidFill>
                          <a:latin typeface="Calibri"/>
                        </a:rPr>
                        <a:t>Step-Up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333333"/>
                          </a:solidFill>
                          <a:latin typeface="Calibri"/>
                        </a:rPr>
                        <a:t>~6.5x from Series A ($1.26Bn post, Sep ’25)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algn="l"/>
                      <a:r>
                        <a:rPr sz="730" b="1" dirty="0">
                          <a:solidFill>
                            <a:srgbClr val="1A1A1A"/>
                          </a:solidFill>
                          <a:latin typeface="Calibri"/>
                        </a:rPr>
                        <a:t>Total Raised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dirty="0">
                          <a:solidFill>
                            <a:srgbClr val="333333"/>
                          </a:solidFill>
                          <a:latin typeface="Calibri"/>
                        </a:rPr>
                        <a:t>~$550M to date ($200M seed + $350M Series A)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9" name="TextBox 168"/>
          <p:cNvSpPr txBox="1"/>
          <p:nvPr/>
        </p:nvSpPr>
        <p:spPr>
          <a:xfrm>
            <a:off x="4224528" y="2395728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1A1A1A"/>
                </a:solidFill>
                <a:latin typeface="Calibri"/>
              </a:rPr>
              <a:t>CAP TABLE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147304" y="1097280"/>
            <a:ext cx="37673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Calibri"/>
              </a:rPr>
              <a:t>FINANCIAL SNAPSHOT</a:t>
            </a:r>
          </a:p>
        </p:txBody>
      </p:sp>
      <p:graphicFrame>
        <p:nvGraphicFramePr>
          <p:cNvPr id="173" name="Table 172"/>
          <p:cNvGraphicFramePr>
            <a:graphicFrameLocks noGrp="1"/>
          </p:cNvGraphicFramePr>
          <p:nvPr/>
        </p:nvGraphicFramePr>
        <p:xfrm>
          <a:off x="8147304" y="1280160"/>
          <a:ext cx="3767326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2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5720" marR="45720" marT="9144" marB="9144"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Seed ’25</a:t>
                      </a:r>
                    </a:p>
                  </a:txBody>
                  <a:tcPr marL="45720" marR="45720" marT="9144" marB="9144"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Series A ’25</a:t>
                      </a:r>
                    </a:p>
                  </a:txBody>
                  <a:tcPr marL="45720" marR="45720" marT="9144" marB="9144"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Series B ’26E</a:t>
                      </a:r>
                    </a:p>
                  </a:txBody>
                  <a:tcPr marL="45720" marR="45720" marT="9144" marB="9144" anchor="ctr"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1A1A1A"/>
                          </a:solidFill>
                          <a:latin typeface="Calibri"/>
                        </a:rPr>
                        <a:t>Post-Money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$200M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$1.26Bn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~$8.5Bn*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1A1A1A"/>
                          </a:solidFill>
                          <a:latin typeface="Calibri"/>
                        </a:rPr>
                        <a:t>Pre-Money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Undisclosed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$1.02Bn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~$6.5Bn*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1A1A1A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~$45.8M ARR*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Not disclosed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1A1A1A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Pre-product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Pre-product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No peer review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1A1A1A"/>
                          </a:solidFill>
                          <a:latin typeface="Calibri"/>
                        </a:rPr>
                        <a:t>Domains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Multi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Life/mat/chem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4, no beachhead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1A1A1A"/>
                          </a:solidFill>
                          <a:latin typeface="Calibri"/>
                        </a:rPr>
                        <a:t>Employees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188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~415 (2026)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1A1A1A"/>
                          </a:solidFill>
                          <a:latin typeface="Calibri"/>
                        </a:rPr>
                        <a:t>Round Size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$200M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$350M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~$2.0Bn*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4" name="TextBox 173"/>
          <p:cNvSpPr txBox="1"/>
          <p:nvPr/>
        </p:nvSpPr>
        <p:spPr>
          <a:xfrm>
            <a:off x="8147304" y="2743200"/>
            <a:ext cx="37673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Calibri"/>
              </a:rPr>
              <a:t>PRELIMINARY SCORING</a:t>
            </a:r>
          </a:p>
        </p:txBody>
      </p:sp>
      <p:graphicFrame>
        <p:nvGraphicFramePr>
          <p:cNvPr id="175" name="Table 174"/>
          <p:cNvGraphicFramePr>
            <a:graphicFrameLocks noGrp="1"/>
          </p:cNvGraphicFramePr>
          <p:nvPr/>
        </p:nvGraphicFramePr>
        <p:xfrm>
          <a:off x="8147304" y="2926080"/>
          <a:ext cx="3767327" cy="1014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2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Calibri"/>
                        </a:rPr>
                        <a:t>Backing Quality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A1A1A"/>
                          </a:solidFill>
                          <a:latin typeface="Calibri"/>
                        </a:rPr>
                        <a:t>4 / 4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60" b="0" dirty="0">
                          <a:solidFill>
                            <a:srgbClr val="1A1A1A"/>
                          </a:solidFill>
                          <a:latin typeface="Calibri"/>
                        </a:rPr>
                        <a:t>Deal Dynamics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A1A1A"/>
                          </a:solidFill>
                          <a:latin typeface="Calibri"/>
                        </a:rPr>
                        <a:t>3 / 4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Calibri"/>
                        </a:rPr>
                        <a:t>Valuation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 dirty="0">
                          <a:solidFill>
                            <a:srgbClr val="1A1A1A"/>
                          </a:solidFill>
                          <a:latin typeface="Calibri"/>
                        </a:rPr>
                        <a:t>1 / 4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Calibri"/>
                        </a:rPr>
                        <a:t>Tech Validation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A1A1A"/>
                          </a:solidFill>
                          <a:latin typeface="Calibri"/>
                        </a:rPr>
                        <a:t>1 / 4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Calibri"/>
                        </a:rPr>
                        <a:t>Track Record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A1A1A"/>
                          </a:solidFill>
                          <a:latin typeface="Calibri"/>
                        </a:rPr>
                        <a:t>2 / 4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60" b="1" dirty="0">
                          <a:solidFill>
                            <a:srgbClr val="FFFFFF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marL="45720" marR="45720" marT="9144" marB="9144"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 dirty="0">
                          <a:solidFill>
                            <a:srgbClr val="FFFFFF"/>
                          </a:solidFill>
                          <a:latin typeface="Calibri"/>
                        </a:rPr>
                        <a:t>2.0 / 4.0</a:t>
                      </a:r>
                    </a:p>
                  </a:txBody>
                  <a:tcPr marL="45720" marR="45720" marT="9144" marB="9144" anchor="ctr"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6" name="TextBox 175"/>
          <p:cNvSpPr txBox="1"/>
          <p:nvPr/>
        </p:nvSpPr>
        <p:spPr>
          <a:xfrm>
            <a:off x="8147304" y="4096512"/>
            <a:ext cx="37673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Calibri"/>
              </a:rPr>
              <a:t>KEY CONCERNS &amp; MITIGANTS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147304" y="4279392"/>
            <a:ext cx="3767328" cy="159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20" b="1" dirty="0">
                <a:solidFill>
                  <a:srgbClr val="1A1A1A"/>
                </a:solidFill>
                <a:latin typeface="Calibri"/>
              </a:rPr>
              <a:t>Valuation Ahead of Proof</a:t>
            </a:r>
          </a:p>
          <a:p>
            <a:pPr algn="l">
              <a:spcAft>
                <a:spcPts val="100"/>
              </a:spcAft>
            </a:pPr>
            <a:r>
              <a:rPr sz="660" b="0" dirty="0">
                <a:solidFill>
                  <a:srgbClr val="404040"/>
                </a:solidFill>
                <a:latin typeface="Calibri"/>
              </a:rPr>
              <a:t>~6.5x markup in &lt;12 </a:t>
            </a:r>
            <a:r>
              <a:rPr sz="660" b="0" dirty="0" err="1">
                <a:solidFill>
                  <a:srgbClr val="404040"/>
                </a:solidFill>
                <a:latin typeface="Calibri"/>
              </a:rPr>
              <a:t>mo</a:t>
            </a:r>
            <a:r>
              <a:rPr sz="660" b="0" dirty="0">
                <a:solidFill>
                  <a:srgbClr val="404040"/>
                </a:solidFill>
                <a:latin typeface="Calibri"/>
              </a:rPr>
              <a:t>, no peer-reviewed validation, no product; priced on narrative. Mitigant: </a:t>
            </a:r>
            <a:r>
              <a:rPr lang="en-US" sz="660" dirty="0">
                <a:solidFill>
                  <a:srgbClr val="404040"/>
                </a:solidFill>
                <a:latin typeface="Calibri"/>
              </a:rPr>
              <a:t>investors</a:t>
            </a:r>
            <a:r>
              <a:rPr sz="660" b="0" dirty="0">
                <a:solidFill>
                  <a:srgbClr val="404040"/>
                </a:solidFill>
                <a:latin typeface="Calibri"/>
              </a:rPr>
              <a:t>; a small optionality position preserves access.</a:t>
            </a:r>
          </a:p>
          <a:p>
            <a:pPr algn="l">
              <a:spcBef>
                <a:spcPts val="250"/>
              </a:spcBef>
              <a:spcAft>
                <a:spcPts val="100"/>
              </a:spcAft>
            </a:pPr>
            <a:r>
              <a:rPr sz="720" b="1" dirty="0">
                <a:solidFill>
                  <a:srgbClr val="1A1A1A"/>
                </a:solidFill>
                <a:latin typeface="Calibri"/>
              </a:rPr>
              <a:t>Unverified Revenue</a:t>
            </a:r>
          </a:p>
          <a:p>
            <a:pPr algn="l">
              <a:spcAft>
                <a:spcPts val="100"/>
              </a:spcAft>
            </a:pPr>
            <a:r>
              <a:rPr sz="660" b="0" dirty="0">
                <a:solidFill>
                  <a:srgbClr val="404040"/>
                </a:solidFill>
                <a:latin typeface="Calibri"/>
              </a:rPr>
              <a:t>~$45.8M ARR is third-party (</a:t>
            </a:r>
            <a:r>
              <a:rPr sz="660" b="0" dirty="0" err="1">
                <a:solidFill>
                  <a:srgbClr val="404040"/>
                </a:solidFill>
                <a:latin typeface="Calibri"/>
              </a:rPr>
              <a:t>GetLatka</a:t>
            </a:r>
            <a:r>
              <a:rPr sz="660" b="0" dirty="0">
                <a:solidFill>
                  <a:srgbClr val="404040"/>
                </a:solidFill>
                <a:latin typeface="Calibri"/>
              </a:rPr>
              <a:t>), unaudited </a:t>
            </a:r>
            <a:r>
              <a:rPr lang="en-US" sz="660" b="0" dirty="0">
                <a:solidFill>
                  <a:srgbClr val="404040"/>
                </a:solidFill>
                <a:latin typeface="Calibri"/>
              </a:rPr>
              <a:t>(</a:t>
            </a:r>
            <a:r>
              <a:rPr sz="660" b="0" dirty="0">
                <a:solidFill>
                  <a:srgbClr val="404040"/>
                </a:solidFill>
                <a:latin typeface="Calibri"/>
              </a:rPr>
              <a:t>likely pilots</a:t>
            </a:r>
            <a:r>
              <a:rPr lang="en-US" sz="660" b="0" dirty="0">
                <a:solidFill>
                  <a:srgbClr val="404040"/>
                </a:solidFill>
                <a:latin typeface="Calibri"/>
              </a:rPr>
              <a:t>)</a:t>
            </a:r>
            <a:r>
              <a:rPr sz="660" b="0" dirty="0">
                <a:solidFill>
                  <a:srgbClr val="404040"/>
                </a:solidFill>
                <a:latin typeface="Calibri"/>
              </a:rPr>
              <a:t>. </a:t>
            </a:r>
            <a:endParaRPr lang="en-US" sz="660" dirty="0">
              <a:solidFill>
                <a:srgbClr val="404040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720" b="1" dirty="0">
                <a:solidFill>
                  <a:srgbClr val="1A1A1A"/>
                </a:solidFill>
                <a:latin typeface="Calibri"/>
              </a:rPr>
              <a:t>Technology Overselling</a:t>
            </a:r>
          </a:p>
          <a:p>
            <a:pPr algn="l">
              <a:spcAft>
                <a:spcPts val="100"/>
              </a:spcAft>
            </a:pPr>
            <a:r>
              <a:rPr sz="660" b="0" dirty="0">
                <a:solidFill>
                  <a:srgbClr val="404040"/>
                </a:solidFill>
                <a:latin typeface="Calibri"/>
              </a:rPr>
              <a:t>System still relies on human input to validate predictions. Mitigant: peer-reviewed output in one lead domain would close the gap.</a:t>
            </a:r>
          </a:p>
          <a:p>
            <a:pPr algn="l">
              <a:spcBef>
                <a:spcPts val="250"/>
              </a:spcBef>
              <a:spcAft>
                <a:spcPts val="100"/>
              </a:spcAft>
            </a:pPr>
            <a:r>
              <a:rPr sz="720" b="1" dirty="0">
                <a:solidFill>
                  <a:srgbClr val="1A1A1A"/>
                </a:solidFill>
                <a:latin typeface="Calibri"/>
              </a:rPr>
              <a:t>Unfocused Multi-Domain Scope</a:t>
            </a:r>
          </a:p>
          <a:p>
            <a:pPr algn="l">
              <a:spcAft>
                <a:spcPts val="100"/>
              </a:spcAft>
            </a:pPr>
            <a:r>
              <a:rPr sz="660" b="0" dirty="0">
                <a:solidFill>
                  <a:srgbClr val="404040"/>
                </a:solidFill>
                <a:latin typeface="Calibri"/>
              </a:rPr>
              <a:t>Four domains at once risks shallow progress everywhere. Mitigant: a defined beachhead + roadmap makes execution measurable.</a:t>
            </a:r>
          </a:p>
          <a:p>
            <a:pPr algn="l">
              <a:spcBef>
                <a:spcPts val="250"/>
              </a:spcBef>
              <a:spcAft>
                <a:spcPts val="100"/>
              </a:spcAft>
            </a:pPr>
            <a:r>
              <a:rPr sz="720" b="1" dirty="0">
                <a:solidFill>
                  <a:srgbClr val="1A1A1A"/>
                </a:solidFill>
                <a:latin typeface="Calibri"/>
              </a:rPr>
              <a:t>Flagship Hype / Cautionary Comp</a:t>
            </a:r>
          </a:p>
          <a:p>
            <a:pPr algn="l">
              <a:spcAft>
                <a:spcPts val="100"/>
              </a:spcAft>
            </a:pPr>
            <a:r>
              <a:rPr sz="660" b="0" dirty="0">
                <a:solidFill>
                  <a:srgbClr val="404040"/>
                </a:solidFill>
                <a:latin typeface="Calibri"/>
              </a:rPr>
              <a:t>Ginkgo</a:t>
            </a:r>
            <a:r>
              <a:rPr lang="en-US" sz="660" b="0" dirty="0">
                <a:solidFill>
                  <a:srgbClr val="404040"/>
                </a:solidFill>
                <a:latin typeface="Calibri"/>
              </a:rPr>
              <a:t>,</a:t>
            </a:r>
            <a:r>
              <a:rPr sz="660" b="0" dirty="0">
                <a:solidFill>
                  <a:srgbClr val="404040"/>
                </a:solidFill>
                <a:latin typeface="Calibri"/>
              </a:rPr>
              <a:t> validated AI, ~$151M rev — down ~55%. Mitigant: Moderna shows the model’s upside when it works.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221325" y="5923874"/>
            <a:ext cx="3749039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600" dirty="0">
                <a:solidFill>
                  <a:srgbClr val="8A8A8A"/>
                </a:solidFill>
                <a:latin typeface="Calibri"/>
              </a:rPr>
              <a:t>Series B reported in talks (rumor/speculation); pre-money ~$6.5Bn per Bloomberg. Series A verified via </a:t>
            </a:r>
            <a:r>
              <a:rPr sz="600" dirty="0" err="1">
                <a:solidFill>
                  <a:srgbClr val="8A8A8A"/>
                </a:solidFill>
                <a:latin typeface="Calibri"/>
              </a:rPr>
              <a:t>PitchBook</a:t>
            </a:r>
            <a:r>
              <a:rPr sz="600" dirty="0">
                <a:solidFill>
                  <a:srgbClr val="8A8A8A"/>
                </a:solidFill>
                <a:latin typeface="Calibri"/>
              </a:rPr>
              <a:t> PBID 281417-68T. ARR unaudited.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6B8F9-9E5F-60D3-C20E-EFA058027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80072"/>
            <a:ext cx="1841500" cy="1524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3C59B9-98FC-6FDB-64CB-129CC32C9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171663"/>
              </p:ext>
            </p:extLst>
          </p:nvPr>
        </p:nvGraphicFramePr>
        <p:xfrm>
          <a:off x="4221326" y="2618320"/>
          <a:ext cx="3749038" cy="2879335"/>
        </p:xfrm>
        <a:graphic>
          <a:graphicData uri="http://schemas.openxmlformats.org/drawingml/2006/table">
            <a:tbl>
              <a:tblPr/>
              <a:tblGrid>
                <a:gridCol w="573981">
                  <a:extLst>
                    <a:ext uri="{9D8B030D-6E8A-4147-A177-3AD203B41FA5}">
                      <a16:colId xmlns:a16="http://schemas.microsoft.com/office/drawing/2014/main" val="2109155507"/>
                    </a:ext>
                  </a:extLst>
                </a:gridCol>
                <a:gridCol w="868526">
                  <a:extLst>
                    <a:ext uri="{9D8B030D-6E8A-4147-A177-3AD203B41FA5}">
                      <a16:colId xmlns:a16="http://schemas.microsoft.com/office/drawing/2014/main" val="595410906"/>
                    </a:ext>
                  </a:extLst>
                </a:gridCol>
                <a:gridCol w="2306531">
                  <a:extLst>
                    <a:ext uri="{9D8B030D-6E8A-4147-A177-3AD203B41FA5}">
                      <a16:colId xmlns:a16="http://schemas.microsoft.com/office/drawing/2014/main" val="1210787592"/>
                    </a:ext>
                  </a:extLst>
                </a:gridCol>
              </a:tblGrid>
              <a:tr h="29175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</a:rPr>
                        <a:t>Round</a:t>
                      </a:r>
                    </a:p>
                  </a:txBody>
                  <a:tcPr marL="8021" marR="8021" marT="5347" marB="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</a:rPr>
                        <a:t>Amount</a:t>
                      </a:r>
                    </a:p>
                  </a:txBody>
                  <a:tcPr marL="8021" marR="8021" marT="5347" marB="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</a:rPr>
                        <a:t>Investor</a:t>
                      </a:r>
                    </a:p>
                  </a:txBody>
                  <a:tcPr marL="8021" marR="8021" marT="5347" marB="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907927"/>
                  </a:ext>
                </a:extLst>
              </a:tr>
              <a:tr h="152281">
                <a:tc row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1" dirty="0">
                          <a:effectLst/>
                        </a:rPr>
                        <a:t>Seed (March 2025)</a:t>
                      </a:r>
                    </a:p>
                  </a:txBody>
                  <a:tcPr marL="8021" marR="8021" marT="5347" marB="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$200M</a:t>
                      </a:r>
                    </a:p>
                  </a:txBody>
                  <a:tcPr marL="8021" marR="8021" marT="5347" marB="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b="1" dirty="0">
                          <a:effectLst/>
                        </a:rPr>
                        <a:t>Flagship Pioneering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992343"/>
                  </a:ext>
                </a:extLst>
              </a:tr>
              <a:tr h="1522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b="1" dirty="0">
                          <a:effectLst/>
                        </a:rPr>
                        <a:t>General Catalyst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023797"/>
                  </a:ext>
                </a:extLst>
              </a:tr>
              <a:tr h="1522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March Capital</a:t>
                      </a:r>
                    </a:p>
                  </a:txBody>
                  <a:tcPr marL="8021" marR="8021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177860"/>
                  </a:ext>
                </a:extLst>
              </a:tr>
              <a:tr h="152281">
                <a:tc rowSpan="9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1" dirty="0">
                          <a:effectLst/>
                        </a:rPr>
                        <a:t>Series A (Sep 2025)</a:t>
                      </a:r>
                    </a:p>
                  </a:txBody>
                  <a:tcPr marL="8021" marR="8021" marT="5347" marB="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$350M</a:t>
                      </a:r>
                    </a:p>
                  </a:txBody>
                  <a:tcPr marL="8021" marR="8021" marT="5347" marB="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Collective Global (co-lead)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285803"/>
                  </a:ext>
                </a:extLst>
              </a:tr>
              <a:tr h="1522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 err="1">
                          <a:effectLst/>
                        </a:rPr>
                        <a:t>Braidwell</a:t>
                      </a:r>
                      <a:r>
                        <a:rPr lang="en-US" sz="900" dirty="0">
                          <a:effectLst/>
                        </a:rPr>
                        <a:t> (co-lead)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150053"/>
                  </a:ext>
                </a:extLst>
              </a:tr>
              <a:tr h="1522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b="1" dirty="0">
                          <a:effectLst/>
                        </a:rPr>
                        <a:t>NVIDIA </a:t>
                      </a:r>
                      <a:r>
                        <a:rPr lang="en-US" sz="900" b="1" dirty="0" err="1">
                          <a:effectLst/>
                        </a:rPr>
                        <a:t>NVentures</a:t>
                      </a:r>
                      <a:endParaRPr lang="en-US" sz="900" b="1" dirty="0">
                        <a:effectLst/>
                      </a:endParaRP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175576"/>
                  </a:ext>
                </a:extLst>
              </a:tr>
              <a:tr h="1522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ADIA</a:t>
                      </a:r>
                    </a:p>
                  </a:txBody>
                  <a:tcPr marL="8021" marR="8021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375666"/>
                  </a:ext>
                </a:extLst>
              </a:tr>
              <a:tr h="1522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In-Q-Tel</a:t>
                      </a:r>
                    </a:p>
                  </a:txBody>
                  <a:tcPr marL="8021" marR="8021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87617"/>
                  </a:ext>
                </a:extLst>
              </a:tr>
              <a:tr h="1522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Analog Devices</a:t>
                      </a:r>
                    </a:p>
                  </a:txBody>
                  <a:tcPr marL="8021" marR="8021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931213"/>
                  </a:ext>
                </a:extLst>
              </a:tr>
              <a:tr h="1522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March Capital</a:t>
                      </a:r>
                    </a:p>
                  </a:txBody>
                  <a:tcPr marL="8021" marR="8021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595810"/>
                  </a:ext>
                </a:extLst>
              </a:tr>
              <a:tr h="1522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Flagship Pioneering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71103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lnSpc>
                          <a:spcPct val="100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General Catalyst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009082"/>
                  </a:ext>
                </a:extLst>
              </a:tr>
              <a:tr h="152281">
                <a:tc rowSpan="5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1" dirty="0">
                          <a:effectLst/>
                        </a:rPr>
                        <a:t>Series B (Jun 2026)</a:t>
                      </a:r>
                    </a:p>
                  </a:txBody>
                  <a:tcPr marL="8021" marR="8021" marT="5347" marB="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~$2.0Bn</a:t>
                      </a:r>
                    </a:p>
                  </a:txBody>
                  <a:tcPr marL="8021" marR="8021" marT="5347" marB="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Lead undisclosed (TBD)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214139"/>
                  </a:ext>
                </a:extLst>
              </a:tr>
              <a:tr h="1522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CalPERS (new, pension fund)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475796"/>
                  </a:ext>
                </a:extLst>
              </a:tr>
              <a:tr h="1522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NVIDIA </a:t>
                      </a:r>
                      <a:r>
                        <a:rPr lang="en-US" sz="900" dirty="0" err="1">
                          <a:effectLst/>
                        </a:rPr>
                        <a:t>NVentures</a:t>
                      </a:r>
                      <a:r>
                        <a:rPr lang="en-US" sz="900" dirty="0">
                          <a:effectLst/>
                        </a:rPr>
                        <a:t> (follow-on)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766083"/>
                  </a:ext>
                </a:extLst>
              </a:tr>
              <a:tr h="1555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General Catalyst (reported)</a:t>
                      </a:r>
                    </a:p>
                  </a:txBody>
                  <a:tcPr marL="0" marR="0" marT="5347" marB="5347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978525"/>
                  </a:ext>
                </a:extLst>
              </a:tr>
              <a:tr h="1522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ADIA (reported)</a:t>
                      </a:r>
                    </a:p>
                  </a:txBody>
                  <a:tcPr marL="8021" marR="8021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3614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73" y="-6095"/>
            <a:ext cx="12191695" cy="7772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20040" y="841248"/>
            <a:ext cx="11551615" cy="201168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900" b="0" dirty="0">
                <a:solidFill>
                  <a:srgbClr val="828282"/>
                </a:solidFill>
                <a:latin typeface="Calibri"/>
              </a:rPr>
              <a:t>Comps grouped by relevance  -  AI science / autonomous labs  /  AI drug discovery (public)  /  Platform-bio precedent  -  Bull / Base / Bear at ~$8.5Bn entry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2286000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ID8 Investments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INTERNAL USE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565392"/>
            <a:ext cx="2011680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Prepared: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097280"/>
            <a:ext cx="10972800" cy="182880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COMPARABLE AI-SCIENCE / AUTONOMOUS-LAB / AI-BIO VALUATIONS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" y="4215384"/>
            <a:ext cx="11551615" cy="502920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630" b="0">
                <a:solidFill>
                  <a:srgbClr val="A8A8A8"/>
                </a:solidFill>
                <a:latin typeface="Calibri"/>
              </a:rPr>
              <a:t>Lila’s ~$8.5Bn rumored mark prices it ~3x the public AI-discovery peers (Recursion ~$2.5Bn, Exscientia ~$2.9Bn) and ~16x Ginkgo’s market cap, despite Lila being pre-product with unaudited revenue. The ~$45.8M ARR is from GetLatka (third-party aggregator), not audited financials, and most plausibly reflects early pilots. The relevant frame is not a revenue multiple but Flagship’s “price-ahead-of-product” template (Moderna): the entry is underwritten by platform optionality, not demonstrated output. Periodic Labs at ~$7Bn shows the rich pricing is category-wide. Public data as of June 2026; all Lila figures rumored/unverified.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4547616"/>
            <a:ext cx="11551615" cy="182880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1000" b="1" dirty="0">
                <a:solidFill>
                  <a:srgbClr val="1A1A1A"/>
                </a:solidFill>
                <a:latin typeface="Calibri"/>
              </a:rPr>
              <a:t>VALUATION / UNDERWRITING ANALYSIS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0040" y="4730496"/>
            <a:ext cx="11551615" cy="397605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800" b="0" dirty="0">
                <a:solidFill>
                  <a:srgbClr val="1A1A1A"/>
                </a:solidFill>
                <a:latin typeface="Calibri"/>
              </a:rPr>
              <a:t>There is no clean revenue-grounded multiple for </a:t>
            </a:r>
            <a:r>
              <a:rPr sz="800" b="0" dirty="0" err="1">
                <a:solidFill>
                  <a:srgbClr val="1A1A1A"/>
                </a:solidFill>
                <a:latin typeface="Calibri"/>
              </a:rPr>
              <a:t>Lila</a:t>
            </a:r>
            <a:r>
              <a:rPr sz="800" b="0" dirty="0">
                <a:solidFill>
                  <a:srgbClr val="1A1A1A"/>
                </a:solidFill>
                <a:latin typeface="Calibri"/>
              </a:rPr>
              <a:t>: the only ARR figure (~$45.8M, unverified) implies ~185x and almost certainly reflects pilots, not recurring contracts. Public AI-discovery peers with validated platforms and real pipelines (Recursion ~$2.5Bn, Exscientia ~$2.9Bn) trade at a fraction of Lila’s rumored mark, and Ginkgo - 18 years, validated AI, ~$151M revenue - is down ~55%. So the case cannot rest on in-place economics. It rests on the Flagship template: manufacture a category-definer and price ahead of product, as with Moderna ($7.5Bn IPO, $0 product revenue, ~$100Bn+ peak). The bull case requires </a:t>
            </a:r>
            <a:r>
              <a:rPr sz="800" b="0" dirty="0" err="1">
                <a:solidFill>
                  <a:srgbClr val="1A1A1A"/>
                </a:solidFill>
                <a:latin typeface="Calibri"/>
              </a:rPr>
              <a:t>Lila</a:t>
            </a:r>
            <a:r>
              <a:rPr sz="800" b="0" dirty="0">
                <a:solidFill>
                  <a:srgbClr val="1A1A1A"/>
                </a:solidFill>
                <a:latin typeface="Calibri"/>
              </a:rPr>
              <a:t> to validate the platform and convert pilots into committed revenue. Critical: confirming the round’s lead/terms and actual recurring revenue is the #1 diligence ask.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" y="5280660"/>
            <a:ext cx="11551615" cy="182880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Calibri"/>
              </a:rPr>
              <a:t>BULL  /  BASE  /  BEAR SCENARIOS - ID8 ENTRY AT ~$8.5Bn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5481828"/>
            <a:ext cx="3759098" cy="795528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20040" y="5481828"/>
            <a:ext cx="3759098" cy="21945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11480" y="5481828"/>
            <a:ext cx="1879549" cy="219456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BULL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99589" y="5481828"/>
            <a:ext cx="1788109" cy="219456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Calibri"/>
              </a:rPr>
              <a:t>5 - 10x+  over 4-6 yrs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0040" y="5719572"/>
            <a:ext cx="3759098" cy="274320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670" b="0" dirty="0">
                <a:solidFill>
                  <a:srgbClr val="1A1A1A"/>
                </a:solidFill>
                <a:latin typeface="Calibri"/>
              </a:rPr>
              <a:t>Platform validates (peer-reviewed, repeatable). Becomes the “ARM of science” - licensing + co-development across domains. Next-Moderna outcome; $40-85Bn+ over time as category-definer.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6012180"/>
            <a:ext cx="3759098" cy="91440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560" b="1">
                <a:solidFill>
                  <a:srgbClr val="828282"/>
                </a:solidFill>
                <a:latin typeface="Calibri"/>
              </a:rPr>
              <a:t>WATCH FOR: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5760" y="6112764"/>
            <a:ext cx="3667658" cy="164592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620" b="0" dirty="0">
                <a:solidFill>
                  <a:srgbClr val="1A1A1A"/>
                </a:solidFill>
                <a:latin typeface="Calibri"/>
              </a:rPr>
              <a:t>Peer-reviewed / replicated output  /  Committed co-development deals  /  A defined lead domain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16298" y="5481828"/>
            <a:ext cx="3759098" cy="795528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1" name="Rectangle 90"/>
          <p:cNvSpPr/>
          <p:nvPr/>
        </p:nvSpPr>
        <p:spPr>
          <a:xfrm>
            <a:off x="4216298" y="5481828"/>
            <a:ext cx="3759098" cy="219456"/>
          </a:xfrm>
          <a:prstGeom prst="rect">
            <a:avLst/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307738" y="5481828"/>
            <a:ext cx="1879549" cy="219456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95847" y="5481828"/>
            <a:ext cx="1788109" cy="219456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Calibri"/>
              </a:rPr>
              <a:t>1.0 - 2.0x  over 5-7 yrs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16298" y="5719572"/>
            <a:ext cx="3759098" cy="274320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670" b="0">
                <a:solidFill>
                  <a:srgbClr val="1A1A1A"/>
                </a:solidFill>
                <a:latin typeface="Calibri"/>
              </a:rPr>
              <a:t>Validates in one domain; real but slower commercial ramp. Raises again at a higher but not vertical mark; eventual IPO or strategic interest. Optionality intact, returns modest from this entry.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62018" y="6012180"/>
            <a:ext cx="3759098" cy="91440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560" b="1">
                <a:solidFill>
                  <a:srgbClr val="828282"/>
                </a:solidFill>
                <a:latin typeface="Calibri"/>
              </a:rPr>
              <a:t>WATCH FOR: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62018" y="6112764"/>
            <a:ext cx="3667658" cy="164592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620" b="0" dirty="0">
                <a:solidFill>
                  <a:srgbClr val="1A1A1A"/>
                </a:solidFill>
                <a:latin typeface="Calibri"/>
              </a:rPr>
              <a:t>Pilots convert to recurring revenue  /  Focus narrows to a beachhead  /  New outside leads each round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12556" y="5481828"/>
            <a:ext cx="3759098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8112556" y="5481828"/>
            <a:ext cx="3759098" cy="219456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203996" y="5481828"/>
            <a:ext cx="1879549" cy="219456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Calibri"/>
              </a:rPr>
              <a:t>BEAR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992105" y="5481828"/>
            <a:ext cx="1788109" cy="219456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r"/>
            <a:r>
              <a:rPr sz="850" b="1">
                <a:solidFill>
                  <a:srgbClr val="1A1A1A"/>
                </a:solidFill>
                <a:latin typeface="Calibri"/>
              </a:rPr>
              <a:t>0.2 - 0.6x  (down)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112556" y="5719572"/>
            <a:ext cx="3759098" cy="274320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670" b="0" dirty="0">
                <a:solidFill>
                  <a:srgbClr val="1A1A1A"/>
                </a:solidFill>
                <a:latin typeface="Calibri"/>
              </a:rPr>
              <a:t>Platform proof slips; “superintelligence” framing outpaces capability. </a:t>
            </a:r>
            <a:r>
              <a:rPr sz="670" b="0" dirty="0" err="1">
                <a:solidFill>
                  <a:srgbClr val="1A1A1A"/>
                </a:solidFill>
                <a:latin typeface="Calibri"/>
              </a:rPr>
              <a:t>Ginkgo</a:t>
            </a:r>
            <a:r>
              <a:rPr sz="670" b="0" dirty="0">
                <a:solidFill>
                  <a:srgbClr val="1A1A1A"/>
                </a:solidFill>
                <a:latin typeface="Calibri"/>
              </a:rPr>
              <a:t>-</a:t>
            </a:r>
            <a:r>
              <a:rPr sz="670" b="0" dirty="0" err="1">
                <a:solidFill>
                  <a:srgbClr val="1A1A1A"/>
                </a:solidFill>
                <a:latin typeface="Calibri"/>
              </a:rPr>
              <a:t>style</a:t>
            </a:r>
            <a:r>
              <a:rPr sz="670" b="0" dirty="0">
                <a:solidFill>
                  <a:srgbClr val="1A1A1A"/>
                </a:solidFill>
                <a:latin typeface="Calibri"/>
              </a:rPr>
              <a:t> de-rating. Down round to $2-4Bn or strategic sale; multi-domain scope dilutes focus and burns capital.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158276" y="6012180"/>
            <a:ext cx="3759098" cy="91440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560" b="1">
                <a:solidFill>
                  <a:srgbClr val="828282"/>
                </a:solidFill>
                <a:latin typeface="Calibri"/>
              </a:rPr>
              <a:t>WATCH FOR: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158276" y="6112764"/>
            <a:ext cx="3667658" cy="164592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620" b="0" dirty="0">
                <a:solidFill>
                  <a:srgbClr val="1A1A1A"/>
                </a:solidFill>
                <a:latin typeface="Calibri"/>
              </a:rPr>
              <a:t>No peer-reviewed proof  /  </a:t>
            </a:r>
            <a:r>
              <a:rPr sz="620" b="0" dirty="0" err="1">
                <a:solidFill>
                  <a:srgbClr val="1A1A1A"/>
                </a:solidFill>
                <a:latin typeface="Calibri"/>
              </a:rPr>
              <a:t>Revenue stays pilot-only</a:t>
            </a:r>
            <a:r>
              <a:rPr sz="620" b="0" dirty="0">
                <a:solidFill>
                  <a:srgbClr val="1A1A1A"/>
                </a:solidFill>
                <a:latin typeface="Calibri"/>
              </a:rPr>
              <a:t>  /  Only insiders in next round</a:t>
            </a:r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05D14DE4-288A-CFCF-7B4F-BB50B33FE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402" y="312336"/>
            <a:ext cx="2191973" cy="216575"/>
          </a:xfrm>
          <a:prstGeom prst="rect">
            <a:avLst/>
          </a:prstGeom>
        </p:spPr>
      </p:pic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320040" y="1289304"/>
          <a:ext cx="11548870" cy="27477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7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8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3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VALUATION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gridSpan="5"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404040"/>
                          </a:solidFill>
                          <a:latin typeface="Calibri"/>
                        </a:rPr>
                        <a:t>DIRECT PRIVATE COMPS  —  AI science / autonomous labs</a:t>
                      </a:r>
                    </a:p>
                  </a:txBody>
                  <a:tcPr marL="45720" marR="45720" marT="9144" marB="9144" anchor="ctr">
                    <a:solidFill>
                      <a:srgbClr val="E3E3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1A1A1A"/>
                          </a:solidFill>
                          <a:latin typeface="Calibri"/>
                        </a:rPr>
                        <a:t>Lila Sciences (ID8 entry)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Series B (rumored)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~$8.5Bn (Jun 2026); ~$550M raised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~$45.8M ARR (unverified)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~185x on unaudited ARR; pre-product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1A1A1A"/>
                          </a:solidFill>
                          <a:latin typeface="Calibri"/>
                        </a:rPr>
                        <a:t>Periodic Labs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Early/Growth (Private)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~$7Bn (rumored 2025)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Pre-revenue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Materials-only; ex-OpenAI/DeepMind team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1A1A1A"/>
                          </a:solidFill>
                          <a:latin typeface="Calibri"/>
                        </a:rPr>
                        <a:t>Emerald Cloud Lab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Undisclosed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~$45M revenue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Cloud-lab services; validated, revenue-stage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 gridSpan="5"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404040"/>
                          </a:solidFill>
                          <a:latin typeface="Calibri"/>
                        </a:rPr>
                        <a:t>AI DRUG DISCOVERY (PUBLIC)  —  adjacent wedge, market-priced</a:t>
                      </a:r>
                    </a:p>
                  </a:txBody>
                  <a:tcPr marL="45720" marR="45720" marT="9144" marB="9144" anchor="ctr">
                    <a:solidFill>
                      <a:srgbClr val="E3E3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1A1A1A"/>
                          </a:solidFill>
                          <a:latin typeface="Calibri"/>
                        </a:rPr>
                        <a:t>Recursion (NASDAQ: RXRX)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Public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~$2.5Bn market cap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Reported revenue; clinical pipeline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Validated AI; far below Lila mark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 gridSpan="5"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404040"/>
                          </a:solidFill>
                          <a:latin typeface="Calibri"/>
                        </a:rPr>
                        <a:t>AI DRUG DISCOVERY + PLATFORM-BIO PRECEDENT</a:t>
                      </a:r>
                    </a:p>
                  </a:txBody>
                  <a:tcPr marL="45720" marR="45720" marT="9144" marB="9144" anchor="ctr">
                    <a:solidFill>
                      <a:srgbClr val="E3E3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Exscientia</a:t>
                      </a:r>
                      <a:r>
                        <a:rPr sz="630" b="1" dirty="0">
                          <a:solidFill>
                            <a:srgbClr val="1A1A1A"/>
                          </a:solidFill>
                          <a:latin typeface="Calibri"/>
                        </a:rPr>
                        <a:t> (NASDAQ: EXSI)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Public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~$2.9Bn market cap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Pipeline; no approvals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Public AI discovery peer; struggling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1A1A1A"/>
                          </a:solidFill>
                          <a:latin typeface="Calibri"/>
                        </a:rPr>
                        <a:t>Ginkgo Bioworks (NYSE: DNA)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Public, restructuring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~$515M market cap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~$151M revenue (–49% YoY)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Validated AI yet down ~55%; cautionary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1A1A1A"/>
                          </a:solidFill>
                          <a:latin typeface="Calibri"/>
                        </a:rPr>
                        <a:t>Moderna (Flagship precedent)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Public (IPO 2018)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$7.5Bn IPO; ~$100Bn+ peak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$0 product revenue at IPO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The Flagship “price-ahead-of-product” win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1A1A1A"/>
                          </a:solidFill>
                          <a:latin typeface="Calibri"/>
                        </a:rPr>
                        <a:t>Insilico Medicine (HKEX: 3696)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Public, clinical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Public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Reported revenue; Phase IIa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Generative-AI discovery; clinical-stage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1A1A1A"/>
                          </a:solidFill>
                          <a:latin typeface="Calibri"/>
                        </a:rPr>
                        <a:t>Generate:Biomedicines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Private (Flagship)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Phase 3 pipeline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 dirty="0">
                          <a:solidFill>
                            <a:srgbClr val="555555"/>
                          </a:solidFill>
                          <a:latin typeface="Calibri"/>
                        </a:rPr>
                        <a:t>von Maltzahn-founded; closest sponsor comp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14" name="Graphic 13">
            <a:extLst>
              <a:ext uri="{FF2B5EF4-FFF2-40B4-BE49-F238E27FC236}">
                <a16:creationId xmlns:a16="http://schemas.microsoft.com/office/drawing/2014/main" id="{A344615C-4716-604C-BB74-D5CAADA50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" y="354605"/>
            <a:ext cx="1645047" cy="136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841248"/>
            <a:ext cx="11551615" cy="201168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900" b="0">
                <a:solidFill>
                  <a:srgbClr val="828282"/>
                </a:solidFill>
                <a:latin typeface="Calibri"/>
              </a:rPr>
              <a:t>Research date: June 2026  -  PitchBook (PBID 281417-68T) Priority 1  -  Web sources verified Jun ’26  -  Series B figures rumored / unverified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2286000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ID8 Investments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INTERNAL USE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565392"/>
            <a:ext cx="2011680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Prepared: June 2026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6D82DBFF-FF38-DAD6-C211-124BBC78E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402" y="312336"/>
            <a:ext cx="2191973" cy="216575"/>
          </a:xfrm>
          <a:prstGeom prst="rect">
            <a:avLst/>
          </a:prstGeom>
        </p:spPr>
      </p:pic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320040" y="1188720"/>
          <a:ext cx="11548872" cy="5266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>SOURCE / PUBLICATION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>WHAT WAS FOUND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1A1A1A"/>
                          </a:solidFill>
                          <a:latin typeface="Calibri"/>
                        </a:rPr>
                        <a:t>URL / CITATION</a:t>
                      </a:r>
                    </a:p>
                  </a:txBody>
                  <a:tcPr marL="45720" marR="45720" marT="9144" marB="9144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PitchBook (PBID 281417-68T)</a:t>
                      </a:r>
                    </a:p>
                  </a:txBody>
                  <a:tcPr marL="45720" marR="45720" marT="9144" marB="9144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Founded 2025; HQ Cambridge MA. Seed $200M (Mar 2025); Series A $350M (Sep 2025) at $1.02Bn pre / $1.26Bn post, led by Collective Global + Braidwell; ~20+ co-investors incl. ADIA, NVIDIA NVentures, In-Q-Tel, Analog Devices, March Capital, Flagship, GC. Series B (Jun 3 2026): ~$2.0Bn rumored at ~$6.5Bn pre / ~$8.5Bn post — status Rumor/Speculation. ~415 employees.</a:t>
                      </a:r>
                    </a:p>
                  </a:txBody>
                  <a:tcPr marL="45720" marR="45720" marT="9144" marB="9144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https://my.pitchbook.com/profile/281417-68T</a:t>
                      </a:r>
                    </a:p>
                  </a:txBody>
                  <a:tcPr marL="45720" marR="45720" marT="9144" marB="9144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Bloomberg (June 3, 2026) — SERIES B / VALUATION ANCHOR</a:t>
                      </a:r>
                    </a:p>
                  </a:txBody>
                  <a:tcPr marL="45720" marR="45720" marT="9144" marB="9144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Lila Sciences said in talks for ~$2.0Bn of funding at ~$8.5Bn valuation. Primary source for the rumored Series B mark; terms, lead, and final size unconfirmed. CalPERS and NVIDIA reported among prospective backers.</a:t>
                      </a:r>
                    </a:p>
                  </a:txBody>
                  <a:tcPr marL="45720" marR="45720" marT="9144" marB="9144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https://www.bloomberg.com/news/articles/2026-06-03/lila-sciences-said-in-talks-for-funds-at-8-5-billion-valuation</a:t>
                      </a:r>
                    </a:p>
                  </a:txBody>
                  <a:tcPr marL="45720" marR="45720" marT="9144" marB="914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GetLatka (private aggregator) — REVENUE (UNVERIFIED)</a:t>
                      </a:r>
                    </a:p>
                  </a:txBody>
                  <a:tcPr marL="45720" marR="45720" marT="9144" marB="9144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 dirty="0">
                          <a:solidFill>
                            <a:srgbClr val="555555"/>
                          </a:solidFill>
                          <a:latin typeface="Calibri"/>
                        </a:rPr>
                        <a:t>~$45.8M ARR figure for </a:t>
                      </a:r>
                      <a:r>
                        <a:rPr sz="600" b="0" dirty="0" err="1">
                          <a:solidFill>
                            <a:srgbClr val="555555"/>
                          </a:solidFill>
                          <a:latin typeface="Calibri"/>
                        </a:rPr>
                        <a:t>lila.ai</a:t>
                      </a:r>
                      <a:r>
                        <a:rPr sz="600" b="0" dirty="0">
                          <a:solidFill>
                            <a:srgbClr val="555555"/>
                          </a:solidFill>
                          <a:latin typeface="Calibri"/>
                        </a:rPr>
                        <a:t>. Third-party private data aggregator, not audited financials; most plausibly reflects early pilot partnerships rather than recurring commercial contracts. Treat as unverified — #1 diligence item.</a:t>
                      </a:r>
                    </a:p>
                  </a:txBody>
                  <a:tcPr marL="45720" marR="45720" marT="9144" marB="9144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https://getlatka.com/companies/lila.ai</a:t>
                      </a:r>
                    </a:p>
                  </a:txBody>
                  <a:tcPr marL="45720" marR="45720" marT="9144" marB="9144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Reuters (October 14, 2025) — SERIES A</a:t>
                      </a:r>
                    </a:p>
                  </a:txBody>
                  <a:tcPr marL="45720" marR="45720" marT="9144" marB="9144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AI lab Lila Sciences tops $1.3Bn valuation with new NVIDIA backing. Confirms the Series A post-money and NVIDIA NVentures participation; anchor for the ~6.5x step-up to the rumored Series B.</a:t>
                      </a:r>
                    </a:p>
                  </a:txBody>
                  <a:tcPr marL="45720" marR="45720" marT="9144" marB="9144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https://www.reuters.com/business/ai-lab-lila-sciences-tops-13-billion-valuation-with-new-nvidia-backing-2025-10-14/</a:t>
                      </a:r>
                    </a:p>
                  </a:txBody>
                  <a:tcPr marL="45720" marR="45720" marT="9144" marB="914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Flagship Pioneering press release (Mar 2025) — LAUNCH</a:t>
                      </a:r>
                    </a:p>
                  </a:txBody>
                  <a:tcPr marL="45720" marR="45720" marT="9144" marB="9144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Flagship unveils Lila Sciences to build “superintelligence in science.” Establishes sponsor, originator model, multi-domain scope (life / materials / chemical / environmental), and the 22,000 m² AI Science Factory in Cambridge MA.</a:t>
                      </a:r>
                    </a:p>
                  </a:txBody>
                  <a:tcPr marL="45720" marR="45720" marT="9144" marB="9144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https://www.flagshippioneering.com/news/press-release/flagship-pioneering-unveils-lila-sciences</a:t>
                      </a:r>
                    </a:p>
                  </a:txBody>
                  <a:tcPr marL="45720" marR="45720" marT="9144" marB="9144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Nature (2026) — TECHNOLOGY VALIDATION CHECK</a:t>
                      </a:r>
                    </a:p>
                  </a:txBody>
                  <a:tcPr marL="45720" marR="45720" marT="9144" marB="9144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Reporting indicates the system still relies on human input to validate AI-generated predictions — a gap between the “scientific superintelligence” framing and demonstrated, independently validated capability. No peer-reviewed proof of autonomous output at scale.</a:t>
                      </a:r>
                    </a:p>
                  </a:txBody>
                  <a:tcPr marL="45720" marR="45720" marT="9144" marB="9144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https://www.nature.com/articles/d41586-026-00974-2</a:t>
                      </a:r>
                    </a:p>
                  </a:txBody>
                  <a:tcPr marL="45720" marR="45720" marT="9144" marB="914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Founder / sponsor background</a:t>
                      </a:r>
                    </a:p>
                  </a:txBody>
                  <a:tcPr marL="45720" marR="45720" marT="9144" marB="9144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Geoffrey von Maltzahn: Flagship GP since 2009, 11+ companies; MIT 2026 undergraduate commencement speaker. Mixed record: Axcella and Indigo (failures), Sana and Seres (securities class actions), Generate:Biomedicines (moderate). George Church associated as relevant scientist.</a:t>
                      </a:r>
                    </a:p>
                  </a:txBody>
                  <a:tcPr marL="45720" marR="45720" marT="9144" marB="9144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https://www.lila.ai/team/geoffrey-von-maltzahn</a:t>
                      </a:r>
                    </a:p>
                  </a:txBody>
                  <a:tcPr marL="45720" marR="45720" marT="9144" marB="9144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Ginkgo Bioworks Q1 2026 earnings — CAUTIONARY COMP</a:t>
                      </a:r>
                    </a:p>
                  </a:txBody>
                  <a:tcPr marL="45720" marR="45720" marT="9144" marB="9144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Ginkgo: ~$151M revenue, –49% YoY; ~$49M/quarter burn; stock down ~55% in 2026; AI validated (GPT-5, ~40% cost reduction) over 18 years. A working, validated platform that has still struggled to create durable value.</a:t>
                      </a:r>
                    </a:p>
                  </a:txBody>
                  <a:tcPr marL="45720" marR="45720" marT="9144" marB="9144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https://www.investing.com/news/transcripts/earnings-call-transcript-ginkgo-bioworks-q1-2026</a:t>
                      </a:r>
                    </a:p>
                  </a:txBody>
                  <a:tcPr marL="45720" marR="45720" marT="9144" marB="914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Periodic Labs — DIRECT PRIVATE COMP</a:t>
                      </a:r>
                    </a:p>
                  </a:txBody>
                  <a:tcPr marL="45720" marR="45720" marT="9144" marB="9144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Former OpenAI / DeepMind researchers eyeing ~$7Bn valuation for AI materials-science startup Periodic Labs. Pre-revenue. Shows the rich pre-proof pricing is category-wide, not Lila-specific.</a:t>
                      </a:r>
                    </a:p>
                  </a:txBody>
                  <a:tcPr marL="45720" marR="45720" marT="9144" marB="9144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https://techfundingnews.com/former-openai-and-deepmind-researchers-eye-7b-valuation-for-ai-startup-periodic-labs/</a:t>
                      </a:r>
                    </a:p>
                  </a:txBody>
                  <a:tcPr marL="45720" marR="45720" marT="9144" marB="9144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TAM sources — AI drug discovery / AI biotech / lab automation</a:t>
                      </a:r>
                    </a:p>
                  </a:txBody>
                  <a:tcPr marL="45720" marR="45720" marT="9144" marB="9144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AI drug discovery ~$3.25Bn (2026) to ~$17.8Bn (2035). AI in biotechnology ~$5.6Bn to ~$31.87Bn (~19% CAGR). Lab automation ~$7.1Bn to ~$16.1Bn. Frames the horizontal-platform TAM the round is priced against.</a:t>
                      </a:r>
                    </a:p>
                  </a:txBody>
                  <a:tcPr marL="45720" marR="45720" marT="9144" marB="9144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 dirty="0" err="1">
                          <a:solidFill>
                            <a:srgbClr val="808080"/>
                          </a:solidFill>
                          <a:latin typeface="Calibri"/>
                        </a:rPr>
                        <a:t>mordorintelligence.com</a:t>
                      </a:r>
                      <a:r>
                        <a:rPr sz="550" b="0" dirty="0">
                          <a:solidFill>
                            <a:srgbClr val="808080"/>
                          </a:solidFill>
                          <a:latin typeface="Calibri"/>
                        </a:rPr>
                        <a:t>  |  </a:t>
                      </a:r>
                      <a:r>
                        <a:rPr sz="550" b="0" dirty="0" err="1">
                          <a:solidFill>
                            <a:srgbClr val="808080"/>
                          </a:solidFill>
                          <a:latin typeface="Calibri"/>
                        </a:rPr>
                        <a:t>precedenceresearch.com</a:t>
                      </a:r>
                      <a:r>
                        <a:rPr sz="550" b="0" dirty="0">
                          <a:solidFill>
                            <a:srgbClr val="808080"/>
                          </a:solidFill>
                          <a:latin typeface="Calibri"/>
                        </a:rPr>
                        <a:t>  |  </a:t>
                      </a:r>
                      <a:r>
                        <a:rPr sz="550" b="0" dirty="0" err="1">
                          <a:solidFill>
                            <a:srgbClr val="808080"/>
                          </a:solidFill>
                          <a:latin typeface="Calibri"/>
                        </a:rPr>
                        <a:t>rootsanalysis.com</a:t>
                      </a:r>
                      <a:endParaRPr sz="550" b="0" dirty="0">
                        <a:solidFill>
                          <a:srgbClr val="808080"/>
                        </a:solidFill>
                        <a:latin typeface="Calibri"/>
                      </a:endParaRPr>
                    </a:p>
                  </a:txBody>
                  <a:tcPr marL="45720" marR="45720" marT="9144" marB="914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A2FBE61B-BAA8-5934-80A0-058BDE7F30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" y="354605"/>
            <a:ext cx="1645047" cy="136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8350</TotalTime>
  <Words>2293</Words>
  <Application>Microsoft Macintosh PowerPoint</Application>
  <PresentationFormat>Widescreen</PresentationFormat>
  <Paragraphs>246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isabella ricardo</dc:creator>
  <cp:keywords/>
  <dc:description>generated using python-pptx</dc:description>
  <cp:lastModifiedBy>Varas Hiza, Oscar</cp:lastModifiedBy>
  <cp:revision>4</cp:revision>
  <dcterms:created xsi:type="dcterms:W3CDTF">2013-01-27T09:14:16Z</dcterms:created>
  <dcterms:modified xsi:type="dcterms:W3CDTF">2026-06-18T15:19:53Z</dcterms:modified>
  <cp:category/>
</cp:coreProperties>
</file>